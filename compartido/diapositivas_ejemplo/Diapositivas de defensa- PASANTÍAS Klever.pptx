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9" r:id="rId4"/>
    <p:sldId id="262" r:id="rId5"/>
    <p:sldId id="270" r:id="rId6"/>
    <p:sldId id="271" r:id="rId7"/>
    <p:sldId id="272" r:id="rId8"/>
    <p:sldId id="273" r:id="rId9"/>
    <p:sldId id="274" r:id="rId10"/>
    <p:sldId id="275" r:id="rId11"/>
    <p:sldId id="276" r:id="rId12"/>
    <p:sldId id="277" r:id="rId13"/>
    <p:sldId id="278" r:id="rId14"/>
    <p:sldId id="279" r:id="rId15"/>
    <p:sldId id="281" r:id="rId16"/>
    <p:sldId id="280" r:id="rId17"/>
    <p:sldId id="282" r:id="rId18"/>
    <p:sldId id="259" r:id="rId19"/>
  </p:sldIdLst>
  <p:sldSz cx="12192000" cy="6858000"/>
  <p:notesSz cx="6858000" cy="9144000"/>
  <p:defaultTextStyle>
    <a:defPPr>
      <a:defRPr lang="es-V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16" autoAdjust="0"/>
    <p:restoredTop sz="94660"/>
  </p:normalViewPr>
  <p:slideViewPr>
    <p:cSldViewPr snapToGrid="0">
      <p:cViewPr>
        <p:scale>
          <a:sx n="68" d="100"/>
          <a:sy n="68" d="100"/>
        </p:scale>
        <p:origin x="-8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s-ES" smtClean="0"/>
              <a:t>Haga clic para modificar el estilo de título del patrón</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ES" smtClean="0"/>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29936653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s-ES" smtClean="0"/>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38420800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24414721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Date Placeholder 4"/>
          <p:cNvSpPr>
            <a:spLocks noGrp="1"/>
          </p:cNvSpPr>
          <p:nvPr>
            <p:ph type="dt" sz="half" idx="10"/>
          </p:nvPr>
        </p:nvSpPr>
        <p:spPr/>
        <p:txBody>
          <a:bodyPr/>
          <a:lstStyle/>
          <a:p>
            <a:fld id="{48045BE8-9E8D-4BCD-9DA6-8AAF5CFF5B76}" type="datetimeFigureOut">
              <a:rPr lang="es-VE" smtClean="0"/>
              <a:t>18/04/2023</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3072634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smtClean="0"/>
              <a:t>Haga clic para modificar el estilo de texto del patrón</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7" name="Date Placeholder 6"/>
          <p:cNvSpPr>
            <a:spLocks noGrp="1"/>
          </p:cNvSpPr>
          <p:nvPr>
            <p:ph type="dt" sz="half" idx="10"/>
          </p:nvPr>
        </p:nvSpPr>
        <p:spPr/>
        <p:txBody>
          <a:bodyPr/>
          <a:lstStyle/>
          <a:p>
            <a:fld id="{48045BE8-9E8D-4BCD-9DA6-8AAF5CFF5B76}" type="datetimeFigureOut">
              <a:rPr lang="es-VE" smtClean="0"/>
              <a:t>18/04/2023</a:t>
            </a:fld>
            <a:endParaRPr lang="es-VE"/>
          </a:p>
        </p:txBody>
      </p:sp>
      <p:sp>
        <p:nvSpPr>
          <p:cNvPr id="8" name="Footer Placeholder 7"/>
          <p:cNvSpPr>
            <a:spLocks noGrp="1"/>
          </p:cNvSpPr>
          <p:nvPr>
            <p:ph type="ftr" sz="quarter" idx="11"/>
          </p:nvPr>
        </p:nvSpPr>
        <p:spPr/>
        <p:txBody>
          <a:bodyPr/>
          <a:lstStyle/>
          <a:p>
            <a:endParaRPr lang="es-VE"/>
          </a:p>
        </p:txBody>
      </p:sp>
      <p:sp>
        <p:nvSpPr>
          <p:cNvPr id="9" name="Slide Number Placeholder 8"/>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40973145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s-ES" smtClean="0"/>
              <a:t>Haga clic para modificar el estilo de título del patrón</a:t>
            </a:r>
            <a:endParaRPr lang="en-US" dirty="0"/>
          </a:p>
        </p:txBody>
      </p:sp>
      <p:sp>
        <p:nvSpPr>
          <p:cNvPr id="3" name="Date Placeholder 2"/>
          <p:cNvSpPr>
            <a:spLocks noGrp="1"/>
          </p:cNvSpPr>
          <p:nvPr>
            <p:ph type="dt" sz="half" idx="10"/>
          </p:nvPr>
        </p:nvSpPr>
        <p:spPr/>
        <p:txBody>
          <a:bodyPr/>
          <a:lstStyle/>
          <a:p>
            <a:fld id="{48045BE8-9E8D-4BCD-9DA6-8AAF5CFF5B76}" type="datetimeFigureOut">
              <a:rPr lang="es-VE" smtClean="0"/>
              <a:t>18/04/2023</a:t>
            </a:fld>
            <a:endParaRPr lang="es-VE"/>
          </a:p>
        </p:txBody>
      </p:sp>
      <p:sp>
        <p:nvSpPr>
          <p:cNvPr id="4" name="Footer Placeholder 3"/>
          <p:cNvSpPr>
            <a:spLocks noGrp="1"/>
          </p:cNvSpPr>
          <p:nvPr>
            <p:ph type="ftr" sz="quarter" idx="11"/>
          </p:nvPr>
        </p:nvSpPr>
        <p:spPr/>
        <p:txBody>
          <a:bodyPr/>
          <a:lstStyle/>
          <a:p>
            <a:endParaRPr lang="es-VE"/>
          </a:p>
        </p:txBody>
      </p:sp>
      <p:sp>
        <p:nvSpPr>
          <p:cNvPr id="5" name="Slide Number Placeholder 4"/>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27283825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045BE8-9E8D-4BCD-9DA6-8AAF5CFF5B76}" type="datetimeFigureOut">
              <a:rPr lang="es-VE" smtClean="0"/>
              <a:t>18/04/2023</a:t>
            </a:fld>
            <a:endParaRPr lang="es-VE"/>
          </a:p>
        </p:txBody>
      </p:sp>
      <p:sp>
        <p:nvSpPr>
          <p:cNvPr id="3" name="Footer Placeholder 2"/>
          <p:cNvSpPr>
            <a:spLocks noGrp="1"/>
          </p:cNvSpPr>
          <p:nvPr>
            <p:ph type="ftr" sz="quarter" idx="11"/>
          </p:nvPr>
        </p:nvSpPr>
        <p:spPr/>
        <p:txBody>
          <a:bodyPr/>
          <a:lstStyle/>
          <a:p>
            <a:endParaRPr lang="es-VE"/>
          </a:p>
        </p:txBody>
      </p:sp>
      <p:sp>
        <p:nvSpPr>
          <p:cNvPr id="4" name="Slide Number Placeholder 3"/>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1904955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s-ES" smtClean="0"/>
              <a:t>Haga clic para modificar el estilo de título del patrón</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045BE8-9E8D-4BCD-9DA6-8AAF5CFF5B76}" type="datetimeFigureOut">
              <a:rPr lang="es-VE" smtClean="0"/>
              <a:t>18/04/2023</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8752232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s-ES" smtClean="0"/>
              <a:t>Haga clic para modificar el estilo de título del patrón</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smtClean="0"/>
              <a:t>Haga clic en el icono para agregar una imagen</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smtClean="0"/>
              <a:t>Haga clic para modificar el estilo de texto del patrón</a:t>
            </a:r>
          </a:p>
        </p:txBody>
      </p:sp>
      <p:sp>
        <p:nvSpPr>
          <p:cNvPr id="5" name="Date Placeholder 4"/>
          <p:cNvSpPr>
            <a:spLocks noGrp="1"/>
          </p:cNvSpPr>
          <p:nvPr>
            <p:ph type="dt" sz="half" idx="10"/>
          </p:nvPr>
        </p:nvSpPr>
        <p:spPr/>
        <p:txBody>
          <a:bodyPr/>
          <a:lstStyle/>
          <a:p>
            <a:fld id="{48045BE8-9E8D-4BCD-9DA6-8AAF5CFF5B76}" type="datetimeFigureOut">
              <a:rPr lang="es-VE" smtClean="0"/>
              <a:t>18/04/2023</a:t>
            </a:fld>
            <a:endParaRPr lang="es-VE"/>
          </a:p>
        </p:txBody>
      </p:sp>
      <p:sp>
        <p:nvSpPr>
          <p:cNvPr id="6" name="Footer Placeholder 5"/>
          <p:cNvSpPr>
            <a:spLocks noGrp="1"/>
          </p:cNvSpPr>
          <p:nvPr>
            <p:ph type="ftr" sz="quarter" idx="11"/>
          </p:nvPr>
        </p:nvSpPr>
        <p:spPr/>
        <p:txBody>
          <a:bodyPr/>
          <a:lstStyle/>
          <a:p>
            <a:endParaRPr lang="es-VE"/>
          </a:p>
        </p:txBody>
      </p:sp>
      <p:sp>
        <p:nvSpPr>
          <p:cNvPr id="7" name="Slide Number Placeholder 6"/>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1351983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16552918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83176261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10829453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08923640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s-ES" smtClean="0"/>
              <a:t>Haga clic para modificar el estilo de título del patrón</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s-ES" smtClean="0"/>
              <a:t>Haga clic para modificar el estilo de texto del patrón</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ES" smtClean="0"/>
              <a:t>Haga clic para modificar el estilo de texto del patrón</a:t>
            </a:r>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4638712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22335027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s-ES" smtClean="0"/>
              <a:t>Haga clic para modificar el estilo de título del patrón</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10"/>
          </p:nvPr>
        </p:nvSpPr>
        <p:spPr/>
        <p:txBody>
          <a:bodyPr/>
          <a:lstStyle/>
          <a:p>
            <a:fld id="{48045BE8-9E8D-4BCD-9DA6-8AAF5CFF5B76}" type="datetimeFigureOut">
              <a:rPr lang="es-VE" smtClean="0"/>
              <a:t>18/04/2023</a:t>
            </a:fld>
            <a:endParaRPr lang="es-VE"/>
          </a:p>
        </p:txBody>
      </p:sp>
      <p:sp>
        <p:nvSpPr>
          <p:cNvPr id="5" name="Footer Placeholder 4"/>
          <p:cNvSpPr>
            <a:spLocks noGrp="1"/>
          </p:cNvSpPr>
          <p:nvPr>
            <p:ph type="ftr" sz="quarter" idx="11"/>
          </p:nvPr>
        </p:nvSpPr>
        <p:spPr/>
        <p:txBody>
          <a:bodyPr/>
          <a:lstStyle/>
          <a:p>
            <a:endParaRPr lang="es-VE"/>
          </a:p>
        </p:txBody>
      </p:sp>
      <p:sp>
        <p:nvSpPr>
          <p:cNvPr id="6" name="Slide Number Placeholder 5"/>
          <p:cNvSpPr>
            <a:spLocks noGrp="1"/>
          </p:cNvSpPr>
          <p:nvPr>
            <p:ph type="sldNum" sz="quarter" idx="12"/>
          </p:nvPr>
        </p:nvSpPr>
        <p:spPr/>
        <p:txBody>
          <a:bodyPr/>
          <a:lstStyle/>
          <a:p>
            <a:fld id="{809DACD4-AEE2-41C6-80AD-93AADB53F54A}" type="slidenum">
              <a:rPr lang="es-VE" smtClean="0"/>
              <a:t>‹Nº›</a:t>
            </a:fld>
            <a:endParaRPr lang="es-VE"/>
          </a:p>
        </p:txBody>
      </p:sp>
    </p:spTree>
    <p:extLst>
      <p:ext uri="{BB962C8B-B14F-4D97-AF65-F5344CB8AC3E}">
        <p14:creationId xmlns:p14="http://schemas.microsoft.com/office/powerpoint/2010/main" val="34273579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s-ES" smtClean="0"/>
              <a:t>Haga clic para modificar el estilo de título del patrón</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8045BE8-9E8D-4BCD-9DA6-8AAF5CFF5B76}" type="datetimeFigureOut">
              <a:rPr lang="es-VE" smtClean="0"/>
              <a:t>18/04/2023</a:t>
            </a:fld>
            <a:endParaRPr lang="es-VE"/>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s-VE"/>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809DACD4-AEE2-41C6-80AD-93AADB53F54A}" type="slidenum">
              <a:rPr lang="es-VE" smtClean="0"/>
              <a:t>‹Nº›</a:t>
            </a:fld>
            <a:endParaRPr lang="es-VE"/>
          </a:p>
        </p:txBody>
      </p:sp>
    </p:spTree>
    <p:extLst>
      <p:ext uri="{BB962C8B-B14F-4D97-AF65-F5344CB8AC3E}">
        <p14:creationId xmlns:p14="http://schemas.microsoft.com/office/powerpoint/2010/main" val="34687075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6.tmp"/><Relationship Id="rId2" Type="http://schemas.openxmlformats.org/officeDocument/2006/relationships/image" Target="../media/image5.tmp"/><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tmp"/><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tmp"/><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tmp"/><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image" Target="../media/image15.tmp"/><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17.tmp"/><Relationship Id="rId2" Type="http://schemas.openxmlformats.org/officeDocument/2006/relationships/image" Target="../media/image16.tmp"/><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1507067" y="852896"/>
            <a:ext cx="7766936" cy="1646302"/>
          </a:xfrm>
        </p:spPr>
        <p:txBody>
          <a:bodyPr/>
          <a:lstStyle/>
          <a:p>
            <a:pPr algn="ctr"/>
            <a:r>
              <a:rPr lang="es-VE" sz="1500" b="1" dirty="0">
                <a:solidFill>
                  <a:schemeClr val="tx1"/>
                </a:solidFill>
                <a:latin typeface="Times New Roman" panose="02020603050405020304" pitchFamily="18" charset="0"/>
                <a:cs typeface="Times New Roman" panose="02020603050405020304" pitchFamily="18" charset="0"/>
              </a:rPr>
              <a:t>REPÚBLICA BOLIVARIANA DE VENEZUELA</a:t>
            </a:r>
            <a:br>
              <a:rPr lang="es-VE" sz="1500" b="1" dirty="0">
                <a:solidFill>
                  <a:schemeClr val="tx1"/>
                </a:solidFill>
                <a:latin typeface="Times New Roman" panose="02020603050405020304" pitchFamily="18" charset="0"/>
                <a:cs typeface="Times New Roman" panose="02020603050405020304" pitchFamily="18" charset="0"/>
              </a:rPr>
            </a:br>
            <a:r>
              <a:rPr lang="es-VE" sz="1500" b="1" dirty="0">
                <a:solidFill>
                  <a:schemeClr val="tx1"/>
                </a:solidFill>
                <a:latin typeface="Times New Roman" panose="02020603050405020304" pitchFamily="18" charset="0"/>
                <a:cs typeface="Times New Roman" panose="02020603050405020304" pitchFamily="18" charset="0"/>
              </a:rPr>
              <a:t>MINISTERIO DEL PODER POPULAR PARA LA EDUCACIÓN UNIVERSITARIA</a:t>
            </a:r>
            <a:br>
              <a:rPr lang="es-VE" sz="1500" b="1" dirty="0">
                <a:solidFill>
                  <a:schemeClr val="tx1"/>
                </a:solidFill>
                <a:latin typeface="Times New Roman" panose="02020603050405020304" pitchFamily="18" charset="0"/>
                <a:cs typeface="Times New Roman" panose="02020603050405020304" pitchFamily="18" charset="0"/>
              </a:rPr>
            </a:br>
            <a:r>
              <a:rPr lang="es-VE" sz="1500" b="1" dirty="0">
                <a:solidFill>
                  <a:schemeClr val="tx1"/>
                </a:solidFill>
                <a:latin typeface="Times New Roman" panose="02020603050405020304" pitchFamily="18" charset="0"/>
                <a:cs typeface="Times New Roman" panose="02020603050405020304" pitchFamily="18" charset="0"/>
              </a:rPr>
              <a:t>INSTITUTO UNIVERSITARIO DE TECNOLOGÍA</a:t>
            </a:r>
            <a:br>
              <a:rPr lang="es-VE" sz="1500" b="1" dirty="0">
                <a:solidFill>
                  <a:schemeClr val="tx1"/>
                </a:solidFill>
                <a:latin typeface="Times New Roman" panose="02020603050405020304" pitchFamily="18" charset="0"/>
                <a:cs typeface="Times New Roman" panose="02020603050405020304" pitchFamily="18" charset="0"/>
              </a:rPr>
            </a:br>
            <a:r>
              <a:rPr lang="es-VE" sz="1500" b="1" dirty="0">
                <a:solidFill>
                  <a:schemeClr val="tx1"/>
                </a:solidFill>
                <a:latin typeface="Times New Roman" panose="02020603050405020304" pitchFamily="18" charset="0"/>
                <a:cs typeface="Times New Roman" panose="02020603050405020304" pitchFamily="18" charset="0"/>
              </a:rPr>
              <a:t>“ELÍAS CALIXTO POMPA”</a:t>
            </a:r>
            <a:br>
              <a:rPr lang="es-VE" sz="1500" b="1" dirty="0">
                <a:solidFill>
                  <a:schemeClr val="tx1"/>
                </a:solidFill>
                <a:latin typeface="Times New Roman" panose="02020603050405020304" pitchFamily="18" charset="0"/>
                <a:cs typeface="Times New Roman" panose="02020603050405020304" pitchFamily="18" charset="0"/>
              </a:rPr>
            </a:br>
            <a:r>
              <a:rPr lang="es-VE" sz="1500" b="1" dirty="0">
                <a:solidFill>
                  <a:schemeClr val="tx1"/>
                </a:solidFill>
                <a:latin typeface="Times New Roman" panose="02020603050405020304" pitchFamily="18" charset="0"/>
                <a:cs typeface="Times New Roman" panose="02020603050405020304" pitchFamily="18" charset="0"/>
              </a:rPr>
              <a:t>GUATIRE - ESTADO BOLIVARIANO DE MIRANDA</a:t>
            </a:r>
            <a:r>
              <a:rPr lang="es-VE" sz="1500" dirty="0">
                <a:solidFill>
                  <a:schemeClr val="tx1"/>
                </a:solidFill>
                <a:latin typeface="Times New Roman" panose="02020603050405020304" pitchFamily="18" charset="0"/>
                <a:cs typeface="Times New Roman" panose="02020603050405020304" pitchFamily="18" charset="0"/>
              </a:rPr>
              <a:t/>
            </a:r>
            <a:br>
              <a:rPr lang="es-VE" sz="1500" dirty="0">
                <a:solidFill>
                  <a:schemeClr val="tx1"/>
                </a:solidFill>
                <a:latin typeface="Times New Roman" panose="02020603050405020304" pitchFamily="18" charset="0"/>
                <a:cs typeface="Times New Roman" panose="02020603050405020304" pitchFamily="18" charset="0"/>
              </a:rPr>
            </a:br>
            <a:endParaRPr lang="es-VE" sz="1500" dirty="0">
              <a:solidFill>
                <a:schemeClr val="tx1"/>
              </a:solidFill>
              <a:latin typeface="Times New Roman" panose="02020603050405020304" pitchFamily="18" charset="0"/>
              <a:cs typeface="Times New Roman" panose="02020603050405020304" pitchFamily="18" charset="0"/>
            </a:endParaRPr>
          </a:p>
        </p:txBody>
      </p:sp>
      <p:sp>
        <p:nvSpPr>
          <p:cNvPr id="3" name="Subtítulo 2"/>
          <p:cNvSpPr>
            <a:spLocks noGrp="1"/>
          </p:cNvSpPr>
          <p:nvPr>
            <p:ph type="subTitle" idx="1"/>
          </p:nvPr>
        </p:nvSpPr>
        <p:spPr>
          <a:xfrm>
            <a:off x="1507067" y="4006460"/>
            <a:ext cx="7766936" cy="2222967"/>
          </a:xfrm>
        </p:spPr>
        <p:txBody>
          <a:bodyPr>
            <a:normAutofit fontScale="25000" lnSpcReduction="20000"/>
          </a:bodyPr>
          <a:lstStyle/>
          <a:p>
            <a:r>
              <a:rPr lang="es-VE" sz="1200" dirty="0">
                <a:latin typeface="Times New Roman" panose="02020603050405020304" pitchFamily="18" charset="0"/>
                <a:cs typeface="Times New Roman" panose="02020603050405020304" pitchFamily="18" charset="0"/>
              </a:rPr>
              <a:t>Pasante: </a:t>
            </a:r>
          </a:p>
          <a:p>
            <a:r>
              <a:rPr lang="es-VE" sz="6000" dirty="0">
                <a:solidFill>
                  <a:schemeClr val="tx1"/>
                </a:solidFill>
                <a:latin typeface="Times New Roman" panose="02020603050405020304" pitchFamily="18" charset="0"/>
                <a:cs typeface="Times New Roman" panose="02020603050405020304" pitchFamily="18" charset="0"/>
              </a:rPr>
              <a:t>García, </a:t>
            </a:r>
            <a:r>
              <a:rPr lang="es-VE" sz="6000" dirty="0" err="1">
                <a:solidFill>
                  <a:schemeClr val="tx1"/>
                </a:solidFill>
                <a:latin typeface="Times New Roman" panose="02020603050405020304" pitchFamily="18" charset="0"/>
                <a:cs typeface="Times New Roman" panose="02020603050405020304" pitchFamily="18" charset="0"/>
              </a:rPr>
              <a:t>Klever</a:t>
            </a:r>
            <a:r>
              <a:rPr lang="es-VE" sz="6000" dirty="0">
                <a:solidFill>
                  <a:schemeClr val="tx1"/>
                </a:solidFill>
                <a:latin typeface="Times New Roman" panose="02020603050405020304" pitchFamily="18" charset="0"/>
                <a:cs typeface="Times New Roman" panose="02020603050405020304" pitchFamily="18" charset="0"/>
              </a:rPr>
              <a:t> </a:t>
            </a:r>
          </a:p>
          <a:p>
            <a:r>
              <a:rPr lang="es-VE" sz="6000" dirty="0">
                <a:solidFill>
                  <a:schemeClr val="tx1"/>
                </a:solidFill>
                <a:latin typeface="Times New Roman" panose="02020603050405020304" pitchFamily="18" charset="0"/>
                <a:cs typeface="Times New Roman" panose="02020603050405020304" pitchFamily="18" charset="0"/>
              </a:rPr>
              <a:t>C.I 25.831.783</a:t>
            </a:r>
          </a:p>
          <a:p>
            <a:r>
              <a:rPr lang="es-VE" sz="6000" dirty="0">
                <a:solidFill>
                  <a:schemeClr val="tx1"/>
                </a:solidFill>
                <a:latin typeface="Times New Roman" panose="02020603050405020304" pitchFamily="18" charset="0"/>
                <a:cs typeface="Times New Roman" panose="02020603050405020304" pitchFamily="18" charset="0"/>
              </a:rPr>
              <a:t>Tutor Industrial:</a:t>
            </a:r>
          </a:p>
          <a:p>
            <a:r>
              <a:rPr lang="es-VE" sz="6000" dirty="0">
                <a:solidFill>
                  <a:schemeClr val="tx1"/>
                </a:solidFill>
                <a:latin typeface="Times New Roman" panose="02020603050405020304" pitchFamily="18" charset="0"/>
                <a:cs typeface="Times New Roman" panose="02020603050405020304" pitchFamily="18" charset="0"/>
              </a:rPr>
              <a:t>Lic. </a:t>
            </a:r>
            <a:r>
              <a:rPr lang="es-VE" sz="6000" dirty="0" err="1">
                <a:solidFill>
                  <a:schemeClr val="tx1"/>
                </a:solidFill>
                <a:latin typeface="Times New Roman" panose="02020603050405020304" pitchFamily="18" charset="0"/>
                <a:cs typeface="Times New Roman" panose="02020603050405020304" pitchFamily="18" charset="0"/>
              </a:rPr>
              <a:t>Nuñez</a:t>
            </a:r>
            <a:r>
              <a:rPr lang="es-VE" sz="6000" dirty="0">
                <a:solidFill>
                  <a:schemeClr val="tx1"/>
                </a:solidFill>
                <a:latin typeface="Times New Roman" panose="02020603050405020304" pitchFamily="18" charset="0"/>
                <a:cs typeface="Times New Roman" panose="02020603050405020304" pitchFamily="18" charset="0"/>
              </a:rPr>
              <a:t>, Luis</a:t>
            </a:r>
          </a:p>
          <a:p>
            <a:r>
              <a:rPr lang="es-VE" sz="6000" dirty="0" smtClean="0">
                <a:solidFill>
                  <a:schemeClr val="tx1"/>
                </a:solidFill>
                <a:latin typeface="Times New Roman" panose="02020603050405020304" pitchFamily="18" charset="0"/>
                <a:cs typeface="Times New Roman" panose="02020603050405020304" pitchFamily="18" charset="0"/>
              </a:rPr>
              <a:t>Tutores Académicos:</a:t>
            </a:r>
            <a:endParaRPr lang="es-VE" sz="6000" dirty="0">
              <a:solidFill>
                <a:schemeClr val="tx1"/>
              </a:solidFill>
              <a:latin typeface="Times New Roman" panose="02020603050405020304" pitchFamily="18" charset="0"/>
              <a:cs typeface="Times New Roman" panose="02020603050405020304" pitchFamily="18" charset="0"/>
            </a:endParaRPr>
          </a:p>
          <a:p>
            <a:r>
              <a:rPr lang="es-VE" sz="6000" dirty="0">
                <a:solidFill>
                  <a:schemeClr val="tx1"/>
                </a:solidFill>
                <a:latin typeface="Times New Roman" panose="02020603050405020304" pitchFamily="18" charset="0"/>
                <a:cs typeface="Times New Roman" panose="02020603050405020304" pitchFamily="18" charset="0"/>
              </a:rPr>
              <a:t>Esp. </a:t>
            </a:r>
            <a:r>
              <a:rPr lang="es-VE" sz="6000" dirty="0" err="1">
                <a:solidFill>
                  <a:schemeClr val="tx1"/>
                </a:solidFill>
                <a:latin typeface="Times New Roman" panose="02020603050405020304" pitchFamily="18" charset="0"/>
                <a:cs typeface="Times New Roman" panose="02020603050405020304" pitchFamily="18" charset="0"/>
              </a:rPr>
              <a:t>Garcia</a:t>
            </a:r>
            <a:r>
              <a:rPr lang="es-VE" sz="6000" dirty="0">
                <a:solidFill>
                  <a:schemeClr val="tx1"/>
                </a:solidFill>
                <a:latin typeface="Times New Roman" panose="02020603050405020304" pitchFamily="18" charset="0"/>
                <a:cs typeface="Times New Roman" panose="02020603050405020304" pitchFamily="18" charset="0"/>
              </a:rPr>
              <a:t>, </a:t>
            </a:r>
            <a:r>
              <a:rPr lang="es-VE" sz="6000" dirty="0" smtClean="0">
                <a:solidFill>
                  <a:schemeClr val="tx1"/>
                </a:solidFill>
                <a:latin typeface="Times New Roman" panose="02020603050405020304" pitchFamily="18" charset="0"/>
                <a:cs typeface="Times New Roman" panose="02020603050405020304" pitchFamily="18" charset="0"/>
              </a:rPr>
              <a:t>Elvira</a:t>
            </a:r>
          </a:p>
          <a:p>
            <a:r>
              <a:rPr lang="es-VE" sz="6000" dirty="0" smtClean="0">
                <a:solidFill>
                  <a:schemeClr val="tx1"/>
                </a:solidFill>
                <a:latin typeface="Times New Roman" panose="02020603050405020304" pitchFamily="18" charset="0"/>
                <a:cs typeface="Times New Roman" panose="02020603050405020304" pitchFamily="18" charset="0"/>
              </a:rPr>
              <a:t>Esp. Hernández, William</a:t>
            </a:r>
            <a:endParaRPr lang="es-VE" sz="6000" dirty="0">
              <a:solidFill>
                <a:schemeClr val="tx1"/>
              </a:solidFill>
              <a:latin typeface="Times New Roman" panose="02020603050405020304" pitchFamily="18" charset="0"/>
              <a:cs typeface="Times New Roman" panose="02020603050405020304" pitchFamily="18" charset="0"/>
            </a:endParaRPr>
          </a:p>
          <a:p>
            <a:endParaRPr lang="es-VE" sz="6000" dirty="0">
              <a:solidFill>
                <a:schemeClr val="tx1"/>
              </a:solidFill>
              <a:latin typeface="Times New Roman" panose="02020603050405020304" pitchFamily="18" charset="0"/>
              <a:cs typeface="Times New Roman" panose="02020603050405020304" pitchFamily="18" charset="0"/>
            </a:endParaRPr>
          </a:p>
        </p:txBody>
      </p:sp>
      <p:pic>
        <p:nvPicPr>
          <p:cNvPr id="4" name="image1.png" descr="C:\Users\ae\Downloads\UNIVERSIDAD\INFORMÁTICA BÁSICA\unidad I\logo_iutecpDIGITAL-300x103.png"/>
          <p:cNvPicPr/>
          <p:nvPr/>
        </p:nvPicPr>
        <p:blipFill>
          <a:blip r:embed="rId2"/>
          <a:srcRect/>
          <a:stretch>
            <a:fillRect/>
          </a:stretch>
        </p:blipFill>
        <p:spPr>
          <a:xfrm>
            <a:off x="695960" y="489820"/>
            <a:ext cx="2113280" cy="727710"/>
          </a:xfrm>
          <a:prstGeom prst="rect">
            <a:avLst/>
          </a:prstGeom>
          <a:ln/>
        </p:spPr>
      </p:pic>
      <p:sp>
        <p:nvSpPr>
          <p:cNvPr id="5" name="Rectángulo 4"/>
          <p:cNvSpPr/>
          <p:nvPr/>
        </p:nvSpPr>
        <p:spPr>
          <a:xfrm>
            <a:off x="1507067" y="2862274"/>
            <a:ext cx="7766936" cy="707886"/>
          </a:xfrm>
          <a:prstGeom prst="rect">
            <a:avLst/>
          </a:prstGeom>
        </p:spPr>
        <p:txBody>
          <a:bodyPr wrap="square">
            <a:spAutoFit/>
          </a:bodyPr>
          <a:lstStyle/>
          <a:p>
            <a:pPr indent="180340" algn="ctr">
              <a:spcAft>
                <a:spcPts val="0"/>
              </a:spcAft>
            </a:pPr>
            <a:r>
              <a:rPr lang="es-VE" sz="2000" b="1" dirty="0" smtClean="0">
                <a:effectLst/>
                <a:latin typeface="Times New Roman" panose="02020603050405020304" pitchFamily="18" charset="0"/>
                <a:ea typeface="Times New Roman" panose="02020603050405020304" pitchFamily="18" charset="0"/>
              </a:rPr>
              <a:t>PASANTIAS REALIZADAS EN LA EMPRESA </a:t>
            </a:r>
          </a:p>
          <a:p>
            <a:pPr indent="180340" algn="ctr">
              <a:spcAft>
                <a:spcPts val="0"/>
              </a:spcAft>
            </a:pPr>
            <a:r>
              <a:rPr lang="es-VE" sz="2000" b="1" dirty="0" smtClean="0">
                <a:effectLst/>
                <a:latin typeface="Times New Roman" panose="02020603050405020304" pitchFamily="18" charset="0"/>
                <a:ea typeface="Times New Roman" panose="02020603050405020304" pitchFamily="18" charset="0"/>
              </a:rPr>
              <a:t> NDC CONSULTORES 2015, C.A.</a:t>
            </a:r>
            <a:endParaRPr lang="es-VE" sz="20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69073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755565" y="330200"/>
            <a:ext cx="4511559" cy="558800"/>
          </a:xfrm>
        </p:spPr>
        <p:txBody>
          <a:bodyPr>
            <a:noAutofit/>
          </a:bodyPr>
          <a:lstStyle/>
          <a:p>
            <a:pPr algn="ctr"/>
            <a:r>
              <a:rPr lang="es-VE" sz="1800" b="1" dirty="0" smtClean="0">
                <a:solidFill>
                  <a:schemeClr val="tx1"/>
                </a:solidFill>
                <a:latin typeface="Times New Roman" panose="02020603050405020304" pitchFamily="18" charset="0"/>
                <a:cs typeface="Times New Roman" panose="02020603050405020304" pitchFamily="18" charset="0"/>
              </a:rPr>
              <a:t>CAPITULO I</a:t>
            </a:r>
            <a:br>
              <a:rPr lang="es-VE" sz="1800" b="1" dirty="0" smtClean="0">
                <a:solidFill>
                  <a:schemeClr val="tx1"/>
                </a:solidFill>
                <a:latin typeface="Times New Roman" panose="02020603050405020304" pitchFamily="18" charset="0"/>
                <a:cs typeface="Times New Roman" panose="02020603050405020304" pitchFamily="18" charset="0"/>
              </a:rPr>
            </a:br>
            <a:r>
              <a:rPr lang="es-VE" sz="1800" b="1" dirty="0" smtClean="0">
                <a:solidFill>
                  <a:schemeClr val="tx1"/>
                </a:solidFill>
                <a:latin typeface="Times New Roman" panose="02020603050405020304" pitchFamily="18" charset="0"/>
                <a:cs typeface="Times New Roman" panose="02020603050405020304" pitchFamily="18" charset="0"/>
              </a:rPr>
              <a:t>IDENTIFICACIÓN DE LA EMPRESA</a:t>
            </a:r>
            <a:endParaRPr lang="es-VE" sz="1800" b="1" dirty="0">
              <a:solidFill>
                <a:schemeClr val="tx1"/>
              </a:solidFill>
              <a:latin typeface="Times New Roman" panose="02020603050405020304" pitchFamily="18" charset="0"/>
              <a:cs typeface="Times New Roman" panose="02020603050405020304" pitchFamily="18" charset="0"/>
            </a:endParaRPr>
          </a:p>
        </p:txBody>
      </p:sp>
      <p:sp>
        <p:nvSpPr>
          <p:cNvPr id="3" name="Marcador de texto 2"/>
          <p:cNvSpPr>
            <a:spLocks noGrp="1"/>
          </p:cNvSpPr>
          <p:nvPr>
            <p:ph type="body" idx="1"/>
          </p:nvPr>
        </p:nvSpPr>
        <p:spPr>
          <a:xfrm>
            <a:off x="5624241" y="3810000"/>
            <a:ext cx="3819166" cy="2641599"/>
          </a:xfrm>
        </p:spPr>
        <p:txBody>
          <a:bodyPr>
            <a:noAutofit/>
          </a:bodyPr>
          <a:lstStyle/>
          <a:p>
            <a:pPr algn="just"/>
            <a:endParaRPr lang="es-VE" sz="1400" b="1" dirty="0">
              <a:solidFill>
                <a:schemeClr val="tx1"/>
              </a:solidFill>
              <a:latin typeface="Times New Roman" panose="02020603050405020304" pitchFamily="18" charset="0"/>
              <a:cs typeface="Times New Roman" panose="02020603050405020304" pitchFamily="18" charset="0"/>
            </a:endParaRPr>
          </a:p>
          <a:p>
            <a:pPr algn="ctr"/>
            <a:r>
              <a:rPr lang="es-VE" sz="1700" b="1" dirty="0" smtClean="0">
                <a:solidFill>
                  <a:schemeClr val="tx1"/>
                </a:solidFill>
                <a:latin typeface="Times New Roman" panose="02020603050405020304" pitchFamily="18" charset="0"/>
                <a:cs typeface="Times New Roman" panose="02020603050405020304" pitchFamily="18" charset="0"/>
              </a:rPr>
              <a:t>Misión</a:t>
            </a:r>
          </a:p>
          <a:p>
            <a:pPr algn="just"/>
            <a:r>
              <a:rPr lang="es-VE" sz="1700" dirty="0" smtClean="0">
                <a:solidFill>
                  <a:schemeClr val="tx1"/>
                </a:solidFill>
                <a:latin typeface="Times New Roman" panose="02020603050405020304" pitchFamily="18" charset="0"/>
                <a:cs typeface="Times New Roman" panose="02020603050405020304" pitchFamily="18" charset="0"/>
              </a:rPr>
              <a:t>Brindar un servicio de calidad con eficiencia y eficacia manteniendo siempre el contacto directo con los clientes, ofreciendo servicios profesionales que permitan un mejor funcionamiento y administración a toda su clientela, dando soporte a la pequeña y mediana empresa.</a:t>
            </a:r>
          </a:p>
        </p:txBody>
      </p:sp>
      <p:sp>
        <p:nvSpPr>
          <p:cNvPr id="5" name="CuadroTexto 4"/>
          <p:cNvSpPr txBox="1"/>
          <p:nvPr/>
        </p:nvSpPr>
        <p:spPr>
          <a:xfrm>
            <a:off x="845074" y="3207195"/>
            <a:ext cx="4166270" cy="1923604"/>
          </a:xfrm>
          <a:prstGeom prst="rect">
            <a:avLst/>
          </a:prstGeom>
          <a:noFill/>
        </p:spPr>
        <p:txBody>
          <a:bodyPr wrap="square" rtlCol="0">
            <a:spAutoFit/>
          </a:bodyPr>
          <a:lstStyle/>
          <a:p>
            <a:pPr algn="ctr"/>
            <a:r>
              <a:rPr lang="es-VE" sz="1700" b="1" dirty="0">
                <a:latin typeface="Times New Roman" panose="02020603050405020304" pitchFamily="18" charset="0"/>
                <a:cs typeface="Times New Roman" panose="02020603050405020304" pitchFamily="18" charset="0"/>
              </a:rPr>
              <a:t>NDC CONSULTORES 2015, C.A. </a:t>
            </a:r>
            <a:endParaRPr lang="es-VE" sz="1700" b="1" dirty="0" smtClean="0">
              <a:latin typeface="Times New Roman" panose="02020603050405020304" pitchFamily="18" charset="0"/>
              <a:cs typeface="Times New Roman" panose="02020603050405020304" pitchFamily="18" charset="0"/>
            </a:endParaRPr>
          </a:p>
          <a:p>
            <a:pPr algn="just"/>
            <a:r>
              <a:rPr lang="es-VE" sz="1700" dirty="0" smtClean="0">
                <a:latin typeface="Times New Roman" panose="02020603050405020304" pitchFamily="18" charset="0"/>
                <a:cs typeface="Times New Roman" panose="02020603050405020304" pitchFamily="18" charset="0"/>
              </a:rPr>
              <a:t>Es </a:t>
            </a:r>
            <a:r>
              <a:rPr lang="es-VE" sz="1700" dirty="0">
                <a:latin typeface="Times New Roman" panose="02020603050405020304" pitchFamily="18" charset="0"/>
                <a:cs typeface="Times New Roman" panose="02020603050405020304" pitchFamily="18" charset="0"/>
              </a:rPr>
              <a:t>una firma de contadores, la cual nació pensando en la necesidad de múltiples contribuyentes para colocar en manos seguras y confiables la toma de decisiones de manera oportuna, siempre actuando de manera legal y en los estándares contables vigentes. </a:t>
            </a:r>
          </a:p>
        </p:txBody>
      </p:sp>
      <p:sp>
        <p:nvSpPr>
          <p:cNvPr id="6" name="CuadroTexto 5"/>
          <p:cNvSpPr txBox="1"/>
          <p:nvPr/>
        </p:nvSpPr>
        <p:spPr>
          <a:xfrm>
            <a:off x="5624241" y="1224677"/>
            <a:ext cx="3819166" cy="2462213"/>
          </a:xfrm>
          <a:prstGeom prst="rect">
            <a:avLst/>
          </a:prstGeom>
          <a:noFill/>
        </p:spPr>
        <p:txBody>
          <a:bodyPr wrap="square" rtlCol="0">
            <a:spAutoFit/>
          </a:bodyPr>
          <a:lstStyle/>
          <a:p>
            <a:pPr algn="ctr"/>
            <a:r>
              <a:rPr lang="es-VE" sz="1700" b="1" dirty="0" smtClean="0">
                <a:latin typeface="Times New Roman" panose="02020603050405020304" pitchFamily="18" charset="0"/>
                <a:cs typeface="Times New Roman" panose="02020603050405020304" pitchFamily="18" charset="0"/>
              </a:rPr>
              <a:t>Visión</a:t>
            </a:r>
          </a:p>
          <a:p>
            <a:pPr algn="just"/>
            <a:r>
              <a:rPr lang="es-VE" sz="1700" dirty="0" smtClean="0">
                <a:latin typeface="Times New Roman" panose="02020603050405020304" pitchFamily="18" charset="0"/>
                <a:cs typeface="Times New Roman" panose="02020603050405020304" pitchFamily="18" charset="0"/>
              </a:rPr>
              <a:t>Contribuir </a:t>
            </a:r>
            <a:r>
              <a:rPr lang="es-VE" sz="1700" dirty="0">
                <a:latin typeface="Times New Roman" panose="02020603050405020304" pitchFamily="18" charset="0"/>
                <a:cs typeface="Times New Roman" panose="02020603050405020304" pitchFamily="18" charset="0"/>
              </a:rPr>
              <a:t>con los clientes en mejorar el desempeño de sus empresas, prestando un servicio rápido y confiable además de brindar soluciones oportunas a los problemas que se les puedan presentar a los clientes en el transcurso de la actividad económica.</a:t>
            </a:r>
          </a:p>
          <a:p>
            <a:endParaRPr lang="es-VE" dirty="0"/>
          </a:p>
        </p:txBody>
      </p:sp>
      <p:pic>
        <p:nvPicPr>
          <p:cNvPr id="7" name="Imagen 6"/>
          <p:cNvPicPr/>
          <p:nvPr/>
        </p:nvPicPr>
        <p:blipFill>
          <a:blip r:embed="rId2">
            <a:extLst>
              <a:ext uri="{28A0092B-C50C-407E-A947-70E740481C1C}">
                <a14:useLocalDpi xmlns:a14="http://schemas.microsoft.com/office/drawing/2010/main" val="0"/>
              </a:ext>
            </a:extLst>
          </a:blip>
          <a:srcRect/>
          <a:stretch>
            <a:fillRect/>
          </a:stretch>
        </p:blipFill>
        <p:spPr bwMode="auto">
          <a:xfrm>
            <a:off x="1666698" y="1409480"/>
            <a:ext cx="2177733" cy="1175415"/>
          </a:xfrm>
          <a:prstGeom prst="rect">
            <a:avLst/>
          </a:prstGeom>
          <a:noFill/>
        </p:spPr>
      </p:pic>
    </p:spTree>
    <p:extLst>
      <p:ext uri="{BB962C8B-B14F-4D97-AF65-F5344CB8AC3E}">
        <p14:creationId xmlns:p14="http://schemas.microsoft.com/office/powerpoint/2010/main" val="33188821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66665" y="317500"/>
            <a:ext cx="4511559" cy="1124082"/>
          </a:xfrm>
        </p:spPr>
        <p:txBody>
          <a:bodyPr>
            <a:noAutofit/>
          </a:bodyPr>
          <a:lstStyle/>
          <a:p>
            <a:pPr algn="ctr"/>
            <a:r>
              <a:rPr lang="es-VE" sz="1800" b="1" dirty="0" smtClean="0">
                <a:solidFill>
                  <a:schemeClr val="tx1"/>
                </a:solidFill>
                <a:latin typeface="Times New Roman" panose="02020603050405020304" pitchFamily="18" charset="0"/>
                <a:cs typeface="Times New Roman" panose="02020603050405020304" pitchFamily="18" charset="0"/>
              </a:rPr>
              <a:t>CAPITULO I</a:t>
            </a:r>
            <a:br>
              <a:rPr lang="es-VE" sz="1800" b="1" dirty="0" smtClean="0">
                <a:solidFill>
                  <a:schemeClr val="tx1"/>
                </a:solidFill>
                <a:latin typeface="Times New Roman" panose="02020603050405020304" pitchFamily="18" charset="0"/>
                <a:cs typeface="Times New Roman" panose="02020603050405020304" pitchFamily="18" charset="0"/>
              </a:rPr>
            </a:br>
            <a:r>
              <a:rPr lang="es-VE" sz="1800" b="1" dirty="0" smtClean="0">
                <a:solidFill>
                  <a:schemeClr val="tx1"/>
                </a:solidFill>
                <a:latin typeface="Times New Roman" panose="02020603050405020304" pitchFamily="18" charset="0"/>
                <a:cs typeface="Times New Roman" panose="02020603050405020304" pitchFamily="18" charset="0"/>
              </a:rPr>
              <a:t>IDENTIFICACIÓN DE LA </a:t>
            </a:r>
            <a:r>
              <a:rPr lang="es-VE" sz="1800" b="1" dirty="0" smtClean="0">
                <a:solidFill>
                  <a:schemeClr val="tx1"/>
                </a:solidFill>
                <a:latin typeface="Times New Roman" panose="02020603050405020304" pitchFamily="18" charset="0"/>
                <a:cs typeface="Times New Roman" panose="02020603050405020304" pitchFamily="18" charset="0"/>
              </a:rPr>
              <a:t>EMPRESA</a:t>
            </a:r>
            <a:br>
              <a:rPr lang="es-VE" sz="1800" b="1" dirty="0" smtClean="0">
                <a:solidFill>
                  <a:schemeClr val="tx1"/>
                </a:solidFill>
                <a:latin typeface="Times New Roman" panose="02020603050405020304" pitchFamily="18" charset="0"/>
                <a:cs typeface="Times New Roman" panose="02020603050405020304" pitchFamily="18" charset="0"/>
              </a:rPr>
            </a:br>
            <a:r>
              <a:rPr lang="es-VE" sz="1800" b="1" dirty="0" smtClean="0">
                <a:solidFill>
                  <a:schemeClr val="tx1"/>
                </a:solidFill>
                <a:latin typeface="Times New Roman" panose="02020603050405020304" pitchFamily="18" charset="0"/>
                <a:cs typeface="Times New Roman" panose="02020603050405020304" pitchFamily="18" charset="0"/>
              </a:rPr>
              <a:t>INCOMPLETO-VISIÓN –MISIÓN……</a:t>
            </a:r>
            <a:endParaRPr lang="es-VE" sz="1800" b="1" dirty="0">
              <a:solidFill>
                <a:schemeClr val="tx1"/>
              </a:solidFill>
              <a:latin typeface="Times New Roman" panose="02020603050405020304" pitchFamily="18" charset="0"/>
              <a:cs typeface="Times New Roman" panose="02020603050405020304" pitchFamily="18" charset="0"/>
            </a:endParaRPr>
          </a:p>
        </p:txBody>
      </p:sp>
      <p:sp>
        <p:nvSpPr>
          <p:cNvPr id="5" name="CuadroTexto 4"/>
          <p:cNvSpPr txBox="1"/>
          <p:nvPr/>
        </p:nvSpPr>
        <p:spPr>
          <a:xfrm>
            <a:off x="545431" y="1441582"/>
            <a:ext cx="5194970" cy="1661993"/>
          </a:xfrm>
          <a:prstGeom prst="rect">
            <a:avLst/>
          </a:prstGeom>
          <a:noFill/>
        </p:spPr>
        <p:txBody>
          <a:bodyPr wrap="square" rtlCol="0">
            <a:spAutoFit/>
          </a:bodyPr>
          <a:lstStyle/>
          <a:p>
            <a:pPr algn="ctr"/>
            <a:r>
              <a:rPr lang="es-VE" sz="1700" b="1" dirty="0">
                <a:latin typeface="Times New Roman" panose="02020603050405020304" pitchFamily="18" charset="0"/>
                <a:cs typeface="Times New Roman" panose="02020603050405020304" pitchFamily="18" charset="0"/>
              </a:rPr>
              <a:t>Objetivo </a:t>
            </a:r>
            <a:r>
              <a:rPr lang="es-VE" sz="1700" b="1" dirty="0" smtClean="0">
                <a:latin typeface="Times New Roman" panose="02020603050405020304" pitchFamily="18" charset="0"/>
                <a:cs typeface="Times New Roman" panose="02020603050405020304" pitchFamily="18" charset="0"/>
              </a:rPr>
              <a:t>general</a:t>
            </a:r>
          </a:p>
          <a:p>
            <a:pPr algn="just"/>
            <a:r>
              <a:rPr lang="es-VE" sz="1700" dirty="0" smtClean="0">
                <a:latin typeface="Times New Roman" panose="02020603050405020304" pitchFamily="18" charset="0"/>
                <a:cs typeface="Times New Roman" panose="02020603050405020304" pitchFamily="18" charset="0"/>
              </a:rPr>
              <a:t>Brindar </a:t>
            </a:r>
            <a:r>
              <a:rPr lang="es-VE" sz="1700" dirty="0">
                <a:latin typeface="Times New Roman" panose="02020603050405020304" pitchFamily="18" charset="0"/>
                <a:cs typeface="Times New Roman" panose="02020603050405020304" pitchFamily="18" charset="0"/>
              </a:rPr>
              <a:t>servicios de calidad a los clientes utilizando el conocimiento y la experiencia, ofreciendo una gestión contable y tributaria a la empresa también, consultas oportunas, diagnósticos críticos e incluso mejoras de procesos que los clientes puedan implementar.</a:t>
            </a:r>
          </a:p>
        </p:txBody>
      </p:sp>
      <p:sp>
        <p:nvSpPr>
          <p:cNvPr id="6" name="CuadroTexto 5"/>
          <p:cNvSpPr txBox="1"/>
          <p:nvPr/>
        </p:nvSpPr>
        <p:spPr>
          <a:xfrm>
            <a:off x="469231" y="3718679"/>
            <a:ext cx="5347370" cy="3247043"/>
          </a:xfrm>
          <a:prstGeom prst="rect">
            <a:avLst/>
          </a:prstGeom>
          <a:noFill/>
        </p:spPr>
        <p:txBody>
          <a:bodyPr wrap="square" rtlCol="0">
            <a:spAutoFit/>
          </a:bodyPr>
          <a:lstStyle/>
          <a:p>
            <a:pPr algn="just"/>
            <a:r>
              <a:rPr lang="es-VE" sz="1700" b="1" dirty="0">
                <a:latin typeface="Times New Roman" panose="02020603050405020304" pitchFamily="18" charset="0"/>
                <a:cs typeface="Times New Roman" panose="02020603050405020304" pitchFamily="18" charset="0"/>
              </a:rPr>
              <a:t>Objetivo específico: </a:t>
            </a:r>
          </a:p>
          <a:p>
            <a:pPr marL="285750" indent="-285750" algn="just">
              <a:buFont typeface="Courier New" panose="02070309020205020404" pitchFamily="49" charset="0"/>
              <a:buChar char="o"/>
            </a:pPr>
            <a:r>
              <a:rPr lang="es-VE" sz="1700" dirty="0">
                <a:latin typeface="Times New Roman" panose="02020603050405020304" pitchFamily="18" charset="0"/>
                <a:cs typeface="Times New Roman" panose="02020603050405020304" pitchFamily="18" charset="0"/>
              </a:rPr>
              <a:t>Proporcionar soluciones específicas para las necesidades del cliente.</a:t>
            </a:r>
          </a:p>
          <a:p>
            <a:pPr marL="285750" indent="-285750" algn="just">
              <a:buFont typeface="Courier New" panose="02070309020205020404" pitchFamily="49" charset="0"/>
              <a:buChar char="o"/>
            </a:pPr>
            <a:r>
              <a:rPr lang="es-VE" sz="1700" dirty="0">
                <a:latin typeface="Times New Roman" panose="02020603050405020304" pitchFamily="18" charset="0"/>
                <a:cs typeface="Times New Roman" panose="02020603050405020304" pitchFamily="18" charset="0"/>
              </a:rPr>
              <a:t>Encontrar objetivos de ganancias de la empresa que se alineen con el negocio de la organización.</a:t>
            </a:r>
          </a:p>
          <a:p>
            <a:pPr marL="285750" indent="-285750" algn="just">
              <a:buFont typeface="Courier New" panose="02070309020205020404" pitchFamily="49" charset="0"/>
              <a:buChar char="o"/>
            </a:pPr>
            <a:r>
              <a:rPr lang="es-VE" sz="1700" dirty="0">
                <a:latin typeface="Times New Roman" panose="02020603050405020304" pitchFamily="18" charset="0"/>
                <a:cs typeface="Times New Roman" panose="02020603050405020304" pitchFamily="18" charset="0"/>
              </a:rPr>
              <a:t>Utilizar métodos y herramientas de operación transparentes para que los clientes siempre sepan cómo están funcionando las estrategias implementadas.</a:t>
            </a:r>
          </a:p>
          <a:p>
            <a:pPr marL="285750" indent="-285750" algn="just">
              <a:buFont typeface="Courier New" panose="02070309020205020404" pitchFamily="49" charset="0"/>
              <a:buChar char="o"/>
            </a:pPr>
            <a:r>
              <a:rPr lang="es-VE" sz="1700" dirty="0">
                <a:latin typeface="Times New Roman" panose="02020603050405020304" pitchFamily="18" charset="0"/>
                <a:cs typeface="Times New Roman" panose="02020603050405020304" pitchFamily="18" charset="0"/>
              </a:rPr>
              <a:t>Utilizar la tecnología para optimizar los procesos contables y favorecer la emisión de información útil y efectiva.</a:t>
            </a:r>
          </a:p>
          <a:p>
            <a:endParaRPr lang="es-VE" dirty="0"/>
          </a:p>
        </p:txBody>
      </p:sp>
      <p:pic>
        <p:nvPicPr>
          <p:cNvPr id="7" name="Imagen 6"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321811" y="2689978"/>
            <a:ext cx="3441701" cy="2057399"/>
          </a:xfrm>
          <a:prstGeom prst="rect">
            <a:avLst/>
          </a:prstGeom>
        </p:spPr>
      </p:pic>
      <p:sp>
        <p:nvSpPr>
          <p:cNvPr id="8" name="CuadroTexto 7"/>
          <p:cNvSpPr txBox="1"/>
          <p:nvPr/>
        </p:nvSpPr>
        <p:spPr>
          <a:xfrm>
            <a:off x="6415548" y="1964801"/>
            <a:ext cx="2563352" cy="353943"/>
          </a:xfrm>
          <a:prstGeom prst="rect">
            <a:avLst/>
          </a:prstGeom>
          <a:noFill/>
        </p:spPr>
        <p:txBody>
          <a:bodyPr wrap="square" rtlCol="0">
            <a:spAutoFit/>
          </a:bodyPr>
          <a:lstStyle/>
          <a:p>
            <a:pPr algn="ctr"/>
            <a:r>
              <a:rPr lang="es-VE" sz="1700" b="1" dirty="0" smtClean="0">
                <a:latin typeface="Times New Roman" panose="02020603050405020304" pitchFamily="18" charset="0"/>
                <a:cs typeface="Times New Roman" panose="02020603050405020304" pitchFamily="18" charset="0"/>
              </a:rPr>
              <a:t>POBLACIÓN</a:t>
            </a:r>
            <a:endParaRPr lang="es-VE"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162440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smtClean="0">
                <a:solidFill>
                  <a:schemeClr val="tx1"/>
                </a:solidFill>
                <a:latin typeface="Times New Roman" panose="02020603050405020304" pitchFamily="18" charset="0"/>
                <a:cs typeface="Times New Roman" panose="02020603050405020304" pitchFamily="18" charset="0"/>
              </a:rPr>
              <a:t>CAPÍTULO </a:t>
            </a:r>
            <a:r>
              <a:rPr lang="es-VE" sz="1800" b="1" dirty="0" smtClean="0">
                <a:solidFill>
                  <a:schemeClr val="tx1"/>
                </a:solidFill>
                <a:latin typeface="Times New Roman" panose="02020603050405020304" pitchFamily="18" charset="0"/>
                <a:cs typeface="Times New Roman" panose="02020603050405020304" pitchFamily="18" charset="0"/>
              </a:rPr>
              <a:t>II</a:t>
            </a:r>
            <a:br>
              <a:rPr lang="es-VE" sz="1800" b="1" dirty="0" smtClean="0">
                <a:solidFill>
                  <a:schemeClr val="tx1"/>
                </a:solidFill>
                <a:latin typeface="Times New Roman" panose="02020603050405020304" pitchFamily="18" charset="0"/>
                <a:cs typeface="Times New Roman" panose="02020603050405020304" pitchFamily="18" charset="0"/>
              </a:rPr>
            </a:br>
            <a:r>
              <a:rPr lang="es-VE" sz="1800" b="1" dirty="0" smtClean="0">
                <a:solidFill>
                  <a:schemeClr val="tx1"/>
                </a:solidFill>
                <a:latin typeface="Times New Roman" panose="02020603050405020304" pitchFamily="18" charset="0"/>
                <a:cs typeface="Times New Roman" panose="02020603050405020304" pitchFamily="18" charset="0"/>
              </a:rPr>
              <a:t>IDENTIFICACIÓN DEL DEPARTAMENTO</a:t>
            </a:r>
            <a:endParaRPr lang="es-VE" sz="1800" b="1" dirty="0">
              <a:solidFill>
                <a:schemeClr val="tx1"/>
              </a:solidFill>
              <a:latin typeface="Times New Roman" panose="02020603050405020304" pitchFamily="18" charset="0"/>
              <a:cs typeface="Times New Roman" panose="02020603050405020304" pitchFamily="18" charset="0"/>
            </a:endParaRPr>
          </a:p>
        </p:txBody>
      </p:sp>
      <p:sp>
        <p:nvSpPr>
          <p:cNvPr id="4" name="CuadroTexto 3"/>
          <p:cNvSpPr txBox="1"/>
          <p:nvPr/>
        </p:nvSpPr>
        <p:spPr>
          <a:xfrm>
            <a:off x="779712" y="994694"/>
            <a:ext cx="8318500" cy="1400383"/>
          </a:xfrm>
          <a:prstGeom prst="rect">
            <a:avLst/>
          </a:prstGeom>
          <a:noFill/>
        </p:spPr>
        <p:txBody>
          <a:bodyPr wrap="square" rtlCol="0">
            <a:spAutoFit/>
          </a:bodyPr>
          <a:lstStyle/>
          <a:p>
            <a:pPr algn="ctr"/>
            <a:r>
              <a:rPr lang="es-VE" sz="1700" b="1" dirty="0" smtClean="0">
                <a:latin typeface="Times New Roman" panose="02020603050405020304" pitchFamily="18" charset="0"/>
                <a:cs typeface="Times New Roman" panose="02020603050405020304" pitchFamily="18" charset="0"/>
              </a:rPr>
              <a:t>Departamento </a:t>
            </a:r>
            <a:r>
              <a:rPr lang="es-VE" sz="1700" b="1" dirty="0">
                <a:latin typeface="Times New Roman" panose="02020603050405020304" pitchFamily="18" charset="0"/>
                <a:cs typeface="Times New Roman" panose="02020603050405020304" pitchFamily="18" charset="0"/>
              </a:rPr>
              <a:t>de </a:t>
            </a:r>
            <a:r>
              <a:rPr lang="es-VE" sz="1700" b="1" dirty="0" smtClean="0">
                <a:latin typeface="Times New Roman" panose="02020603050405020304" pitchFamily="18" charset="0"/>
                <a:cs typeface="Times New Roman" panose="02020603050405020304" pitchFamily="18" charset="0"/>
              </a:rPr>
              <a:t>Impuestos</a:t>
            </a:r>
          </a:p>
          <a:p>
            <a:pPr algn="just"/>
            <a:r>
              <a:rPr lang="es-VE" sz="1700" dirty="0" smtClean="0">
                <a:latin typeface="Times New Roman" panose="02020603050405020304" pitchFamily="18" charset="0"/>
                <a:cs typeface="Times New Roman" panose="02020603050405020304" pitchFamily="18" charset="0"/>
              </a:rPr>
              <a:t>El </a:t>
            </a:r>
            <a:r>
              <a:rPr lang="es-VE" sz="1700" dirty="0">
                <a:latin typeface="Times New Roman" panose="02020603050405020304" pitchFamily="18" charset="0"/>
                <a:cs typeface="Times New Roman" panose="02020603050405020304" pitchFamily="18" charset="0"/>
              </a:rPr>
              <a:t>departamento de impuestos es el encargado del seguimiento, coordinación y ejecución de las actuaciones tendentes, en vía de gestión tributaria, la comprobación de requerimientos de contenido tributario, elaboración y mantenimiento de censos, así como la gestión recaudatoria de los ingresos directos</a:t>
            </a:r>
            <a:r>
              <a:rPr lang="es-VE" sz="1700" dirty="0" smtClean="0">
                <a:latin typeface="Times New Roman" panose="02020603050405020304" pitchFamily="18" charset="0"/>
                <a:cs typeface="Times New Roman" panose="02020603050405020304" pitchFamily="18" charset="0"/>
              </a:rPr>
              <a:t>.</a:t>
            </a:r>
            <a:endParaRPr lang="es-VE" sz="1700" dirty="0">
              <a:latin typeface="Times New Roman" panose="02020603050405020304" pitchFamily="18" charset="0"/>
              <a:cs typeface="Times New Roman" panose="02020603050405020304" pitchFamily="18" charset="0"/>
            </a:endParaRPr>
          </a:p>
        </p:txBody>
      </p:sp>
      <p:sp>
        <p:nvSpPr>
          <p:cNvPr id="6" name="CuadroTexto 5"/>
          <p:cNvSpPr txBox="1"/>
          <p:nvPr/>
        </p:nvSpPr>
        <p:spPr>
          <a:xfrm>
            <a:off x="342900" y="3188535"/>
            <a:ext cx="2895600" cy="1923604"/>
          </a:xfrm>
          <a:prstGeom prst="rect">
            <a:avLst/>
          </a:prstGeom>
          <a:noFill/>
        </p:spPr>
        <p:txBody>
          <a:bodyPr wrap="square" rtlCol="0">
            <a:spAutoFit/>
          </a:bodyPr>
          <a:lstStyle/>
          <a:p>
            <a:pPr algn="ctr"/>
            <a:r>
              <a:rPr lang="es-VE" sz="1700" b="1" dirty="0">
                <a:latin typeface="Times New Roman" panose="02020603050405020304" pitchFamily="18" charset="0"/>
                <a:cs typeface="Times New Roman" panose="02020603050405020304" pitchFamily="18" charset="0"/>
              </a:rPr>
              <a:t>Objetivo general</a:t>
            </a:r>
          </a:p>
          <a:p>
            <a:pPr algn="just"/>
            <a:r>
              <a:rPr lang="es-VE" sz="1700" dirty="0">
                <a:latin typeface="Times New Roman" panose="02020603050405020304" pitchFamily="18" charset="0"/>
                <a:cs typeface="Times New Roman" panose="02020603050405020304" pitchFamily="18" charset="0"/>
              </a:rPr>
              <a:t>Organizar y plantear políticas en formato de programas económicos para consolidar de manera fiscal la buena gestión de impuestos, tasas y otras contribuciones.</a:t>
            </a:r>
          </a:p>
        </p:txBody>
      </p:sp>
      <p:sp>
        <p:nvSpPr>
          <p:cNvPr id="7" name="CuadroTexto 6"/>
          <p:cNvSpPr txBox="1"/>
          <p:nvPr/>
        </p:nvSpPr>
        <p:spPr>
          <a:xfrm>
            <a:off x="3644900" y="2395077"/>
            <a:ext cx="5981700" cy="4016484"/>
          </a:xfrm>
          <a:prstGeom prst="rect">
            <a:avLst/>
          </a:prstGeom>
          <a:noFill/>
        </p:spPr>
        <p:txBody>
          <a:bodyPr wrap="square" rtlCol="0">
            <a:spAutoFit/>
          </a:bodyPr>
          <a:lstStyle/>
          <a:p>
            <a:pPr algn="ctr"/>
            <a:r>
              <a:rPr lang="es-VE" sz="1500" b="1" dirty="0">
                <a:latin typeface="Times New Roman" panose="02020603050405020304" pitchFamily="18" charset="0"/>
                <a:cs typeface="Times New Roman" panose="02020603050405020304" pitchFamily="18" charset="0"/>
              </a:rPr>
              <a:t>Objetivo </a:t>
            </a:r>
            <a:r>
              <a:rPr lang="es-VE" sz="1500" b="1" dirty="0" smtClean="0">
                <a:latin typeface="Times New Roman" panose="02020603050405020304" pitchFamily="18" charset="0"/>
                <a:cs typeface="Times New Roman" panose="02020603050405020304" pitchFamily="18" charset="0"/>
              </a:rPr>
              <a:t>específico</a:t>
            </a:r>
            <a:endParaRPr lang="es-VE" sz="1500" b="1" dirty="0">
              <a:latin typeface="Times New Roman" panose="02020603050405020304" pitchFamily="18" charset="0"/>
              <a:cs typeface="Times New Roman" panose="02020603050405020304" pitchFamily="18" charset="0"/>
            </a:endParaRP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Planear y dirigir las actividades de recaudación, facturación, liquidación, fiscalización, cobro y discusión de los impuestos del municipio designado.</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Ofrecer planes de políticas y estrategias en materia de fiscalización.</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Establecer el cumplimiento de las obligaciones por parte de los contribuyentes.</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Solicitar a los contribuyentes o terceros presentar informes para determinar la verdadera base de los impuestos.</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Controlar el desarrollo de los procesos de cobro persuasivo de impuestos, gravámenes, sanciones, multas e intereses de competencia de la Secretaria.</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Realizar las diligencias necesarias para que los deudores paguen voluntariamente sin perjuicio del cobro coactivo.</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Mantener actualizada la información e inventario de procesos de cobros coactivos y persuasivos.</a:t>
            </a:r>
          </a:p>
          <a:p>
            <a:pPr marL="285750" indent="-285750" algn="just">
              <a:buFont typeface="Wingdings" panose="05000000000000000000" pitchFamily="2" charset="2"/>
              <a:buChar char="§"/>
            </a:pPr>
            <a:r>
              <a:rPr lang="es-VE" sz="1500" dirty="0">
                <a:latin typeface="Times New Roman" panose="02020603050405020304" pitchFamily="18" charset="0"/>
                <a:cs typeface="Times New Roman" panose="02020603050405020304" pitchFamily="18" charset="0"/>
              </a:rPr>
              <a:t>Revisar las conciliaciones bancarias.</a:t>
            </a:r>
          </a:p>
        </p:txBody>
      </p:sp>
    </p:spTree>
    <p:extLst>
      <p:ext uri="{BB962C8B-B14F-4D97-AF65-F5344CB8AC3E}">
        <p14:creationId xmlns:p14="http://schemas.microsoft.com/office/powerpoint/2010/main" val="181385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III</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DIAGNOSTICO SITUACIONAL</a:t>
            </a:r>
          </a:p>
        </p:txBody>
      </p:sp>
      <p:sp>
        <p:nvSpPr>
          <p:cNvPr id="4" name="CuadroTexto 3"/>
          <p:cNvSpPr txBox="1"/>
          <p:nvPr/>
        </p:nvSpPr>
        <p:spPr>
          <a:xfrm>
            <a:off x="220180" y="1815549"/>
            <a:ext cx="4415320" cy="4278094"/>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Planteamiento del </a:t>
            </a:r>
            <a:r>
              <a:rPr lang="es-VE" sz="1600" b="1" dirty="0" smtClean="0">
                <a:latin typeface="Times New Roman" panose="02020603050405020304" pitchFamily="18" charset="0"/>
                <a:cs typeface="Times New Roman" panose="02020603050405020304" pitchFamily="18" charset="0"/>
              </a:rPr>
              <a:t>problema</a:t>
            </a:r>
          </a:p>
          <a:p>
            <a:pPr algn="ctr"/>
            <a:endParaRPr lang="es-VE" sz="1600" b="1" dirty="0">
              <a:latin typeface="Times New Roman" panose="02020603050405020304" pitchFamily="18" charset="0"/>
              <a:cs typeface="Times New Roman" panose="02020603050405020304" pitchFamily="18" charset="0"/>
            </a:endParaRPr>
          </a:p>
          <a:p>
            <a:pPr algn="just"/>
            <a:r>
              <a:rPr lang="es-VE" sz="1600" dirty="0">
                <a:latin typeface="Times New Roman" panose="02020603050405020304" pitchFamily="18" charset="0"/>
                <a:cs typeface="Times New Roman" panose="02020603050405020304" pitchFamily="18" charset="0"/>
              </a:rPr>
              <a:t>Debido a que principalmente es una empresa pequeña no cuenta con un departamento de atención al cliente, esto trae como consecuencia que se atrasen en el cumplimiento de sus actividades regulares como la declaración de impuesto, asesoría contable, registro de la actividad financiera de la empresa, entre otros; y que en general los contribuyentes  no obtengan una atención satisfactoria, por lo que actualmente buscan diferentes opciones eficaces para mejorar y optimizar sus servicios actuales como son: proporcionar información a las nuevas solicitudes, darse a conocer, mostrar los servicios que ofrecen, y mantener el contacto con los clientes que ya poseen. </a:t>
            </a:r>
          </a:p>
        </p:txBody>
      </p:sp>
      <p:pic>
        <p:nvPicPr>
          <p:cNvPr id="3" name="Imagen 2"/>
          <p:cNvPicPr>
            <a:picLocks noChangeAspect="1"/>
          </p:cNvPicPr>
          <p:nvPr/>
        </p:nvPicPr>
        <p:blipFill>
          <a:blip r:embed="rId2"/>
          <a:stretch>
            <a:fillRect/>
          </a:stretch>
        </p:blipFill>
        <p:spPr>
          <a:xfrm>
            <a:off x="4635500" y="1815549"/>
            <a:ext cx="5386773" cy="4425303"/>
          </a:xfrm>
          <a:prstGeom prst="rect">
            <a:avLst/>
          </a:prstGeom>
        </p:spPr>
      </p:pic>
      <p:sp>
        <p:nvSpPr>
          <p:cNvPr id="5" name="CuadroTexto 4"/>
          <p:cNvSpPr txBox="1"/>
          <p:nvPr/>
        </p:nvSpPr>
        <p:spPr>
          <a:xfrm>
            <a:off x="5925536" y="1476995"/>
            <a:ext cx="2806700" cy="338554"/>
          </a:xfrm>
          <a:prstGeom prst="rect">
            <a:avLst/>
          </a:prstGeom>
          <a:noFill/>
        </p:spPr>
        <p:txBody>
          <a:bodyPr wrap="square" rtlCol="0">
            <a:spAutoFit/>
          </a:bodyPr>
          <a:lstStyle/>
          <a:p>
            <a:pPr algn="ctr"/>
            <a:r>
              <a:rPr lang="es-VE" sz="1600" b="1" dirty="0" smtClean="0">
                <a:latin typeface="Times New Roman" panose="02020603050405020304" pitchFamily="18" charset="0"/>
                <a:cs typeface="Times New Roman" panose="02020603050405020304" pitchFamily="18" charset="0"/>
              </a:rPr>
              <a:t>Técnica Árbol de problemas.</a:t>
            </a:r>
            <a:endParaRPr lang="es-VE"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30004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IV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MARCO </a:t>
            </a:r>
            <a:r>
              <a:rPr lang="es-VE" sz="1800" b="1" dirty="0" smtClean="0">
                <a:solidFill>
                  <a:schemeClr val="tx1"/>
                </a:solidFill>
                <a:latin typeface="Times New Roman" panose="02020603050405020304" pitchFamily="18" charset="0"/>
                <a:cs typeface="Times New Roman" panose="02020603050405020304" pitchFamily="18" charset="0"/>
              </a:rPr>
              <a:t>TEÓRICO</a:t>
            </a:r>
            <a:endParaRPr lang="es-VE" sz="1800" b="1" dirty="0">
              <a:solidFill>
                <a:schemeClr val="tx1"/>
              </a:solidFill>
              <a:latin typeface="Times New Roman" panose="02020603050405020304" pitchFamily="18" charset="0"/>
              <a:cs typeface="Times New Roman" panose="02020603050405020304" pitchFamily="18" charset="0"/>
            </a:endParaRPr>
          </a:p>
        </p:txBody>
      </p:sp>
      <p:sp>
        <p:nvSpPr>
          <p:cNvPr id="4" name="CuadroTexto 3"/>
          <p:cNvSpPr txBox="1"/>
          <p:nvPr/>
        </p:nvSpPr>
        <p:spPr>
          <a:xfrm>
            <a:off x="5257131" y="1414822"/>
            <a:ext cx="3606800" cy="1815882"/>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Inteligencia </a:t>
            </a:r>
            <a:r>
              <a:rPr lang="es-VE" sz="1600" b="1" dirty="0" smtClean="0">
                <a:latin typeface="Times New Roman" panose="02020603050405020304" pitchFamily="18" charset="0"/>
                <a:cs typeface="Times New Roman" panose="02020603050405020304" pitchFamily="18" charset="0"/>
              </a:rPr>
              <a:t>Artificial</a:t>
            </a:r>
          </a:p>
          <a:p>
            <a:pPr algn="just"/>
            <a:r>
              <a:rPr lang="es-VE" sz="1600" dirty="0" smtClean="0">
                <a:latin typeface="Times New Roman" panose="02020603050405020304" pitchFamily="18" charset="0"/>
                <a:cs typeface="Times New Roman" panose="02020603050405020304" pitchFamily="18" charset="0"/>
              </a:rPr>
              <a:t>La </a:t>
            </a:r>
            <a:r>
              <a:rPr lang="es-VE" sz="1600" dirty="0">
                <a:latin typeface="Times New Roman" panose="02020603050405020304" pitchFamily="18" charset="0"/>
                <a:cs typeface="Times New Roman" panose="02020603050405020304" pitchFamily="18" charset="0"/>
              </a:rPr>
              <a:t>inteligencia artificial o también llamada IA es la base de la cual se imitan los procesos o acciones de la inteligencia humana, esto por medio del diseño y aplicación de algoritmos creados en un entorno práctico de computación.</a:t>
            </a:r>
          </a:p>
        </p:txBody>
      </p:sp>
      <p:sp>
        <p:nvSpPr>
          <p:cNvPr id="6" name="CuadroTexto 5"/>
          <p:cNvSpPr txBox="1"/>
          <p:nvPr/>
        </p:nvSpPr>
        <p:spPr>
          <a:xfrm>
            <a:off x="3206081" y="3848100"/>
            <a:ext cx="2895600" cy="2554545"/>
          </a:xfrm>
          <a:prstGeom prst="rect">
            <a:avLst/>
          </a:prstGeom>
          <a:noFill/>
        </p:spPr>
        <p:txBody>
          <a:bodyPr wrap="square" rtlCol="0">
            <a:spAutoFit/>
          </a:bodyPr>
          <a:lstStyle/>
          <a:p>
            <a:pPr algn="ctr"/>
            <a:r>
              <a:rPr lang="es-VE" sz="1600" b="1" dirty="0" err="1" smtClean="0">
                <a:latin typeface="Times New Roman" panose="02020603050405020304" pitchFamily="18" charset="0"/>
                <a:cs typeface="Times New Roman" panose="02020603050405020304" pitchFamily="18" charset="0"/>
              </a:rPr>
              <a:t>Chatbot</a:t>
            </a:r>
            <a:endParaRPr lang="es-VE" sz="1600" b="1" dirty="0" smtClean="0">
              <a:latin typeface="Times New Roman" panose="02020603050405020304" pitchFamily="18" charset="0"/>
              <a:cs typeface="Times New Roman" panose="02020603050405020304" pitchFamily="18" charset="0"/>
            </a:endParaRPr>
          </a:p>
          <a:p>
            <a:pPr algn="just"/>
            <a:r>
              <a:rPr lang="es-VE" sz="1600" dirty="0" smtClean="0">
                <a:latin typeface="Times New Roman" panose="02020603050405020304" pitchFamily="18" charset="0"/>
                <a:cs typeface="Times New Roman" panose="02020603050405020304" pitchFamily="18" charset="0"/>
              </a:rPr>
              <a:t>Un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es una aplicación que se puede utilizar como una herramienta de mensajería automática o un asistente virtual, que puede establecer una comunicación entre usuarios o empresas en un lenguaje natural, esto mediante texto o métodos auditivos.</a:t>
            </a:r>
          </a:p>
        </p:txBody>
      </p:sp>
      <p:sp>
        <p:nvSpPr>
          <p:cNvPr id="8" name="CuadroTexto 7"/>
          <p:cNvSpPr txBox="1"/>
          <p:nvPr/>
        </p:nvSpPr>
        <p:spPr>
          <a:xfrm>
            <a:off x="783864" y="1414822"/>
            <a:ext cx="2895600" cy="1815882"/>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Atención al </a:t>
            </a:r>
            <a:r>
              <a:rPr lang="es-VE" sz="1600" b="1" dirty="0" smtClean="0">
                <a:latin typeface="Times New Roman" panose="02020603050405020304" pitchFamily="18" charset="0"/>
                <a:cs typeface="Times New Roman" panose="02020603050405020304" pitchFamily="18" charset="0"/>
              </a:rPr>
              <a:t>cliente</a:t>
            </a:r>
          </a:p>
          <a:p>
            <a:pPr algn="just"/>
            <a:r>
              <a:rPr lang="es-VE" sz="1600" dirty="0" smtClean="0">
                <a:latin typeface="Times New Roman" panose="02020603050405020304" pitchFamily="18" charset="0"/>
                <a:cs typeface="Times New Roman" panose="02020603050405020304" pitchFamily="18" charset="0"/>
              </a:rPr>
              <a:t>El </a:t>
            </a:r>
            <a:r>
              <a:rPr lang="es-VE" sz="1600" dirty="0">
                <a:latin typeface="Times New Roman" panose="02020603050405020304" pitchFamily="18" charset="0"/>
                <a:cs typeface="Times New Roman" panose="02020603050405020304" pitchFamily="18" charset="0"/>
              </a:rPr>
              <a:t>servicio de atención al cliente es una herramienta o método aplicado por las empresas para establecer un contacto con los clientes, mediante diferentes canales disponibles.</a:t>
            </a:r>
          </a:p>
        </p:txBody>
      </p:sp>
    </p:spTree>
    <p:extLst>
      <p:ext uri="{BB962C8B-B14F-4D97-AF65-F5344CB8AC3E}">
        <p14:creationId xmlns:p14="http://schemas.microsoft.com/office/powerpoint/2010/main" val="20805944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779712" y="994694"/>
            <a:ext cx="8567488" cy="1569660"/>
          </a:xfrm>
          <a:prstGeom prst="rect">
            <a:avLst/>
          </a:prstGeom>
          <a:noFill/>
        </p:spPr>
        <p:txBody>
          <a:bodyPr wrap="square" rtlCol="0">
            <a:spAutoFit/>
          </a:bodyPr>
          <a:lstStyle/>
          <a:p>
            <a:pPr algn="ctr"/>
            <a:r>
              <a:rPr lang="es-VE" sz="1600" b="1" dirty="0" smtClean="0">
                <a:latin typeface="Times New Roman" panose="02020603050405020304" pitchFamily="18" charset="0"/>
                <a:cs typeface="Times New Roman" panose="02020603050405020304" pitchFamily="18" charset="0"/>
              </a:rPr>
              <a:t>Fundamentación </a:t>
            </a:r>
          </a:p>
          <a:p>
            <a:pPr algn="just"/>
            <a:r>
              <a:rPr lang="es-VE" sz="1600" dirty="0" smtClean="0">
                <a:latin typeface="Times New Roman" panose="02020603050405020304" pitchFamily="18" charset="0"/>
                <a:cs typeface="Times New Roman" panose="02020603050405020304" pitchFamily="18" charset="0"/>
              </a:rPr>
              <a:t>Se </a:t>
            </a:r>
            <a:r>
              <a:rPr lang="es-VE" sz="1600" dirty="0">
                <a:latin typeface="Times New Roman" panose="02020603050405020304" pitchFamily="18" charset="0"/>
                <a:cs typeface="Times New Roman" panose="02020603050405020304" pitchFamily="18" charset="0"/>
              </a:rPr>
              <a:t>propone la creación de </a:t>
            </a:r>
            <a:r>
              <a:rPr lang="es-VE" sz="1600" dirty="0" err="1">
                <a:latin typeface="Times New Roman" panose="02020603050405020304" pitchFamily="18" charset="0"/>
                <a:cs typeface="Times New Roman" panose="02020603050405020304" pitchFamily="18" charset="0"/>
              </a:rPr>
              <a:t>chatbots</a:t>
            </a:r>
            <a:r>
              <a:rPr lang="es-VE" sz="1600" dirty="0">
                <a:latin typeface="Times New Roman" panose="02020603050405020304" pitchFamily="18" charset="0"/>
                <a:cs typeface="Times New Roman" panose="02020603050405020304" pitchFamily="18" charset="0"/>
              </a:rPr>
              <a:t>, el cual es una forma alternativa de comunicación que surge como respuesta instantánea en los procesos de atención al cliente, ofreciendo solución a la empresa que permite reducir los costos operativos y mejorar continuamente el servicio al cliente. Este puede atender a los contribuyentes ya existentes y ofrecer la información solicitada para nuevas consultas, de igual manera, exhibir todos sus servicios a la nueva clientela interesada.</a:t>
            </a:r>
          </a:p>
        </p:txBody>
      </p:sp>
      <p:sp>
        <p:nvSpPr>
          <p:cNvPr id="6" name="CuadroTexto 5"/>
          <p:cNvSpPr txBox="1"/>
          <p:nvPr/>
        </p:nvSpPr>
        <p:spPr>
          <a:xfrm>
            <a:off x="228600" y="3823535"/>
            <a:ext cx="3048000" cy="1077218"/>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Objetivo general</a:t>
            </a:r>
          </a:p>
          <a:p>
            <a:pPr algn="just"/>
            <a:r>
              <a:rPr lang="es-VE" sz="1600" dirty="0" smtClean="0">
                <a:latin typeface="Times New Roman" panose="02020603050405020304" pitchFamily="18" charset="0"/>
                <a:cs typeface="Times New Roman" panose="02020603050405020304" pitchFamily="18" charset="0"/>
              </a:rPr>
              <a:t>Desarrollar </a:t>
            </a:r>
            <a:r>
              <a:rPr lang="es-VE" sz="1600" dirty="0">
                <a:latin typeface="Times New Roman" panose="02020603050405020304" pitchFamily="18" charset="0"/>
                <a:cs typeface="Times New Roman" panose="02020603050405020304" pitchFamily="18" charset="0"/>
              </a:rPr>
              <a:t>un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de atención al cliente para la empresa NDC CONSULTORES 2015, C.A.</a:t>
            </a:r>
          </a:p>
        </p:txBody>
      </p:sp>
      <p:sp>
        <p:nvSpPr>
          <p:cNvPr id="7" name="CuadroTexto 6"/>
          <p:cNvSpPr txBox="1"/>
          <p:nvPr/>
        </p:nvSpPr>
        <p:spPr>
          <a:xfrm>
            <a:off x="3416300" y="2761622"/>
            <a:ext cx="6578600" cy="3785652"/>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Objetivo </a:t>
            </a:r>
            <a:r>
              <a:rPr lang="es-VE" sz="1600" b="1" dirty="0" smtClean="0">
                <a:latin typeface="Times New Roman" panose="02020603050405020304" pitchFamily="18" charset="0"/>
                <a:cs typeface="Times New Roman" panose="02020603050405020304" pitchFamily="18" charset="0"/>
              </a:rPr>
              <a:t>específico</a:t>
            </a:r>
            <a:endParaRPr lang="es-VE" sz="1600" b="1"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Identificar el problema de la atención al cliente de la empresa NDC CONSULTORES 2015, C.A</a:t>
            </a:r>
            <a:r>
              <a:rPr lang="es-VE" sz="16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s-VE"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Determinar los requerimientos para el desarrollo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de atención al cliente empresa NDC CONSULTORES 2015, C.A</a:t>
            </a:r>
            <a:r>
              <a:rPr lang="es-VE" sz="16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s-VE"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Análisis de las necesidades del sistema</a:t>
            </a:r>
            <a:r>
              <a:rPr lang="es-VE" sz="16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s-VE"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Diseño del sistema para la empresa NDC CONSULTORES 2015, C.A</a:t>
            </a:r>
            <a:r>
              <a:rPr lang="es-VE" sz="16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s-VE"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Desarrollo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para la empresa NDC CONSULTORES 2015, C.A</a:t>
            </a:r>
            <a:r>
              <a:rPr lang="es-VE" sz="1600" dirty="0" smtClean="0">
                <a:latin typeface="Times New Roman" panose="02020603050405020304" pitchFamily="18" charset="0"/>
                <a:cs typeface="Times New Roman" panose="02020603050405020304" pitchFamily="18" charset="0"/>
              </a:rPr>
              <a:t>.</a:t>
            </a:r>
          </a:p>
          <a:p>
            <a:pPr marL="342900" indent="-342900" algn="just">
              <a:buFont typeface="+mj-lt"/>
              <a:buAutoNum type="arabicPeriod"/>
            </a:pPr>
            <a:endParaRPr lang="es-VE" sz="1600" dirty="0">
              <a:latin typeface="Times New Roman" panose="02020603050405020304" pitchFamily="18" charset="0"/>
              <a:cs typeface="Times New Roman" panose="02020603050405020304" pitchFamily="18" charset="0"/>
            </a:endParaRPr>
          </a:p>
          <a:p>
            <a:pPr marL="342900" indent="-342900" algn="just">
              <a:buFont typeface="+mj-lt"/>
              <a:buAutoNum type="arabicPeriod"/>
            </a:pPr>
            <a:r>
              <a:rPr lang="es-VE" sz="1600" dirty="0">
                <a:latin typeface="Times New Roman" panose="02020603050405020304" pitchFamily="18" charset="0"/>
                <a:cs typeface="Times New Roman" panose="02020603050405020304" pitchFamily="18" charset="0"/>
              </a:rPr>
              <a:t>Evaluación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diseñado para la empresa NDC CONSULTORES 2015, C.A.</a:t>
            </a:r>
          </a:p>
        </p:txBody>
      </p:sp>
    </p:spTree>
    <p:extLst>
      <p:ext uri="{BB962C8B-B14F-4D97-AF65-F5344CB8AC3E}">
        <p14:creationId xmlns:p14="http://schemas.microsoft.com/office/powerpoint/2010/main" val="24055705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348220" y="942575"/>
            <a:ext cx="3499880" cy="2554545"/>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Metodología Kendall &amp; Kendall</a:t>
            </a:r>
          </a:p>
          <a:p>
            <a:pPr algn="just"/>
            <a:r>
              <a:rPr lang="es-VE" sz="1600" dirty="0">
                <a:latin typeface="Times New Roman" panose="02020603050405020304" pitchFamily="18" charset="0"/>
                <a:cs typeface="Times New Roman" panose="02020603050405020304" pitchFamily="18" charset="0"/>
              </a:rPr>
              <a:t>La metodología Kendall &amp; Kendall, es el ciclo de vida para el desarrollo de sistemas se debe llevar a cabo a través de un conjunto de determinadas fases para su análisis y diseño, ejecutados por el analistas en colaboración con el usuario, esto con la premisa central de que los sistemas se desarrollan de mejor manera utilizando un ciclo especifico.</a:t>
            </a:r>
          </a:p>
        </p:txBody>
      </p:sp>
      <p:pic>
        <p:nvPicPr>
          <p:cNvPr id="9" name="Imagen 8"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00736" y="3367079"/>
            <a:ext cx="190527" cy="123842"/>
          </a:xfrm>
          <a:prstGeom prst="rect">
            <a:avLst/>
          </a:prstGeom>
        </p:spPr>
      </p:pic>
      <p:pic>
        <p:nvPicPr>
          <p:cNvPr id="10" name="Imagen 9" descr="Recorte de pantall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51300" y="942575"/>
            <a:ext cx="5420072" cy="5734850"/>
          </a:xfrm>
          <a:prstGeom prst="rect">
            <a:avLst/>
          </a:prstGeom>
        </p:spPr>
      </p:pic>
      <p:sp>
        <p:nvSpPr>
          <p:cNvPr id="11" name="CuadroTexto 10"/>
          <p:cNvSpPr txBox="1"/>
          <p:nvPr/>
        </p:nvSpPr>
        <p:spPr>
          <a:xfrm>
            <a:off x="745610" y="4140200"/>
            <a:ext cx="2962790" cy="615553"/>
          </a:xfrm>
          <a:prstGeom prst="rect">
            <a:avLst/>
          </a:prstGeom>
          <a:noFill/>
        </p:spPr>
        <p:txBody>
          <a:bodyPr wrap="square" rtlCol="0">
            <a:spAutoFit/>
          </a:bodyPr>
          <a:lstStyle/>
          <a:p>
            <a:pPr algn="ctr"/>
            <a:r>
              <a:rPr lang="es-VE" sz="1700" b="1" dirty="0" smtClean="0">
                <a:latin typeface="Times New Roman" panose="02020603050405020304" pitchFamily="18" charset="0"/>
                <a:cs typeface="Times New Roman" panose="02020603050405020304" pitchFamily="18" charset="0"/>
              </a:rPr>
              <a:t>Cuadro Metodología Kendall &amp; Kendall (2015)</a:t>
            </a:r>
            <a:endParaRPr lang="es-VE" sz="17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44872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863600" y="1000626"/>
            <a:ext cx="7586912" cy="1815882"/>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Fase </a:t>
            </a:r>
            <a:r>
              <a:rPr lang="es-VE" sz="1600" b="1" dirty="0" smtClean="0">
                <a:latin typeface="Times New Roman" panose="02020603050405020304" pitchFamily="18" charset="0"/>
                <a:cs typeface="Times New Roman" panose="02020603050405020304" pitchFamily="18" charset="0"/>
              </a:rPr>
              <a:t>I</a:t>
            </a:r>
          </a:p>
          <a:p>
            <a:pPr algn="just"/>
            <a:r>
              <a:rPr lang="es-VE" sz="1600" dirty="0" smtClean="0">
                <a:latin typeface="Times New Roman" panose="02020603050405020304" pitchFamily="18" charset="0"/>
                <a:cs typeface="Times New Roman" panose="02020603050405020304" pitchFamily="18" charset="0"/>
              </a:rPr>
              <a:t>En </a:t>
            </a:r>
            <a:r>
              <a:rPr lang="es-VE" sz="1600" dirty="0">
                <a:latin typeface="Times New Roman" panose="02020603050405020304" pitchFamily="18" charset="0"/>
                <a:cs typeface="Times New Roman" panose="02020603050405020304" pitchFamily="18" charset="0"/>
              </a:rPr>
              <a:t>la fase inicial, es fundamental observar de manera objetiva la situación de la Empresa NDC CONSULTORES 2015, C.A. </a:t>
            </a:r>
          </a:p>
          <a:p>
            <a:pPr algn="just"/>
            <a:r>
              <a:rPr lang="es-VE" sz="1600" dirty="0">
                <a:latin typeface="Times New Roman" panose="02020603050405020304" pitchFamily="18" charset="0"/>
                <a:cs typeface="Times New Roman" panose="02020603050405020304" pitchFamily="18" charset="0"/>
              </a:rPr>
              <a:t>Para ello, se determinó la información necesaria para desarrollar 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la cual fue obtenida mediante entrevistas abiertas con el personal de la empresa. De esta forma, se pudo hacer un seguimiento de la información relevante para la toma de decisiones y obtener una observación directa del entorno</a:t>
            </a:r>
            <a:r>
              <a:rPr lang="es-VE" sz="1600" dirty="0" smtClean="0">
                <a:latin typeface="Times New Roman" panose="02020603050405020304" pitchFamily="18" charset="0"/>
                <a:cs typeface="Times New Roman" panose="02020603050405020304" pitchFamily="18" charset="0"/>
              </a:rPr>
              <a:t>.</a:t>
            </a:r>
            <a:endParaRPr lang="es-VE" sz="1600" dirty="0">
              <a:latin typeface="Times New Roman" panose="02020603050405020304" pitchFamily="18" charset="0"/>
              <a:cs typeface="Times New Roman" panose="02020603050405020304" pitchFamily="18" charset="0"/>
            </a:endParaRPr>
          </a:p>
        </p:txBody>
      </p:sp>
      <p:pic>
        <p:nvPicPr>
          <p:cNvPr id="5" name="Imagen 4"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300" y="3475849"/>
            <a:ext cx="5872509" cy="1927445"/>
          </a:xfrm>
          <a:prstGeom prst="rect">
            <a:avLst/>
          </a:prstGeom>
        </p:spPr>
      </p:pic>
      <p:sp>
        <p:nvSpPr>
          <p:cNvPr id="8" name="CuadroTexto 7"/>
          <p:cNvSpPr txBox="1"/>
          <p:nvPr/>
        </p:nvSpPr>
        <p:spPr>
          <a:xfrm>
            <a:off x="6375400" y="3162298"/>
            <a:ext cx="3225800" cy="2554545"/>
          </a:xfrm>
          <a:prstGeom prst="rect">
            <a:avLst/>
          </a:prstGeom>
          <a:noFill/>
        </p:spPr>
        <p:txBody>
          <a:bodyPr wrap="square" rtlCol="0">
            <a:spAutoFit/>
          </a:bodyPr>
          <a:lstStyle/>
          <a:p>
            <a:pPr algn="just"/>
            <a:r>
              <a:rPr lang="es-VE" sz="1600" dirty="0">
                <a:latin typeface="Times New Roman" panose="02020603050405020304" pitchFamily="18" charset="0"/>
                <a:cs typeface="Times New Roman" panose="02020603050405020304" pitchFamily="18" charset="0"/>
              </a:rPr>
              <a:t>Se realizó un análisis exhaustivo para identificar si existían problemas, necesidades u oportunidades que pudieran ser abordadas con el proyecto, y se estudiaron los posibles riesgos involucrados. Como resultado de esta fase, se sintetizó la información recolectada para construir los objetivos del proyecto.</a:t>
            </a:r>
          </a:p>
        </p:txBody>
      </p:sp>
    </p:spTree>
    <p:extLst>
      <p:ext uri="{BB962C8B-B14F-4D97-AF65-F5344CB8AC3E}">
        <p14:creationId xmlns:p14="http://schemas.microsoft.com/office/powerpoint/2010/main" val="31299654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342900" y="3739956"/>
            <a:ext cx="4800600" cy="2554545"/>
          </a:xfrm>
          <a:prstGeom prst="rect">
            <a:avLst/>
          </a:prstGeom>
          <a:noFill/>
        </p:spPr>
        <p:txBody>
          <a:bodyPr wrap="square" rtlCol="0">
            <a:spAutoFit/>
          </a:bodyPr>
          <a:lstStyle/>
          <a:p>
            <a:pPr algn="ctr"/>
            <a:r>
              <a:rPr lang="es-VE" sz="1600" b="1" dirty="0" smtClean="0">
                <a:latin typeface="Times New Roman" panose="02020603050405020304" pitchFamily="18" charset="0"/>
                <a:cs typeface="Times New Roman" panose="02020603050405020304" pitchFamily="18" charset="0"/>
              </a:rPr>
              <a:t>Fase II</a:t>
            </a:r>
          </a:p>
          <a:p>
            <a:pPr algn="just"/>
            <a:r>
              <a:rPr lang="es-VE" sz="1600" dirty="0" smtClean="0">
                <a:latin typeface="Times New Roman" panose="02020603050405020304" pitchFamily="18" charset="0"/>
                <a:cs typeface="Times New Roman" panose="02020603050405020304" pitchFamily="18" charset="0"/>
              </a:rPr>
              <a:t>Por </a:t>
            </a:r>
            <a:r>
              <a:rPr lang="es-VE" sz="1600" dirty="0">
                <a:latin typeface="Times New Roman" panose="02020603050405020304" pitchFamily="18" charset="0"/>
                <a:cs typeface="Times New Roman" panose="02020603050405020304" pitchFamily="18" charset="0"/>
              </a:rPr>
              <a:t>medio de la metodología utilizada para el desarrollo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de la empresa NDC CONSULTORES 2015, C.A. se busca determinar los requerimientos de información de los usuarios involucrados en la organización. Para esto, se utiliza como herramienta una hoja de observación que permite recopilar la información necesaria para analizar los requerimientos que los usuarios necesitan para llevar a cabo sus actividades. </a:t>
            </a:r>
          </a:p>
        </p:txBody>
      </p:sp>
      <p:sp>
        <p:nvSpPr>
          <p:cNvPr id="8" name="CuadroTexto 7"/>
          <p:cNvSpPr txBox="1"/>
          <p:nvPr/>
        </p:nvSpPr>
        <p:spPr>
          <a:xfrm>
            <a:off x="5506310" y="3739956"/>
            <a:ext cx="4279900" cy="2554545"/>
          </a:xfrm>
          <a:prstGeom prst="rect">
            <a:avLst/>
          </a:prstGeom>
          <a:noFill/>
        </p:spPr>
        <p:txBody>
          <a:bodyPr wrap="square" rtlCol="0">
            <a:spAutoFit/>
          </a:bodyPr>
          <a:lstStyle/>
          <a:p>
            <a:pPr algn="just"/>
            <a:r>
              <a:rPr lang="es-VE" sz="1600" dirty="0">
                <a:latin typeface="Times New Roman" panose="02020603050405020304" pitchFamily="18" charset="0"/>
                <a:cs typeface="Times New Roman" panose="02020603050405020304" pitchFamily="18" charset="0"/>
              </a:rPr>
              <a:t>En esta fase también se revisan los objetivos previamente establecidos, se analiza la razón por la cual se implementa el sistema actual y se detallan aspectos como definir los involucrados, la actividad de la empresa y la manera en que se desempeñan los procedimientos actuales. El resultado de esta fase es la identificación clara de los requerimientos específicos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para satisfacer las necesidades de la organización y sus usuarios.</a:t>
            </a:r>
          </a:p>
        </p:txBody>
      </p:sp>
      <p:pic>
        <p:nvPicPr>
          <p:cNvPr id="3" name="Imagen 2"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590" y="1106435"/>
            <a:ext cx="7183820" cy="2119365"/>
          </a:xfrm>
          <a:prstGeom prst="rect">
            <a:avLst/>
          </a:prstGeom>
        </p:spPr>
      </p:pic>
    </p:spTree>
    <p:extLst>
      <p:ext uri="{BB962C8B-B14F-4D97-AF65-F5344CB8AC3E}">
        <p14:creationId xmlns:p14="http://schemas.microsoft.com/office/powerpoint/2010/main" val="16462981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5880960" y="1371152"/>
            <a:ext cx="3530600" cy="2062103"/>
          </a:xfrm>
          <a:prstGeom prst="rect">
            <a:avLst/>
          </a:prstGeom>
          <a:noFill/>
        </p:spPr>
        <p:txBody>
          <a:bodyPr wrap="square" rtlCol="0">
            <a:spAutoFit/>
          </a:bodyPr>
          <a:lstStyle/>
          <a:p>
            <a:pPr algn="ctr"/>
            <a:r>
              <a:rPr lang="es-VE" sz="1600" b="1" dirty="0" smtClean="0">
                <a:latin typeface="Times New Roman" panose="02020603050405020304" pitchFamily="18" charset="0"/>
                <a:cs typeface="Times New Roman" panose="02020603050405020304" pitchFamily="18" charset="0"/>
              </a:rPr>
              <a:t>Fase III</a:t>
            </a:r>
          </a:p>
          <a:p>
            <a:pPr algn="just"/>
            <a:r>
              <a:rPr lang="es-VE" sz="1600" dirty="0" smtClean="0">
                <a:latin typeface="Times New Roman" panose="02020603050405020304" pitchFamily="18" charset="0"/>
                <a:cs typeface="Times New Roman" panose="02020603050405020304" pitchFamily="18" charset="0"/>
              </a:rPr>
              <a:t>Por </a:t>
            </a:r>
            <a:r>
              <a:rPr lang="es-VE" sz="1600" dirty="0">
                <a:latin typeface="Times New Roman" panose="02020603050405020304" pitchFamily="18" charset="0"/>
                <a:cs typeface="Times New Roman" panose="02020603050405020304" pitchFamily="18" charset="0"/>
              </a:rPr>
              <a:t>medio de la siguiente fase, se usa la información obtenida en la fase previa y la herramienta diagrama de flujo para representar los procesos de las funciones de la empresa, mediante una estructura grafica la cual se presenta a continuación.</a:t>
            </a:r>
          </a:p>
        </p:txBody>
      </p:sp>
      <p:pic>
        <p:nvPicPr>
          <p:cNvPr id="3" name="Imagen 2"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76037" y="3757290"/>
            <a:ext cx="6618635" cy="898514"/>
          </a:xfrm>
          <a:prstGeom prst="rect">
            <a:avLst/>
          </a:prstGeom>
        </p:spPr>
      </p:pic>
      <p:pic>
        <p:nvPicPr>
          <p:cNvPr id="6" name="Imagen 5"/>
          <p:cNvPicPr>
            <a:picLocks noChangeAspect="1"/>
          </p:cNvPicPr>
          <p:nvPr/>
        </p:nvPicPr>
        <p:blipFill>
          <a:blip r:embed="rId3"/>
          <a:stretch>
            <a:fillRect/>
          </a:stretch>
        </p:blipFill>
        <p:spPr>
          <a:xfrm>
            <a:off x="0" y="797426"/>
            <a:ext cx="4676037" cy="5919729"/>
          </a:xfrm>
          <a:prstGeom prst="rect">
            <a:avLst/>
          </a:prstGeom>
        </p:spPr>
      </p:pic>
    </p:spTree>
    <p:extLst>
      <p:ext uri="{BB962C8B-B14F-4D97-AF65-F5344CB8AC3E}">
        <p14:creationId xmlns:p14="http://schemas.microsoft.com/office/powerpoint/2010/main" val="111429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632536" y="1442298"/>
            <a:ext cx="4154238" cy="2554545"/>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Fase </a:t>
            </a:r>
            <a:r>
              <a:rPr lang="es-VE" sz="1600" b="1" dirty="0" smtClean="0">
                <a:latin typeface="Times New Roman" panose="02020603050405020304" pitchFamily="18" charset="0"/>
                <a:cs typeface="Times New Roman" panose="02020603050405020304" pitchFamily="18" charset="0"/>
              </a:rPr>
              <a:t>IV</a:t>
            </a:r>
          </a:p>
          <a:p>
            <a:pPr algn="just"/>
            <a:r>
              <a:rPr lang="es-VE" sz="1600" dirty="0" smtClean="0">
                <a:latin typeface="Times New Roman" panose="02020603050405020304" pitchFamily="18" charset="0"/>
                <a:cs typeface="Times New Roman" panose="02020603050405020304" pitchFamily="18" charset="0"/>
              </a:rPr>
              <a:t>En </a:t>
            </a:r>
            <a:r>
              <a:rPr lang="es-VE" sz="1600" dirty="0">
                <a:latin typeface="Times New Roman" panose="02020603050405020304" pitchFamily="18" charset="0"/>
                <a:cs typeface="Times New Roman" panose="02020603050405020304" pitchFamily="18" charset="0"/>
              </a:rPr>
              <a:t>el desarrollo de la primera parte de esta fase y en el diseño lógico, se llevara a cabo una estructura de comportamiento de sistema, la cual describe como el conjunto de elementos del sistema interactúa con su entorno y como sus componentes se comportan y relacionan entre sí. Esto ayudara al programador a entender cómo funciona el sistema y cómo se comporta en situaciones diferentes</a:t>
            </a:r>
            <a:r>
              <a:rPr lang="es-VE" sz="1600" dirty="0" smtClean="0">
                <a:latin typeface="Times New Roman" panose="02020603050405020304" pitchFamily="18" charset="0"/>
                <a:cs typeface="Times New Roman" panose="02020603050405020304" pitchFamily="18" charset="0"/>
              </a:rPr>
              <a:t>.</a:t>
            </a:r>
            <a:endParaRPr lang="es-VE" sz="1600" dirty="0">
              <a:latin typeface="Times New Roman" panose="02020603050405020304" pitchFamily="18" charset="0"/>
              <a:cs typeface="Times New Roman" panose="02020603050405020304" pitchFamily="18" charset="0"/>
            </a:endParaRPr>
          </a:p>
        </p:txBody>
      </p:sp>
      <p:pic>
        <p:nvPicPr>
          <p:cNvPr id="5" name="Imagen 4"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8362" y="4641716"/>
            <a:ext cx="5142585" cy="971683"/>
          </a:xfrm>
          <a:prstGeom prst="rect">
            <a:avLst/>
          </a:prstGeom>
        </p:spPr>
      </p:pic>
      <p:pic>
        <p:nvPicPr>
          <p:cNvPr id="6" name="Imagen 5"/>
          <p:cNvPicPr>
            <a:picLocks noChangeAspect="1"/>
          </p:cNvPicPr>
          <p:nvPr/>
        </p:nvPicPr>
        <p:blipFill>
          <a:blip r:embed="rId3"/>
          <a:stretch>
            <a:fillRect/>
          </a:stretch>
        </p:blipFill>
        <p:spPr>
          <a:xfrm>
            <a:off x="5280947" y="518026"/>
            <a:ext cx="5084505" cy="6059949"/>
          </a:xfrm>
          <a:prstGeom prst="rect">
            <a:avLst/>
          </a:prstGeom>
        </p:spPr>
      </p:pic>
    </p:spTree>
    <p:extLst>
      <p:ext uri="{BB962C8B-B14F-4D97-AF65-F5344CB8AC3E}">
        <p14:creationId xmlns:p14="http://schemas.microsoft.com/office/powerpoint/2010/main" val="1470028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8" name="CuadroTexto 7"/>
          <p:cNvSpPr txBox="1"/>
          <p:nvPr/>
        </p:nvSpPr>
        <p:spPr>
          <a:xfrm>
            <a:off x="659062" y="2387333"/>
            <a:ext cx="4279900" cy="1569660"/>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Fase </a:t>
            </a:r>
            <a:r>
              <a:rPr lang="es-VE" sz="1600" b="1" dirty="0" smtClean="0">
                <a:latin typeface="Times New Roman" panose="02020603050405020304" pitchFamily="18" charset="0"/>
                <a:cs typeface="Times New Roman" panose="02020603050405020304" pitchFamily="18" charset="0"/>
              </a:rPr>
              <a:t>IV</a:t>
            </a:r>
            <a:endParaRPr lang="es-VE" sz="1600" dirty="0" smtClean="0">
              <a:latin typeface="Times New Roman" panose="02020603050405020304" pitchFamily="18" charset="0"/>
              <a:cs typeface="Times New Roman" panose="02020603050405020304" pitchFamily="18" charset="0"/>
            </a:endParaRPr>
          </a:p>
          <a:p>
            <a:pPr algn="just"/>
            <a:r>
              <a:rPr lang="es-VE" sz="1600" dirty="0" smtClean="0">
                <a:latin typeface="Times New Roman" panose="02020603050405020304" pitchFamily="18" charset="0"/>
                <a:cs typeface="Times New Roman" panose="02020603050405020304" pitchFamily="18" charset="0"/>
              </a:rPr>
              <a:t>En </a:t>
            </a:r>
            <a:r>
              <a:rPr lang="es-VE" sz="1600" dirty="0">
                <a:latin typeface="Times New Roman" panose="02020603050405020304" pitchFamily="18" charset="0"/>
                <a:cs typeface="Times New Roman" panose="02020603050405020304" pitchFamily="18" charset="0"/>
              </a:rPr>
              <a:t>esta segunda parte de esta fase, el diseño físico, se desarrolla la solución a la propuesta ya establecida. Se trata de una traducción del diseño lógico, describiendo la arquitectura, funciones, métodos y operaciones del software.</a:t>
            </a:r>
          </a:p>
        </p:txBody>
      </p:sp>
      <p:pic>
        <p:nvPicPr>
          <p:cNvPr id="3" name="Imagen 2"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463" y="1254224"/>
            <a:ext cx="5499098" cy="676311"/>
          </a:xfrm>
          <a:prstGeom prst="rect">
            <a:avLst/>
          </a:prstGeom>
        </p:spPr>
      </p:pic>
      <p:pic>
        <p:nvPicPr>
          <p:cNvPr id="6" name="Imagen 5"/>
          <p:cNvPicPr>
            <a:picLocks noChangeAspect="1"/>
          </p:cNvPicPr>
          <p:nvPr/>
        </p:nvPicPr>
        <p:blipFill rotWithShape="1">
          <a:blip r:embed="rId3"/>
          <a:srcRect b="4608"/>
          <a:stretch/>
        </p:blipFill>
        <p:spPr>
          <a:xfrm>
            <a:off x="5410200" y="2178005"/>
            <a:ext cx="5486400" cy="4559651"/>
          </a:xfrm>
          <a:prstGeom prst="rect">
            <a:avLst/>
          </a:prstGeom>
        </p:spPr>
      </p:pic>
      <p:sp>
        <p:nvSpPr>
          <p:cNvPr id="9" name="Flecha doblada 8"/>
          <p:cNvSpPr/>
          <p:nvPr/>
        </p:nvSpPr>
        <p:spPr>
          <a:xfrm rot="5400000">
            <a:off x="6241840" y="942810"/>
            <a:ext cx="686220" cy="1536700"/>
          </a:xfrm>
          <a:prstGeom prst="ben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VE">
              <a:solidFill>
                <a:schemeClr val="tx1"/>
              </a:solidFill>
            </a:endParaRPr>
          </a:p>
        </p:txBody>
      </p:sp>
    </p:spTree>
    <p:extLst>
      <p:ext uri="{BB962C8B-B14F-4D97-AF65-F5344CB8AC3E}">
        <p14:creationId xmlns:p14="http://schemas.microsoft.com/office/powerpoint/2010/main" val="36710343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231664" y="2386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8" name="CuadroTexto 7"/>
          <p:cNvSpPr txBox="1"/>
          <p:nvPr/>
        </p:nvSpPr>
        <p:spPr>
          <a:xfrm>
            <a:off x="620962" y="2856966"/>
            <a:ext cx="3925638" cy="1815882"/>
          </a:xfrm>
          <a:prstGeom prst="rect">
            <a:avLst/>
          </a:prstGeom>
          <a:noFill/>
        </p:spPr>
        <p:txBody>
          <a:bodyPr wrap="square" rtlCol="0">
            <a:spAutoFit/>
          </a:bodyPr>
          <a:lstStyle/>
          <a:p>
            <a:pPr algn="ctr"/>
            <a:r>
              <a:rPr lang="es-VE" sz="1600" b="1" dirty="0" smtClean="0">
                <a:latin typeface="Times New Roman" panose="02020603050405020304" pitchFamily="18" charset="0"/>
                <a:cs typeface="Times New Roman" panose="02020603050405020304" pitchFamily="18" charset="0"/>
              </a:rPr>
              <a:t>Fase V</a:t>
            </a:r>
          </a:p>
          <a:p>
            <a:pPr algn="just"/>
            <a:r>
              <a:rPr lang="es-VE" sz="1600" dirty="0" smtClean="0">
                <a:latin typeface="Times New Roman" panose="02020603050405020304" pitchFamily="18" charset="0"/>
                <a:cs typeface="Times New Roman" panose="02020603050405020304" pitchFamily="18" charset="0"/>
              </a:rPr>
              <a:t>En </a:t>
            </a:r>
            <a:r>
              <a:rPr lang="es-VE" sz="1600" dirty="0">
                <a:latin typeface="Times New Roman" panose="02020603050405020304" pitchFamily="18" charset="0"/>
                <a:cs typeface="Times New Roman" panose="02020603050405020304" pitchFamily="18" charset="0"/>
              </a:rPr>
              <a:t>la quinta fase del desarrollo de sistema, se creó un </a:t>
            </a:r>
            <a:r>
              <a:rPr lang="es-VE" sz="1600" dirty="0" err="1">
                <a:latin typeface="Times New Roman" panose="02020603050405020304" pitchFamily="18" charset="0"/>
                <a:cs typeface="Times New Roman" panose="02020603050405020304" pitchFamily="18" charset="0"/>
              </a:rPr>
              <a:t>Bot</a:t>
            </a:r>
            <a:r>
              <a:rPr lang="es-VE" sz="1600" dirty="0">
                <a:latin typeface="Times New Roman" panose="02020603050405020304" pitchFamily="18" charset="0"/>
                <a:cs typeface="Times New Roman" panose="02020603050405020304" pitchFamily="18" charset="0"/>
              </a:rPr>
              <a:t> para </a:t>
            </a:r>
            <a:r>
              <a:rPr lang="es-VE" sz="1600" dirty="0" err="1">
                <a:latin typeface="Times New Roman" panose="02020603050405020304" pitchFamily="18" charset="0"/>
                <a:cs typeface="Times New Roman" panose="02020603050405020304" pitchFamily="18" charset="0"/>
              </a:rPr>
              <a:t>telegram</a:t>
            </a:r>
            <a:r>
              <a:rPr lang="es-VE" sz="1600" dirty="0">
                <a:latin typeface="Times New Roman" panose="02020603050405020304" pitchFamily="18" charset="0"/>
                <a:cs typeface="Times New Roman" panose="02020603050405020304" pitchFamily="18" charset="0"/>
              </a:rPr>
              <a:t> mediante la herramienta </a:t>
            </a:r>
            <a:r>
              <a:rPr lang="es-VE" sz="1600" dirty="0" err="1">
                <a:latin typeface="Times New Roman" panose="02020603050405020304" pitchFamily="18" charset="0"/>
                <a:cs typeface="Times New Roman" panose="02020603050405020304" pitchFamily="18" charset="0"/>
              </a:rPr>
              <a:t>DialogFlow</a:t>
            </a:r>
            <a:r>
              <a:rPr lang="es-VE" sz="1600" dirty="0">
                <a:latin typeface="Times New Roman" panose="02020603050405020304" pitchFamily="18" charset="0"/>
                <a:cs typeface="Times New Roman" panose="02020603050405020304" pitchFamily="18" charset="0"/>
              </a:rPr>
              <a:t>, esta permitió elaborar, modificar e implementar los requisititos obtenidos en la fase II de la metodología </a:t>
            </a:r>
          </a:p>
        </p:txBody>
      </p:sp>
      <p:pic>
        <p:nvPicPr>
          <p:cNvPr id="4" name="Imagen 3"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0962" y="1444729"/>
            <a:ext cx="7083773" cy="765201"/>
          </a:xfrm>
          <a:prstGeom prst="rect">
            <a:avLst/>
          </a:prstGeom>
        </p:spPr>
      </p:pic>
    </p:spTree>
    <p:extLst>
      <p:ext uri="{BB962C8B-B14F-4D97-AF65-F5344CB8AC3E}">
        <p14:creationId xmlns:p14="http://schemas.microsoft.com/office/powerpoint/2010/main" val="3450551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610512" y="27709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4" name="CuadroTexto 3"/>
          <p:cNvSpPr txBox="1"/>
          <p:nvPr/>
        </p:nvSpPr>
        <p:spPr>
          <a:xfrm>
            <a:off x="2092608" y="2922386"/>
            <a:ext cx="6450403" cy="1077218"/>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Factibilidad </a:t>
            </a:r>
            <a:r>
              <a:rPr lang="es-VE" sz="1600" b="1" dirty="0" smtClean="0">
                <a:latin typeface="Times New Roman" panose="02020603050405020304" pitchFamily="18" charset="0"/>
                <a:cs typeface="Times New Roman" panose="02020603050405020304" pitchFamily="18" charset="0"/>
              </a:rPr>
              <a:t>tecnológica</a:t>
            </a:r>
          </a:p>
          <a:p>
            <a:pPr algn="just"/>
            <a:r>
              <a:rPr lang="es-VE" sz="1600" dirty="0" smtClean="0">
                <a:latin typeface="Times New Roman" panose="02020603050405020304" pitchFamily="18" charset="0"/>
                <a:cs typeface="Times New Roman" panose="02020603050405020304" pitchFamily="18" charset="0"/>
              </a:rPr>
              <a:t>De </a:t>
            </a:r>
            <a:r>
              <a:rPr lang="es-VE" sz="1600" dirty="0">
                <a:latin typeface="Times New Roman" panose="02020603050405020304" pitchFamily="18" charset="0"/>
                <a:cs typeface="Times New Roman" panose="02020603050405020304" pitchFamily="18" charset="0"/>
              </a:rPr>
              <a:t>acuerdo a la evaluación realizada en la empresa NDC CONSULTORES 2015, C.A., se señaló que posee el equipo de cómputo requerido para el desarrollo del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a:t>
            </a:r>
          </a:p>
        </p:txBody>
      </p:sp>
      <p:sp>
        <p:nvSpPr>
          <p:cNvPr id="8" name="CuadroTexto 7"/>
          <p:cNvSpPr txBox="1"/>
          <p:nvPr/>
        </p:nvSpPr>
        <p:spPr>
          <a:xfrm>
            <a:off x="1652737" y="1074189"/>
            <a:ext cx="7330146" cy="1323439"/>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Factibilidad </a:t>
            </a:r>
            <a:r>
              <a:rPr lang="es-VE" sz="1600" b="1" dirty="0" smtClean="0">
                <a:latin typeface="Times New Roman" panose="02020603050405020304" pitchFamily="18" charset="0"/>
                <a:cs typeface="Times New Roman" panose="02020603050405020304" pitchFamily="18" charset="0"/>
              </a:rPr>
              <a:t>humana</a:t>
            </a:r>
          </a:p>
          <a:p>
            <a:pPr algn="just"/>
            <a:r>
              <a:rPr lang="es-VE" sz="1600" dirty="0" smtClean="0">
                <a:latin typeface="Times New Roman" panose="02020603050405020304" pitchFamily="18" charset="0"/>
                <a:cs typeface="Times New Roman" panose="02020603050405020304" pitchFamily="18" charset="0"/>
              </a:rPr>
              <a:t>En </a:t>
            </a:r>
            <a:r>
              <a:rPr lang="es-VE" sz="1600" dirty="0">
                <a:latin typeface="Times New Roman" panose="02020603050405020304" pitchFamily="18" charset="0"/>
                <a:cs typeface="Times New Roman" panose="02020603050405020304" pitchFamily="18" charset="0"/>
              </a:rPr>
              <a:t>relación al recurso humano, es necesario contar con un personal capacitado en operar el </a:t>
            </a:r>
            <a:r>
              <a:rPr lang="es-VE" sz="1600" dirty="0" err="1">
                <a:latin typeface="Times New Roman" panose="02020603050405020304" pitchFamily="18" charset="0"/>
                <a:cs typeface="Times New Roman" panose="02020603050405020304" pitchFamily="18" charset="0"/>
              </a:rPr>
              <a:t>chatbot</a:t>
            </a:r>
            <a:r>
              <a:rPr lang="es-VE" sz="1600" dirty="0">
                <a:latin typeface="Times New Roman" panose="02020603050405020304" pitchFamily="18" charset="0"/>
                <a:cs typeface="Times New Roman" panose="02020603050405020304" pitchFamily="18" charset="0"/>
              </a:rPr>
              <a:t>, realizando actividades de mantenimiento del </a:t>
            </a:r>
            <a:r>
              <a:rPr lang="es-VE" sz="1600" dirty="0" err="1">
                <a:latin typeface="Times New Roman" panose="02020603050405020304" pitchFamily="18" charset="0"/>
                <a:cs typeface="Times New Roman" panose="02020603050405020304" pitchFamily="18" charset="0"/>
              </a:rPr>
              <a:t>bot</a:t>
            </a:r>
            <a:r>
              <a:rPr lang="es-VE" sz="1600" dirty="0">
                <a:latin typeface="Times New Roman" panose="02020603050405020304" pitchFamily="18" charset="0"/>
                <a:cs typeface="Times New Roman" panose="02020603050405020304" pitchFamily="18" charset="0"/>
              </a:rPr>
              <a:t> y actualización de información. De igual manera, afianzar su funcionamiento y transformarlo en una herramienta accesible, confiable y útil para los usuarios.</a:t>
            </a:r>
          </a:p>
        </p:txBody>
      </p:sp>
      <p:pic>
        <p:nvPicPr>
          <p:cNvPr id="3" name="Imagen 2"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9697" y="4642894"/>
            <a:ext cx="4980503" cy="1870170"/>
          </a:xfrm>
          <a:prstGeom prst="rect">
            <a:avLst/>
          </a:prstGeom>
        </p:spPr>
      </p:pic>
      <p:pic>
        <p:nvPicPr>
          <p:cNvPr id="5" name="Imagen 4" descr="Recorte de pantalla"/>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05500" y="4826268"/>
            <a:ext cx="4724399" cy="1503422"/>
          </a:xfrm>
          <a:prstGeom prst="rect">
            <a:avLst/>
          </a:prstGeom>
        </p:spPr>
      </p:pic>
    </p:spTree>
    <p:extLst>
      <p:ext uri="{BB962C8B-B14F-4D97-AF65-F5344CB8AC3E}">
        <p14:creationId xmlns:p14="http://schemas.microsoft.com/office/powerpoint/2010/main" val="1618754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092609" y="279652"/>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PROPUESTA</a:t>
            </a:r>
          </a:p>
        </p:txBody>
      </p:sp>
      <p:sp>
        <p:nvSpPr>
          <p:cNvPr id="6" name="CuadroTexto 5"/>
          <p:cNvSpPr txBox="1"/>
          <p:nvPr/>
        </p:nvSpPr>
        <p:spPr>
          <a:xfrm>
            <a:off x="1583111" y="1579132"/>
            <a:ext cx="6433590" cy="1323439"/>
          </a:xfrm>
          <a:prstGeom prst="rect">
            <a:avLst/>
          </a:prstGeom>
          <a:noFill/>
        </p:spPr>
        <p:txBody>
          <a:bodyPr wrap="square" rtlCol="0">
            <a:spAutoFit/>
          </a:bodyPr>
          <a:lstStyle/>
          <a:p>
            <a:pPr algn="ctr"/>
            <a:r>
              <a:rPr lang="es-VE" sz="1600" b="1" dirty="0">
                <a:latin typeface="Times New Roman" panose="02020603050405020304" pitchFamily="18" charset="0"/>
                <a:cs typeface="Times New Roman" panose="02020603050405020304" pitchFamily="18" charset="0"/>
              </a:rPr>
              <a:t>Factibilidad </a:t>
            </a:r>
            <a:r>
              <a:rPr lang="es-VE" sz="1600" b="1" dirty="0" smtClean="0">
                <a:latin typeface="Times New Roman" panose="02020603050405020304" pitchFamily="18" charset="0"/>
                <a:cs typeface="Times New Roman" panose="02020603050405020304" pitchFamily="18" charset="0"/>
              </a:rPr>
              <a:t>económica</a:t>
            </a:r>
          </a:p>
          <a:p>
            <a:pPr algn="just"/>
            <a:r>
              <a:rPr lang="es-VE" sz="1600" dirty="0" smtClean="0">
                <a:latin typeface="Times New Roman" panose="02020603050405020304" pitchFamily="18" charset="0"/>
                <a:cs typeface="Times New Roman" panose="02020603050405020304" pitchFamily="18" charset="0"/>
              </a:rPr>
              <a:t>Basándonos </a:t>
            </a:r>
            <a:r>
              <a:rPr lang="es-VE" sz="1600" dirty="0">
                <a:latin typeface="Times New Roman" panose="02020603050405020304" pitchFamily="18" charset="0"/>
                <a:cs typeface="Times New Roman" panose="02020603050405020304" pitchFamily="18" charset="0"/>
              </a:rPr>
              <a:t>en los datos recopilados y analizados previamente, se puede concluir  que el proyecto es viable desde el punto de vista técnico, humano y económico. Es decir, la empresa deberá hacer una inversión mínima en comparación con los beneficios que se esperan obtener con el proyecto</a:t>
            </a:r>
            <a:r>
              <a:rPr lang="es-VE" sz="1600" dirty="0" smtClean="0">
                <a:latin typeface="Times New Roman" panose="02020603050405020304" pitchFamily="18" charset="0"/>
                <a:cs typeface="Times New Roman" panose="02020603050405020304" pitchFamily="18" charset="0"/>
              </a:rPr>
              <a:t>.</a:t>
            </a:r>
            <a:endParaRPr lang="es-VE" sz="1600" dirty="0">
              <a:latin typeface="Times New Roman" panose="02020603050405020304" pitchFamily="18" charset="0"/>
              <a:cs typeface="Times New Roman" panose="02020603050405020304" pitchFamily="18" charset="0"/>
            </a:endParaRPr>
          </a:p>
        </p:txBody>
      </p:sp>
      <p:pic>
        <p:nvPicPr>
          <p:cNvPr id="3" name="Imagen 2" descr="Recorte de pantall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220" y="3643251"/>
            <a:ext cx="6721372" cy="1220848"/>
          </a:xfrm>
          <a:prstGeom prst="rect">
            <a:avLst/>
          </a:prstGeom>
        </p:spPr>
      </p:pic>
    </p:spTree>
    <p:extLst>
      <p:ext uri="{BB962C8B-B14F-4D97-AF65-F5344CB8AC3E}">
        <p14:creationId xmlns:p14="http://schemas.microsoft.com/office/powerpoint/2010/main" val="2752769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2345104" y="276726"/>
            <a:ext cx="5414596" cy="558800"/>
          </a:xfrm>
        </p:spPr>
        <p:txBody>
          <a:bodyPr>
            <a:noAutofit/>
          </a:bodyPr>
          <a:lstStyle/>
          <a:p>
            <a:pPr algn="ctr"/>
            <a:r>
              <a:rPr lang="es-VE" sz="1800" b="1" dirty="0">
                <a:solidFill>
                  <a:schemeClr val="tx1"/>
                </a:solidFill>
                <a:latin typeface="Times New Roman" panose="02020603050405020304" pitchFamily="18" charset="0"/>
                <a:cs typeface="Times New Roman" panose="02020603050405020304" pitchFamily="18" charset="0"/>
              </a:rPr>
              <a:t>CAPITULO VI</a:t>
            </a:r>
            <a:br>
              <a:rPr lang="es-VE" sz="1800" b="1" dirty="0">
                <a:solidFill>
                  <a:schemeClr val="tx1"/>
                </a:solidFill>
                <a:latin typeface="Times New Roman" panose="02020603050405020304" pitchFamily="18" charset="0"/>
                <a:cs typeface="Times New Roman" panose="02020603050405020304" pitchFamily="18" charset="0"/>
              </a:rPr>
            </a:br>
            <a:r>
              <a:rPr lang="es-VE" sz="1800" b="1" dirty="0">
                <a:solidFill>
                  <a:schemeClr val="tx1"/>
                </a:solidFill>
                <a:latin typeface="Times New Roman" panose="02020603050405020304" pitchFamily="18" charset="0"/>
                <a:cs typeface="Times New Roman" panose="02020603050405020304" pitchFamily="18" charset="0"/>
              </a:rPr>
              <a:t>ACTIVIDADES REALIZADAS</a:t>
            </a:r>
          </a:p>
        </p:txBody>
      </p:sp>
      <p:sp>
        <p:nvSpPr>
          <p:cNvPr id="4" name="CuadroTexto 3"/>
          <p:cNvSpPr txBox="1"/>
          <p:nvPr/>
        </p:nvSpPr>
        <p:spPr>
          <a:xfrm>
            <a:off x="640012" y="1477294"/>
            <a:ext cx="7119688" cy="4770537"/>
          </a:xfrm>
          <a:prstGeom prst="rect">
            <a:avLst/>
          </a:prstGeom>
          <a:noFill/>
        </p:spPr>
        <p:txBody>
          <a:bodyPr wrap="square" rtlCol="0">
            <a:spAutoFit/>
          </a:bodyPr>
          <a:lstStyle/>
          <a:p>
            <a:pPr marL="285750" indent="-285750" algn="just">
              <a:buFont typeface="Arial" panose="020B0604020202020204" pitchFamily="34" charset="0"/>
              <a:buChar char="•"/>
            </a:pPr>
            <a:r>
              <a:rPr lang="es-VE" sz="1600" dirty="0" smtClean="0">
                <a:latin typeface="Times New Roman" panose="02020603050405020304" pitchFamily="18" charset="0"/>
                <a:cs typeface="Times New Roman" panose="02020603050405020304" pitchFamily="18" charset="0"/>
              </a:rPr>
              <a:t>Registro </a:t>
            </a:r>
            <a:r>
              <a:rPr lang="es-VE" sz="1600" dirty="0">
                <a:latin typeface="Times New Roman" panose="02020603050405020304" pitchFamily="18" charset="0"/>
                <a:cs typeface="Times New Roman" panose="02020603050405020304" pitchFamily="18" charset="0"/>
              </a:rPr>
              <a:t>de información en el sistema </a:t>
            </a:r>
            <a:r>
              <a:rPr lang="es-VE" sz="1600" dirty="0" err="1">
                <a:latin typeface="Times New Roman" panose="02020603050405020304" pitchFamily="18" charset="0"/>
                <a:cs typeface="Times New Roman" panose="02020603050405020304" pitchFamily="18" charset="0"/>
              </a:rPr>
              <a:t>Galac</a:t>
            </a:r>
            <a:r>
              <a:rPr lang="es-VE" sz="1600" dirty="0">
                <a:latin typeface="Times New Roman" panose="02020603050405020304" pitchFamily="18" charset="0"/>
                <a:cs typeface="Times New Roman" panose="02020603050405020304" pitchFamily="18" charset="0"/>
              </a:rPr>
              <a:t>.</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Elaboración de libros de compra y venta en Excel.</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Modificación de libros de compra y venta en Excel.</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Descargar planillas de ISLR e IVA del portal del SENIAT.</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Actualización de información en el servidor principal.</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Actualización de libros contables.</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Descarga e impresión de comprobantes contables.</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Preparar y organizar contabilidades para viaje.</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Revisión y actualización de comprobantes contables de todos los clientes.</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Registro de comisiones bancarias e IGTF de los clientes.</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Registro de nóminas y declaración de FAOV.</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Descarga y envió de estados de cuenta del IVSS y planillas de pago del FAOV.</a:t>
            </a:r>
          </a:p>
          <a:p>
            <a:pPr marL="285750" indent="-285750" algn="just">
              <a:lnSpc>
                <a:spcPct val="150000"/>
              </a:lnSpc>
              <a:buFont typeface="Arial" panose="020B0604020202020204" pitchFamily="34" charset="0"/>
              <a:buChar char="•"/>
            </a:pPr>
            <a:r>
              <a:rPr lang="es-VE" sz="1600" dirty="0">
                <a:latin typeface="Times New Roman" panose="02020603050405020304" pitchFamily="18" charset="0"/>
                <a:cs typeface="Times New Roman" panose="02020603050405020304" pitchFamily="18" charset="0"/>
              </a:rPr>
              <a:t>Envió de planillas y declaraciones del pago de patentes.</a:t>
            </a:r>
          </a:p>
        </p:txBody>
      </p:sp>
    </p:spTree>
    <p:extLst>
      <p:ext uri="{BB962C8B-B14F-4D97-AF65-F5344CB8AC3E}">
        <p14:creationId xmlns:p14="http://schemas.microsoft.com/office/powerpoint/2010/main" val="9555558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664691" y="332873"/>
            <a:ext cx="8596668" cy="558800"/>
          </a:xfrm>
        </p:spPr>
        <p:txBody>
          <a:bodyPr>
            <a:normAutofit/>
          </a:bodyPr>
          <a:lstStyle/>
          <a:p>
            <a:pPr algn="ctr"/>
            <a:r>
              <a:rPr lang="es-VE" sz="1500" dirty="0" smtClean="0">
                <a:solidFill>
                  <a:schemeClr val="tx1"/>
                </a:solidFill>
                <a:latin typeface="Times New Roman" panose="02020603050405020304" pitchFamily="18" charset="0"/>
                <a:cs typeface="Times New Roman" panose="02020603050405020304" pitchFamily="18" charset="0"/>
              </a:rPr>
              <a:t>CAPITULO VI</a:t>
            </a:r>
            <a:br>
              <a:rPr lang="es-VE" sz="1500" dirty="0" smtClean="0">
                <a:solidFill>
                  <a:schemeClr val="tx1"/>
                </a:solidFill>
                <a:latin typeface="Times New Roman" panose="02020603050405020304" pitchFamily="18" charset="0"/>
                <a:cs typeface="Times New Roman" panose="02020603050405020304" pitchFamily="18" charset="0"/>
              </a:rPr>
            </a:br>
            <a:r>
              <a:rPr lang="es-VE" sz="1500" dirty="0" smtClean="0">
                <a:solidFill>
                  <a:schemeClr val="tx1"/>
                </a:solidFill>
                <a:latin typeface="Times New Roman" panose="02020603050405020304" pitchFamily="18" charset="0"/>
                <a:cs typeface="Times New Roman" panose="02020603050405020304" pitchFamily="18" charset="0"/>
              </a:rPr>
              <a:t>ACTIVIDADES REALIZADAS</a:t>
            </a:r>
            <a:endParaRPr lang="es-VE" sz="1500" dirty="0">
              <a:solidFill>
                <a:schemeClr val="tx1"/>
              </a:solidFill>
              <a:latin typeface="Times New Roman" panose="02020603050405020304" pitchFamily="18" charset="0"/>
              <a:cs typeface="Times New Roman" panose="02020603050405020304" pitchFamily="18" charset="0"/>
            </a:endParaRPr>
          </a:p>
        </p:txBody>
      </p:sp>
      <p:sp>
        <p:nvSpPr>
          <p:cNvPr id="3" name="Marcador de texto 2"/>
          <p:cNvSpPr>
            <a:spLocks noGrp="1"/>
          </p:cNvSpPr>
          <p:nvPr>
            <p:ph type="body" idx="1"/>
          </p:nvPr>
        </p:nvSpPr>
        <p:spPr>
          <a:xfrm>
            <a:off x="1497930" y="1070810"/>
            <a:ext cx="6930189" cy="5462337"/>
          </a:xfrm>
        </p:spPr>
        <p:txBody>
          <a:bodyPr>
            <a:noAutofit/>
          </a:bodyPr>
          <a:lstStyle/>
          <a:p>
            <a:pPr algn="ctr"/>
            <a:r>
              <a:rPr lang="es-VE" sz="1400" b="1" dirty="0">
                <a:solidFill>
                  <a:schemeClr val="tx1"/>
                </a:solidFill>
                <a:latin typeface="Times New Roman" panose="02020603050405020304" pitchFamily="18" charset="0"/>
                <a:cs typeface="Times New Roman" panose="02020603050405020304" pitchFamily="18" charset="0"/>
              </a:rPr>
              <a:t>Descripción de las </a:t>
            </a:r>
            <a:r>
              <a:rPr lang="es-VE" sz="1400" b="1" dirty="0" smtClean="0">
                <a:solidFill>
                  <a:schemeClr val="tx1"/>
                </a:solidFill>
                <a:latin typeface="Times New Roman" panose="02020603050405020304" pitchFamily="18" charset="0"/>
                <a:cs typeface="Times New Roman" panose="02020603050405020304" pitchFamily="18" charset="0"/>
              </a:rPr>
              <a:t>actividades</a:t>
            </a:r>
            <a:endParaRPr lang="es-VE" sz="1400"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Registro de información en el sistema </a:t>
            </a:r>
            <a:r>
              <a:rPr lang="es-VE" sz="1400" b="1" dirty="0" err="1">
                <a:solidFill>
                  <a:schemeClr val="tx1"/>
                </a:solidFill>
                <a:latin typeface="Times New Roman" panose="02020603050405020304" pitchFamily="18" charset="0"/>
                <a:cs typeface="Times New Roman" panose="02020603050405020304" pitchFamily="18" charset="0"/>
              </a:rPr>
              <a:t>Galac</a:t>
            </a:r>
            <a:r>
              <a:rPr lang="es-VE" sz="1400" b="1" dirty="0" smtClean="0">
                <a:solidFill>
                  <a:schemeClr val="tx1"/>
                </a:solidFill>
                <a:latin typeface="Times New Roman" panose="02020603050405020304" pitchFamily="18" charset="0"/>
                <a:cs typeface="Times New Roman" panose="02020603050405020304" pitchFamily="18" charset="0"/>
              </a:rPr>
              <a:t>.</a:t>
            </a: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Elaboración de libros de compra y venta en Excel</a:t>
            </a:r>
            <a:r>
              <a:rPr lang="es-VE" sz="1400" b="1" dirty="0" smtClean="0">
                <a:solidFill>
                  <a:schemeClr val="tx1"/>
                </a:solidFill>
                <a:latin typeface="Times New Roman" panose="02020603050405020304" pitchFamily="18" charset="0"/>
                <a:cs typeface="Times New Roman" panose="02020603050405020304" pitchFamily="18" charset="0"/>
              </a:rPr>
              <a:t>.</a:t>
            </a: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Modificación de libros de compra y venta en Excel</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Descargar planillas de ISLR e IVA del portal del SENIAT</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Actualización de información en el servidor principal.</a:t>
            </a:r>
          </a:p>
          <a:p>
            <a:pPr marL="285750" indent="-285750">
              <a:buClrTx/>
              <a:buFont typeface="Arial" panose="020B0604020202020204" pitchFamily="34" charset="0"/>
              <a:buChar char="•"/>
            </a:pPr>
            <a:r>
              <a:rPr lang="es-VE" sz="1400" b="1" dirty="0" smtClean="0">
                <a:solidFill>
                  <a:schemeClr val="tx1"/>
                </a:solidFill>
                <a:latin typeface="Times New Roman" panose="02020603050405020304" pitchFamily="18" charset="0"/>
                <a:cs typeface="Times New Roman" panose="02020603050405020304" pitchFamily="18" charset="0"/>
              </a:rPr>
              <a:t>Actualización </a:t>
            </a:r>
            <a:r>
              <a:rPr lang="es-VE" sz="1400" b="1" dirty="0">
                <a:solidFill>
                  <a:schemeClr val="tx1"/>
                </a:solidFill>
                <a:latin typeface="Times New Roman" panose="02020603050405020304" pitchFamily="18" charset="0"/>
                <a:cs typeface="Times New Roman" panose="02020603050405020304" pitchFamily="18" charset="0"/>
              </a:rPr>
              <a:t>de libros contables.</a:t>
            </a:r>
          </a:p>
          <a:p>
            <a:pPr marL="285750" indent="-285750">
              <a:buClrTx/>
              <a:buFont typeface="Arial" panose="020B0604020202020204" pitchFamily="34" charset="0"/>
              <a:buChar char="•"/>
            </a:pPr>
            <a:r>
              <a:rPr lang="es-VE" sz="1400" b="1" dirty="0" smtClean="0">
                <a:solidFill>
                  <a:schemeClr val="tx1"/>
                </a:solidFill>
                <a:latin typeface="Times New Roman" panose="02020603050405020304" pitchFamily="18" charset="0"/>
                <a:cs typeface="Times New Roman" panose="02020603050405020304" pitchFamily="18" charset="0"/>
              </a:rPr>
              <a:t>Descarga </a:t>
            </a:r>
            <a:r>
              <a:rPr lang="es-VE" sz="1400" b="1" dirty="0">
                <a:solidFill>
                  <a:schemeClr val="tx1"/>
                </a:solidFill>
                <a:latin typeface="Times New Roman" panose="02020603050405020304" pitchFamily="18" charset="0"/>
                <a:cs typeface="Times New Roman" panose="02020603050405020304" pitchFamily="18" charset="0"/>
              </a:rPr>
              <a:t>e impresión de comprobantes contables</a:t>
            </a:r>
            <a:r>
              <a:rPr lang="es-VE" sz="1400" b="1" dirty="0" smtClean="0">
                <a:solidFill>
                  <a:schemeClr val="tx1"/>
                </a:solidFill>
                <a:latin typeface="Times New Roman" panose="02020603050405020304" pitchFamily="18" charset="0"/>
                <a:cs typeface="Times New Roman" panose="02020603050405020304" pitchFamily="18" charset="0"/>
              </a:rPr>
              <a:t>.</a:t>
            </a: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Preparar y organizar contabilidades para viaje.</a:t>
            </a:r>
          </a:p>
          <a:p>
            <a:pPr marL="285750" indent="-285750">
              <a:buClrTx/>
              <a:buFont typeface="Arial" panose="020B0604020202020204" pitchFamily="34" charset="0"/>
              <a:buChar char="•"/>
            </a:pPr>
            <a:r>
              <a:rPr lang="es-VE" sz="1400" b="1" dirty="0" smtClean="0">
                <a:solidFill>
                  <a:schemeClr val="tx1"/>
                </a:solidFill>
                <a:latin typeface="Times New Roman" panose="02020603050405020304" pitchFamily="18" charset="0"/>
                <a:cs typeface="Times New Roman" panose="02020603050405020304" pitchFamily="18" charset="0"/>
              </a:rPr>
              <a:t>Revisión </a:t>
            </a:r>
            <a:r>
              <a:rPr lang="es-VE" sz="1400" b="1" dirty="0">
                <a:solidFill>
                  <a:schemeClr val="tx1"/>
                </a:solidFill>
                <a:latin typeface="Times New Roman" panose="02020603050405020304" pitchFamily="18" charset="0"/>
                <a:cs typeface="Times New Roman" panose="02020603050405020304" pitchFamily="18" charset="0"/>
              </a:rPr>
              <a:t>y actualización de comprobantes contables de todos los clientes</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Registro de comisiones bancarias e IGTF de los clientes</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Registro de nóminas y declaración de FAOV</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a:p>
            <a:pPr marL="285750" indent="-285750">
              <a:buClrTx/>
              <a:buFont typeface="Arial" panose="020B0604020202020204" pitchFamily="34" charset="0"/>
              <a:buChar char="•"/>
            </a:pPr>
            <a:r>
              <a:rPr lang="es-VE" sz="1400" b="1" dirty="0">
                <a:solidFill>
                  <a:schemeClr val="tx1"/>
                </a:solidFill>
                <a:latin typeface="Times New Roman" panose="02020603050405020304" pitchFamily="18" charset="0"/>
                <a:cs typeface="Times New Roman" panose="02020603050405020304" pitchFamily="18" charset="0"/>
              </a:rPr>
              <a:t>Descarga y envió de estados de cuenta del IVSS y planillas de pago del FAOV.</a:t>
            </a:r>
          </a:p>
          <a:p>
            <a:pPr marL="285750" indent="-285750">
              <a:buClrTx/>
              <a:buFont typeface="Arial" panose="020B0604020202020204" pitchFamily="34" charset="0"/>
              <a:buChar char="•"/>
            </a:pPr>
            <a:r>
              <a:rPr lang="es-VE" sz="1400" b="1" dirty="0" smtClean="0">
                <a:solidFill>
                  <a:schemeClr val="tx1"/>
                </a:solidFill>
                <a:latin typeface="Times New Roman" panose="02020603050405020304" pitchFamily="18" charset="0"/>
                <a:cs typeface="Times New Roman" panose="02020603050405020304" pitchFamily="18" charset="0"/>
              </a:rPr>
              <a:t>Envió </a:t>
            </a:r>
            <a:r>
              <a:rPr lang="es-VE" sz="1400" b="1" dirty="0">
                <a:solidFill>
                  <a:schemeClr val="tx1"/>
                </a:solidFill>
                <a:latin typeface="Times New Roman" panose="02020603050405020304" pitchFamily="18" charset="0"/>
                <a:cs typeface="Times New Roman" panose="02020603050405020304" pitchFamily="18" charset="0"/>
              </a:rPr>
              <a:t>de planillas y declaraciones del pago de patentes</a:t>
            </a:r>
            <a:r>
              <a:rPr lang="es-VE" sz="1400" b="1" dirty="0" smtClean="0">
                <a:solidFill>
                  <a:schemeClr val="tx1"/>
                </a:solidFill>
                <a:latin typeface="Times New Roman" panose="02020603050405020304" pitchFamily="18" charset="0"/>
                <a:cs typeface="Times New Roman" panose="02020603050405020304" pitchFamily="18" charset="0"/>
              </a:rPr>
              <a:t>.</a:t>
            </a:r>
            <a:endParaRPr lang="es-VE" sz="14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67590897"/>
      </p:ext>
    </p:extLst>
  </p:cSld>
  <p:clrMapOvr>
    <a:masterClrMapping/>
  </p:clrMapOvr>
</p:sld>
</file>

<file path=ppt/theme/theme1.xml><?xml version="1.0" encoding="utf-8"?>
<a:theme xmlns:a="http://schemas.openxmlformats.org/drawingml/2006/main" name="Faceta">
  <a:themeElements>
    <a:clrScheme name="Marquesina">
      <a:dk1>
        <a:srgbClr val="000000"/>
      </a:dk1>
      <a:lt1>
        <a:sysClr val="window" lastClr="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Faceta">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508</TotalTime>
  <Words>1871</Words>
  <Application>Microsoft Office PowerPoint</Application>
  <PresentationFormat>Personalizado</PresentationFormat>
  <Paragraphs>133</Paragraphs>
  <Slides>18</Slides>
  <Notes>0</Notes>
  <HiddenSlides>0</HiddenSlides>
  <MMClips>0</MMClips>
  <ScaleCrop>false</ScaleCrop>
  <HeadingPairs>
    <vt:vector size="4" baseType="variant">
      <vt:variant>
        <vt:lpstr>Tema</vt:lpstr>
      </vt:variant>
      <vt:variant>
        <vt:i4>1</vt:i4>
      </vt:variant>
      <vt:variant>
        <vt:lpstr>Títulos de diapositiva</vt:lpstr>
      </vt:variant>
      <vt:variant>
        <vt:i4>18</vt:i4>
      </vt:variant>
    </vt:vector>
  </HeadingPairs>
  <TitlesOfParts>
    <vt:vector size="19" baseType="lpstr">
      <vt:lpstr>Faceta</vt:lpstr>
      <vt:lpstr>REPÚBLICA BOLIVARIANA DE VENEZUELA MINISTERIO DEL PODER POPULAR PARA LA EDUCACIÓN UNIVERSITARIA INSTITUTO UNIVERSITARIO DE TECNOLOGÍA “ELÍAS CALIXTO POMPA” GUATIRE - ESTADO BOLIVARIANO DE MIRANDA </vt:lpstr>
      <vt:lpstr>CAPITULO I IDENTIFICACIÓN DE LA EMPRESA</vt:lpstr>
      <vt:lpstr>CAPITULO I IDENTIFICACIÓN DE LA EMPRESA INCOMPLETO-VISIÓN –MISIÓN……</vt:lpstr>
      <vt:lpstr>CAPÍTULO II IDENTIFICACIÓN DEL DEPARTAMENTO</vt:lpstr>
      <vt:lpstr>CAPITULO III DIAGNOSTICO SITUACIONAL</vt:lpstr>
      <vt:lpstr>CAPITULO IV MARCO TEÓRICO</vt:lpstr>
      <vt:lpstr>CAPITULO V PROPUESTA</vt:lpstr>
      <vt:lpstr>CAPITULO V PROPUESTA</vt:lpstr>
      <vt:lpstr>CAPITULO V PROPUESTA</vt:lpstr>
      <vt:lpstr>CAPITULO V PROPUESTA</vt:lpstr>
      <vt:lpstr>CAPITULO V PROPUESTA</vt:lpstr>
      <vt:lpstr>CAPITULO V PROPUESTA</vt:lpstr>
      <vt:lpstr>CAPITULO V PROPUESTA</vt:lpstr>
      <vt:lpstr>CAPITULO V PROPUESTA</vt:lpstr>
      <vt:lpstr>CAPITULO V PROPUESTA</vt:lpstr>
      <vt:lpstr>CAPITULO V PROPUESTA</vt:lpstr>
      <vt:lpstr>CAPITULO VI ACTIVIDADES REALIZADAS</vt:lpstr>
      <vt:lpstr>CAPITULO VI ACTIVIDADES REALIZADAS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lj</dc:creator>
  <cp:lastModifiedBy>Pasantias y Trabajo de Grado</cp:lastModifiedBy>
  <cp:revision>42</cp:revision>
  <dcterms:created xsi:type="dcterms:W3CDTF">2023-04-11T14:36:58Z</dcterms:created>
  <dcterms:modified xsi:type="dcterms:W3CDTF">2023-04-18T20:37:57Z</dcterms:modified>
</cp:coreProperties>
</file>