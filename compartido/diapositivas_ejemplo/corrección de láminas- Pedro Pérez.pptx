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85" r:id="rId1"/>
  </p:sldMasterIdLst>
  <p:sldIdLst>
    <p:sldId id="256" r:id="rId2"/>
    <p:sldId id="257" r:id="rId3"/>
    <p:sldId id="265" r:id="rId4"/>
    <p:sldId id="266" r:id="rId5"/>
    <p:sldId id="267" r:id="rId6"/>
    <p:sldId id="270" r:id="rId7"/>
    <p:sldId id="258" r:id="rId8"/>
    <p:sldId id="269" r:id="rId9"/>
    <p:sldId id="259" r:id="rId10"/>
    <p:sldId id="260" r:id="rId11"/>
    <p:sldId id="261" r:id="rId12"/>
    <p:sldId id="272" r:id="rId13"/>
    <p:sldId id="274" r:id="rId14"/>
    <p:sldId id="264" r:id="rId15"/>
    <p:sldId id="262" r:id="rId16"/>
    <p:sldId id="275" r:id="rId17"/>
    <p:sldId id="263" r:id="rId18"/>
    <p:sldId id="268" r:id="rId19"/>
    <p:sldId id="276" r:id="rId20"/>
    <p:sldId id="277" r:id="rId21"/>
    <p:sldId id="278" r:id="rId22"/>
    <p:sldId id="279" r:id="rId23"/>
    <p:sldId id="285" r:id="rId24"/>
    <p:sldId id="280" r:id="rId25"/>
    <p:sldId id="281" r:id="rId26"/>
    <p:sldId id="282" r:id="rId27"/>
    <p:sldId id="283" r:id="rId28"/>
    <p:sldId id="28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33"/>
    <a:srgbClr val="33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94660"/>
  </p:normalViewPr>
  <p:slideViewPr>
    <p:cSldViewPr snapToGrid="0">
      <p:cViewPr varScale="1">
        <p:scale>
          <a:sx n="86" d="100"/>
          <a:sy n="86" d="100"/>
        </p:scale>
        <p:origin x="120"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image" Target="../media/image5.jpg"/></Relationships>
</file>

<file path=ppt/diagrams/_rels/data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hyperlink" Target="https://www.definicionabc.com/economia/recursos-economicos.php" TargetMode="External"/><Relationship Id="rId1" Type="http://schemas.openxmlformats.org/officeDocument/2006/relationships/image" Target="../media/image6.png"/></Relationships>
</file>

<file path=ppt/diagrams/_rels/drawing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image" Target="../media/image5.jpg"/></Relationships>
</file>

<file path=ppt/diagrams/_rels/drawing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hyperlink" Target="https://www.definicionabc.com/economia/recursos-economicos.php" TargetMode="External"/><Relationship Id="rId1"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28A810-2CBE-47F9-9BBE-A0F00D30F5A5}" type="doc">
      <dgm:prSet loTypeId="urn:microsoft.com/office/officeart/2005/8/layout/hList2" loCatId="list" qsTypeId="urn:microsoft.com/office/officeart/2005/8/quickstyle/3d3" qsCatId="3D" csTypeId="urn:microsoft.com/office/officeart/2005/8/colors/accent0_1" csCatId="mainScheme" phldr="1"/>
      <dgm:spPr/>
      <dgm:t>
        <a:bodyPr/>
        <a:lstStyle/>
        <a:p>
          <a:endParaRPr lang="es-VE"/>
        </a:p>
      </dgm:t>
    </dgm:pt>
    <dgm:pt modelId="{3AE15B9C-9337-416F-AAC7-3B05BDC1A5AD}">
      <dgm:prSet phldrT="[Texto]"/>
      <dgm:spPr/>
      <dgm:t>
        <a:bodyPr/>
        <a:lstStyle/>
        <a:p>
          <a:r>
            <a:rPr lang="es-ES" dirty="0">
              <a:solidFill>
                <a:schemeClr val="tx1"/>
              </a:solidFill>
            </a:rPr>
            <a:t>Misión</a:t>
          </a:r>
          <a:r>
            <a:rPr lang="es-ES" dirty="0"/>
            <a:t> </a:t>
          </a:r>
          <a:endParaRPr lang="es-VE" dirty="0"/>
        </a:p>
      </dgm:t>
    </dgm:pt>
    <dgm:pt modelId="{7C32925A-72CE-46D9-91DA-FCA3AE8D69FD}" type="parTrans" cxnId="{42B8EF0F-0301-4AC8-985C-FE30FFB3A8A0}">
      <dgm:prSet/>
      <dgm:spPr/>
      <dgm:t>
        <a:bodyPr/>
        <a:lstStyle/>
        <a:p>
          <a:endParaRPr lang="es-VE"/>
        </a:p>
      </dgm:t>
    </dgm:pt>
    <dgm:pt modelId="{D1530E0D-45D5-421C-80E8-CA7155313703}" type="sibTrans" cxnId="{42B8EF0F-0301-4AC8-985C-FE30FFB3A8A0}">
      <dgm:prSet/>
      <dgm:spPr/>
      <dgm:t>
        <a:bodyPr/>
        <a:lstStyle/>
        <a:p>
          <a:endParaRPr lang="es-VE"/>
        </a:p>
      </dgm:t>
    </dgm:pt>
    <dgm:pt modelId="{DDB50168-B896-42D7-802C-62E340519EC9}">
      <dgm:prSet phldrT="[Texto]"/>
      <dgm:spPr/>
      <dgm:t>
        <a:bodyPr/>
        <a:lstStyle/>
        <a:p>
          <a:pPr algn="just">
            <a:buFont typeface="Arial" panose="020B0604020202020204" pitchFamily="34" charset="0"/>
            <a:buChar char="•"/>
          </a:pPr>
          <a:r>
            <a:rPr lang="es-ES" dirty="0"/>
            <a:t> </a:t>
          </a:r>
          <a:r>
            <a:rPr lang="es-ES" b="1" dirty="0"/>
            <a:t>Estamos comprometidos a generar la mayor rentabilidad al accionista y bienestar a nuestra comunidad.</a:t>
          </a:r>
          <a:endParaRPr lang="es-VE" b="1" dirty="0"/>
        </a:p>
      </dgm:t>
    </dgm:pt>
    <dgm:pt modelId="{A68F0FDD-03EF-4D69-8558-FCF95E3BC8CF}" type="parTrans" cxnId="{A12BD7B6-34F0-434C-9500-AB7057B5C50B}">
      <dgm:prSet/>
      <dgm:spPr/>
      <dgm:t>
        <a:bodyPr/>
        <a:lstStyle/>
        <a:p>
          <a:endParaRPr lang="es-VE"/>
        </a:p>
      </dgm:t>
    </dgm:pt>
    <dgm:pt modelId="{4AB028A7-0BFF-498C-871A-6CD4C0647701}" type="sibTrans" cxnId="{A12BD7B6-34F0-434C-9500-AB7057B5C50B}">
      <dgm:prSet/>
      <dgm:spPr/>
      <dgm:t>
        <a:bodyPr/>
        <a:lstStyle/>
        <a:p>
          <a:endParaRPr lang="es-VE"/>
        </a:p>
      </dgm:t>
    </dgm:pt>
    <dgm:pt modelId="{8B268A1C-731F-4ED1-AC37-EEED3F4AAA10}">
      <dgm:prSet phldrT="[Texto]"/>
      <dgm:spPr/>
      <dgm:t>
        <a:bodyPr/>
        <a:lstStyle/>
        <a:p>
          <a:r>
            <a:rPr lang="es-ES" dirty="0"/>
            <a:t>Visión </a:t>
          </a:r>
          <a:endParaRPr lang="es-VE" dirty="0"/>
        </a:p>
      </dgm:t>
    </dgm:pt>
    <dgm:pt modelId="{AA56DEDA-E2B9-4CA1-B676-41E2C79374A6}" type="parTrans" cxnId="{B734C089-70E0-47CD-93E6-F57429234535}">
      <dgm:prSet/>
      <dgm:spPr/>
      <dgm:t>
        <a:bodyPr/>
        <a:lstStyle/>
        <a:p>
          <a:endParaRPr lang="es-VE"/>
        </a:p>
      </dgm:t>
    </dgm:pt>
    <dgm:pt modelId="{0EEF5696-9B5C-4114-A75D-16DFF9FCAC45}" type="sibTrans" cxnId="{B734C089-70E0-47CD-93E6-F57429234535}">
      <dgm:prSet/>
      <dgm:spPr/>
      <dgm:t>
        <a:bodyPr/>
        <a:lstStyle/>
        <a:p>
          <a:endParaRPr lang="es-VE"/>
        </a:p>
      </dgm:t>
    </dgm:pt>
    <dgm:pt modelId="{41EDBBD3-AB8A-4906-B334-D9E6AD66F06B}">
      <dgm:prSet phldrT="[Texto]"/>
      <dgm:spPr/>
      <dgm:t>
        <a:bodyPr/>
        <a:lstStyle/>
        <a:p>
          <a:pPr algn="just"/>
          <a:r>
            <a:rPr lang="es-ES" b="1" dirty="0"/>
            <a:t>Garantizar el acceso a nuestros servicios de una manera conveniente, confiable y consistente.</a:t>
          </a:r>
          <a:endParaRPr lang="es-VE" b="1" dirty="0"/>
        </a:p>
      </dgm:t>
    </dgm:pt>
    <dgm:pt modelId="{FAE05319-44C0-4CDC-8F01-C5D1D0F43A91}" type="parTrans" cxnId="{5C15CB2E-B33F-4686-B780-3C37E672CB60}">
      <dgm:prSet/>
      <dgm:spPr/>
      <dgm:t>
        <a:bodyPr/>
        <a:lstStyle/>
        <a:p>
          <a:endParaRPr lang="es-VE"/>
        </a:p>
      </dgm:t>
    </dgm:pt>
    <dgm:pt modelId="{0A36E03F-7F00-4C59-8455-95EBD04BE868}" type="sibTrans" cxnId="{5C15CB2E-B33F-4686-B780-3C37E672CB60}">
      <dgm:prSet/>
      <dgm:spPr/>
      <dgm:t>
        <a:bodyPr/>
        <a:lstStyle/>
        <a:p>
          <a:endParaRPr lang="es-VE"/>
        </a:p>
      </dgm:t>
    </dgm:pt>
    <dgm:pt modelId="{8376A6D4-BD2A-44FC-A976-72093050F7A6}">
      <dgm:prSet phldrT="[Texto]"/>
      <dgm:spPr/>
      <dgm:t>
        <a:bodyPr/>
        <a:lstStyle/>
        <a:p>
          <a:r>
            <a:rPr lang="es-ES" dirty="0"/>
            <a:t>Valores</a:t>
          </a:r>
          <a:endParaRPr lang="es-VE" dirty="0"/>
        </a:p>
      </dgm:t>
    </dgm:pt>
    <dgm:pt modelId="{3804A774-E6F1-4519-A963-4059CDC17F27}" type="parTrans" cxnId="{ADD90E51-4C7B-40C4-856A-8A3CFF954574}">
      <dgm:prSet/>
      <dgm:spPr/>
      <dgm:t>
        <a:bodyPr/>
        <a:lstStyle/>
        <a:p>
          <a:endParaRPr lang="es-VE"/>
        </a:p>
      </dgm:t>
    </dgm:pt>
    <dgm:pt modelId="{A98D14E9-1F31-4CBF-A3BF-DDEE248A8628}" type="sibTrans" cxnId="{ADD90E51-4C7B-40C4-856A-8A3CFF954574}">
      <dgm:prSet/>
      <dgm:spPr/>
      <dgm:t>
        <a:bodyPr/>
        <a:lstStyle/>
        <a:p>
          <a:endParaRPr lang="es-VE"/>
        </a:p>
      </dgm:t>
    </dgm:pt>
    <dgm:pt modelId="{BBA4DEA8-8CB7-46BA-9B4B-0DF0692FC067}">
      <dgm:prSet phldrT="[Texto]"/>
      <dgm:spPr/>
      <dgm:t>
        <a:bodyPr/>
        <a:lstStyle/>
        <a:p>
          <a:pPr algn="just"/>
          <a:r>
            <a:rPr lang="es-ES" b="1" dirty="0"/>
            <a:t>Responsabilidad</a:t>
          </a:r>
          <a:endParaRPr lang="es-VE" b="1" dirty="0"/>
        </a:p>
      </dgm:t>
    </dgm:pt>
    <dgm:pt modelId="{86A63FE0-451C-40CF-AFB8-DC9606950E72}" type="parTrans" cxnId="{178397AD-96D6-45AF-8CC3-3F8DCC7E3A18}">
      <dgm:prSet/>
      <dgm:spPr/>
      <dgm:t>
        <a:bodyPr/>
        <a:lstStyle/>
        <a:p>
          <a:endParaRPr lang="es-VE"/>
        </a:p>
      </dgm:t>
    </dgm:pt>
    <dgm:pt modelId="{0786A268-161E-4DED-9D4A-00D3945F6C91}" type="sibTrans" cxnId="{178397AD-96D6-45AF-8CC3-3F8DCC7E3A18}">
      <dgm:prSet/>
      <dgm:spPr/>
      <dgm:t>
        <a:bodyPr/>
        <a:lstStyle/>
        <a:p>
          <a:endParaRPr lang="es-VE"/>
        </a:p>
      </dgm:t>
    </dgm:pt>
    <dgm:pt modelId="{5E7A2ECF-9F21-4DD4-B6D3-2CE26C00EEB8}">
      <dgm:prSet phldrT="[Texto]"/>
      <dgm:spPr/>
      <dgm:t>
        <a:bodyPr/>
        <a:lstStyle/>
        <a:p>
          <a:pPr algn="just"/>
          <a:r>
            <a:rPr lang="es-ES" b="1" dirty="0"/>
            <a:t>Confiabilidad</a:t>
          </a:r>
          <a:endParaRPr lang="es-VE" dirty="0"/>
        </a:p>
      </dgm:t>
    </dgm:pt>
    <dgm:pt modelId="{C73A6DF8-DA54-4488-B976-0BD9E6312E4C}" type="parTrans" cxnId="{238985FA-9E02-487A-B235-C27DA1D7C5C8}">
      <dgm:prSet/>
      <dgm:spPr/>
      <dgm:t>
        <a:bodyPr/>
        <a:lstStyle/>
        <a:p>
          <a:endParaRPr lang="es-VE"/>
        </a:p>
      </dgm:t>
    </dgm:pt>
    <dgm:pt modelId="{C7E063A4-D7F5-4140-8BD1-4B753CFBF881}" type="sibTrans" cxnId="{238985FA-9E02-487A-B235-C27DA1D7C5C8}">
      <dgm:prSet/>
      <dgm:spPr/>
      <dgm:t>
        <a:bodyPr/>
        <a:lstStyle/>
        <a:p>
          <a:endParaRPr lang="es-VE"/>
        </a:p>
      </dgm:t>
    </dgm:pt>
    <dgm:pt modelId="{87B09046-3F09-48F9-902C-4C7ED96B84F6}">
      <dgm:prSet phldrT="[Texto]"/>
      <dgm:spPr/>
      <dgm:t>
        <a:bodyPr/>
        <a:lstStyle/>
        <a:p>
          <a:pPr algn="just"/>
          <a:r>
            <a:rPr lang="es-ES" b="1" dirty="0"/>
            <a:t>Calidad</a:t>
          </a:r>
          <a:endParaRPr lang="es-VE" dirty="0"/>
        </a:p>
      </dgm:t>
    </dgm:pt>
    <dgm:pt modelId="{C5106A45-1919-44C3-B1F3-D71E53F56589}" type="parTrans" cxnId="{3BAF6158-F68A-4C3F-82B8-4A0D9CA7E506}">
      <dgm:prSet/>
      <dgm:spPr/>
      <dgm:t>
        <a:bodyPr/>
        <a:lstStyle/>
        <a:p>
          <a:endParaRPr lang="es-VE"/>
        </a:p>
      </dgm:t>
    </dgm:pt>
    <dgm:pt modelId="{2DB1EC25-6664-44E1-AFE0-0F63E7D92A4E}" type="sibTrans" cxnId="{3BAF6158-F68A-4C3F-82B8-4A0D9CA7E506}">
      <dgm:prSet/>
      <dgm:spPr/>
      <dgm:t>
        <a:bodyPr/>
        <a:lstStyle/>
        <a:p>
          <a:endParaRPr lang="es-VE"/>
        </a:p>
      </dgm:t>
    </dgm:pt>
    <dgm:pt modelId="{094290F5-F805-4EB7-AB59-57375475BAB6}">
      <dgm:prSet phldrT="[Texto]"/>
      <dgm:spPr/>
      <dgm:t>
        <a:bodyPr/>
        <a:lstStyle/>
        <a:p>
          <a:pPr algn="just"/>
          <a:r>
            <a:rPr lang="es-ES" b="1" dirty="0"/>
            <a:t>Innovación</a:t>
          </a:r>
          <a:endParaRPr lang="es-VE" dirty="0"/>
        </a:p>
      </dgm:t>
    </dgm:pt>
    <dgm:pt modelId="{759AF9D1-1E3D-4115-9A8B-98899EC11165}" type="parTrans" cxnId="{DB3DA363-8634-43E7-BC29-98A0337CCE0A}">
      <dgm:prSet/>
      <dgm:spPr/>
      <dgm:t>
        <a:bodyPr/>
        <a:lstStyle/>
        <a:p>
          <a:endParaRPr lang="es-VE"/>
        </a:p>
      </dgm:t>
    </dgm:pt>
    <dgm:pt modelId="{CDE020B9-7643-42FD-90DA-6725A3F10722}" type="sibTrans" cxnId="{DB3DA363-8634-43E7-BC29-98A0337CCE0A}">
      <dgm:prSet/>
      <dgm:spPr/>
      <dgm:t>
        <a:bodyPr/>
        <a:lstStyle/>
        <a:p>
          <a:endParaRPr lang="es-VE"/>
        </a:p>
      </dgm:t>
    </dgm:pt>
    <dgm:pt modelId="{4C6D66B4-F3DA-4EB2-8A1F-769B05FC10DA}" type="pres">
      <dgm:prSet presAssocID="{3328A810-2CBE-47F9-9BBE-A0F00D30F5A5}" presName="linearFlow" presStyleCnt="0">
        <dgm:presLayoutVars>
          <dgm:dir/>
          <dgm:animLvl val="lvl"/>
          <dgm:resizeHandles/>
        </dgm:presLayoutVars>
      </dgm:prSet>
      <dgm:spPr/>
    </dgm:pt>
    <dgm:pt modelId="{5A57DEA0-4820-441C-81E5-3988FC68F5EF}" type="pres">
      <dgm:prSet presAssocID="{3AE15B9C-9337-416F-AAC7-3B05BDC1A5AD}" presName="compositeNode" presStyleCnt="0">
        <dgm:presLayoutVars>
          <dgm:bulletEnabled val="1"/>
        </dgm:presLayoutVars>
      </dgm:prSet>
      <dgm:spPr/>
    </dgm:pt>
    <dgm:pt modelId="{98501AC5-8A95-4C8F-A6F4-26F26756E857}" type="pres">
      <dgm:prSet presAssocID="{3AE15B9C-9337-416F-AAC7-3B05BDC1A5AD}" presName="image"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dgm:spPr>
    </dgm:pt>
    <dgm:pt modelId="{AC50B02B-FF96-4FD4-ADEF-0A2F5B0FCD61}" type="pres">
      <dgm:prSet presAssocID="{3AE15B9C-9337-416F-AAC7-3B05BDC1A5AD}" presName="childNode" presStyleLbl="node1" presStyleIdx="0" presStyleCnt="3">
        <dgm:presLayoutVars>
          <dgm:bulletEnabled val="1"/>
        </dgm:presLayoutVars>
      </dgm:prSet>
      <dgm:spPr/>
    </dgm:pt>
    <dgm:pt modelId="{4CF39E92-A81B-402A-B996-B43DCCFCDF8B}" type="pres">
      <dgm:prSet presAssocID="{3AE15B9C-9337-416F-AAC7-3B05BDC1A5AD}" presName="parentNode" presStyleLbl="revTx" presStyleIdx="0" presStyleCnt="3" custLinFactNeighborX="0" custLinFactNeighborY="7889">
        <dgm:presLayoutVars>
          <dgm:chMax val="0"/>
          <dgm:bulletEnabled val="1"/>
        </dgm:presLayoutVars>
      </dgm:prSet>
      <dgm:spPr/>
    </dgm:pt>
    <dgm:pt modelId="{FC631BD5-0C0C-4764-B5B1-AACB6D539346}" type="pres">
      <dgm:prSet presAssocID="{D1530E0D-45D5-421C-80E8-CA7155313703}" presName="sibTrans" presStyleCnt="0"/>
      <dgm:spPr/>
    </dgm:pt>
    <dgm:pt modelId="{F947F01A-D620-4999-8627-864F31240F97}" type="pres">
      <dgm:prSet presAssocID="{8B268A1C-731F-4ED1-AC37-EEED3F4AAA10}" presName="compositeNode" presStyleCnt="0">
        <dgm:presLayoutVars>
          <dgm:bulletEnabled val="1"/>
        </dgm:presLayoutVars>
      </dgm:prSet>
      <dgm:spPr/>
    </dgm:pt>
    <dgm:pt modelId="{6595D2F2-675C-4902-9DCB-092CCF7C725D}" type="pres">
      <dgm:prSet presAssocID="{8B268A1C-731F-4ED1-AC37-EEED3F4AAA10}" presName="image"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516DB1DB-AC77-4216-843F-ED76141C5E64}" type="pres">
      <dgm:prSet presAssocID="{8B268A1C-731F-4ED1-AC37-EEED3F4AAA10}" presName="childNode" presStyleLbl="node1" presStyleIdx="1" presStyleCnt="3">
        <dgm:presLayoutVars>
          <dgm:bulletEnabled val="1"/>
        </dgm:presLayoutVars>
      </dgm:prSet>
      <dgm:spPr/>
    </dgm:pt>
    <dgm:pt modelId="{515A9441-6663-4FEC-A6C8-A56CB7FDB1BE}" type="pres">
      <dgm:prSet presAssocID="{8B268A1C-731F-4ED1-AC37-EEED3F4AAA10}" presName="parentNode" presStyleLbl="revTx" presStyleIdx="1" presStyleCnt="3">
        <dgm:presLayoutVars>
          <dgm:chMax val="0"/>
          <dgm:bulletEnabled val="1"/>
        </dgm:presLayoutVars>
      </dgm:prSet>
      <dgm:spPr/>
    </dgm:pt>
    <dgm:pt modelId="{808E14AA-D28D-480B-A4A8-FD942E3F9BD6}" type="pres">
      <dgm:prSet presAssocID="{0EEF5696-9B5C-4114-A75D-16DFF9FCAC45}" presName="sibTrans" presStyleCnt="0"/>
      <dgm:spPr/>
    </dgm:pt>
    <dgm:pt modelId="{5AA3832D-F978-47B4-BFBE-E08AAB792CB3}" type="pres">
      <dgm:prSet presAssocID="{8376A6D4-BD2A-44FC-A976-72093050F7A6}" presName="compositeNode" presStyleCnt="0">
        <dgm:presLayoutVars>
          <dgm:bulletEnabled val="1"/>
        </dgm:presLayoutVars>
      </dgm:prSet>
      <dgm:spPr/>
    </dgm:pt>
    <dgm:pt modelId="{E39D13D5-C5A0-45C1-A6E4-24A22C308A8D}" type="pres">
      <dgm:prSet presAssocID="{8376A6D4-BD2A-44FC-A976-72093050F7A6}" presName="image"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1000" r="-21000"/>
          </a:stretch>
        </a:blipFill>
      </dgm:spPr>
    </dgm:pt>
    <dgm:pt modelId="{E2CD4A44-55C4-4FE8-801D-11AFD1C3C2CE}" type="pres">
      <dgm:prSet presAssocID="{8376A6D4-BD2A-44FC-A976-72093050F7A6}" presName="childNode" presStyleLbl="node1" presStyleIdx="2" presStyleCnt="3">
        <dgm:presLayoutVars>
          <dgm:bulletEnabled val="1"/>
        </dgm:presLayoutVars>
      </dgm:prSet>
      <dgm:spPr/>
    </dgm:pt>
    <dgm:pt modelId="{E773EB2C-1E2F-4877-AC3C-33E56DC36A9A}" type="pres">
      <dgm:prSet presAssocID="{8376A6D4-BD2A-44FC-A976-72093050F7A6}" presName="parentNode" presStyleLbl="revTx" presStyleIdx="2" presStyleCnt="3">
        <dgm:presLayoutVars>
          <dgm:chMax val="0"/>
          <dgm:bulletEnabled val="1"/>
        </dgm:presLayoutVars>
      </dgm:prSet>
      <dgm:spPr/>
    </dgm:pt>
  </dgm:ptLst>
  <dgm:cxnLst>
    <dgm:cxn modelId="{7DEB0C06-5D8C-4A1A-B7BD-D8051B72663A}" type="presOf" srcId="{41EDBBD3-AB8A-4906-B334-D9E6AD66F06B}" destId="{516DB1DB-AC77-4216-843F-ED76141C5E64}" srcOrd="0" destOrd="0" presId="urn:microsoft.com/office/officeart/2005/8/layout/hList2"/>
    <dgm:cxn modelId="{E8B5690D-1611-4AEC-A541-B2EC79C7F56A}" type="presOf" srcId="{3328A810-2CBE-47F9-9BBE-A0F00D30F5A5}" destId="{4C6D66B4-F3DA-4EB2-8A1F-769B05FC10DA}" srcOrd="0" destOrd="0" presId="urn:microsoft.com/office/officeart/2005/8/layout/hList2"/>
    <dgm:cxn modelId="{42B8EF0F-0301-4AC8-985C-FE30FFB3A8A0}" srcId="{3328A810-2CBE-47F9-9BBE-A0F00D30F5A5}" destId="{3AE15B9C-9337-416F-AAC7-3B05BDC1A5AD}" srcOrd="0" destOrd="0" parTransId="{7C32925A-72CE-46D9-91DA-FCA3AE8D69FD}" sibTransId="{D1530E0D-45D5-421C-80E8-CA7155313703}"/>
    <dgm:cxn modelId="{CDE9E015-41ED-4CF0-A056-BC9C769A37B9}" type="presOf" srcId="{BBA4DEA8-8CB7-46BA-9B4B-0DF0692FC067}" destId="{E2CD4A44-55C4-4FE8-801D-11AFD1C3C2CE}" srcOrd="0" destOrd="0" presId="urn:microsoft.com/office/officeart/2005/8/layout/hList2"/>
    <dgm:cxn modelId="{5C15CB2E-B33F-4686-B780-3C37E672CB60}" srcId="{8B268A1C-731F-4ED1-AC37-EEED3F4AAA10}" destId="{41EDBBD3-AB8A-4906-B334-D9E6AD66F06B}" srcOrd="0" destOrd="0" parTransId="{FAE05319-44C0-4CDC-8F01-C5D1D0F43A91}" sibTransId="{0A36E03F-7F00-4C59-8455-95EBD04BE868}"/>
    <dgm:cxn modelId="{EB577B31-214F-4964-9F08-A54B4138E04B}" type="presOf" srcId="{3AE15B9C-9337-416F-AAC7-3B05BDC1A5AD}" destId="{4CF39E92-A81B-402A-B996-B43DCCFCDF8B}" srcOrd="0" destOrd="0" presId="urn:microsoft.com/office/officeart/2005/8/layout/hList2"/>
    <dgm:cxn modelId="{DB3DA363-8634-43E7-BC29-98A0337CCE0A}" srcId="{8376A6D4-BD2A-44FC-A976-72093050F7A6}" destId="{094290F5-F805-4EB7-AB59-57375475BAB6}" srcOrd="3" destOrd="0" parTransId="{759AF9D1-1E3D-4115-9A8B-98899EC11165}" sibTransId="{CDE020B9-7643-42FD-90DA-6725A3F10722}"/>
    <dgm:cxn modelId="{ADD90E51-4C7B-40C4-856A-8A3CFF954574}" srcId="{3328A810-2CBE-47F9-9BBE-A0F00D30F5A5}" destId="{8376A6D4-BD2A-44FC-A976-72093050F7A6}" srcOrd="2" destOrd="0" parTransId="{3804A774-E6F1-4519-A963-4059CDC17F27}" sibTransId="{A98D14E9-1F31-4CBF-A3BF-DDEE248A8628}"/>
    <dgm:cxn modelId="{3BAF6158-F68A-4C3F-82B8-4A0D9CA7E506}" srcId="{8376A6D4-BD2A-44FC-A976-72093050F7A6}" destId="{87B09046-3F09-48F9-902C-4C7ED96B84F6}" srcOrd="2" destOrd="0" parTransId="{C5106A45-1919-44C3-B1F3-D71E53F56589}" sibTransId="{2DB1EC25-6664-44E1-AFE0-0F63E7D92A4E}"/>
    <dgm:cxn modelId="{5B9EBD59-E559-4132-9A47-351C9D757332}" type="presOf" srcId="{8376A6D4-BD2A-44FC-A976-72093050F7A6}" destId="{E773EB2C-1E2F-4877-AC3C-33E56DC36A9A}" srcOrd="0" destOrd="0" presId="urn:microsoft.com/office/officeart/2005/8/layout/hList2"/>
    <dgm:cxn modelId="{B734C089-70E0-47CD-93E6-F57429234535}" srcId="{3328A810-2CBE-47F9-9BBE-A0F00D30F5A5}" destId="{8B268A1C-731F-4ED1-AC37-EEED3F4AAA10}" srcOrd="1" destOrd="0" parTransId="{AA56DEDA-E2B9-4CA1-B676-41E2C79374A6}" sibTransId="{0EEF5696-9B5C-4114-A75D-16DFF9FCAC45}"/>
    <dgm:cxn modelId="{178397AD-96D6-45AF-8CC3-3F8DCC7E3A18}" srcId="{8376A6D4-BD2A-44FC-A976-72093050F7A6}" destId="{BBA4DEA8-8CB7-46BA-9B4B-0DF0692FC067}" srcOrd="0" destOrd="0" parTransId="{86A63FE0-451C-40CF-AFB8-DC9606950E72}" sibTransId="{0786A268-161E-4DED-9D4A-00D3945F6C91}"/>
    <dgm:cxn modelId="{63AA84AE-DE4D-4038-840E-E3C89BEEFB50}" type="presOf" srcId="{094290F5-F805-4EB7-AB59-57375475BAB6}" destId="{E2CD4A44-55C4-4FE8-801D-11AFD1C3C2CE}" srcOrd="0" destOrd="3" presId="urn:microsoft.com/office/officeart/2005/8/layout/hList2"/>
    <dgm:cxn modelId="{A12BD7B6-34F0-434C-9500-AB7057B5C50B}" srcId="{3AE15B9C-9337-416F-AAC7-3B05BDC1A5AD}" destId="{DDB50168-B896-42D7-802C-62E340519EC9}" srcOrd="0" destOrd="0" parTransId="{A68F0FDD-03EF-4D69-8558-FCF95E3BC8CF}" sibTransId="{4AB028A7-0BFF-498C-871A-6CD4C0647701}"/>
    <dgm:cxn modelId="{A8A0EFDD-602F-4C0B-85B2-D356B25489F0}" type="presOf" srcId="{8B268A1C-731F-4ED1-AC37-EEED3F4AAA10}" destId="{515A9441-6663-4FEC-A6C8-A56CB7FDB1BE}" srcOrd="0" destOrd="0" presId="urn:microsoft.com/office/officeart/2005/8/layout/hList2"/>
    <dgm:cxn modelId="{79426CF0-1EE7-4F38-AD52-B36727CE5F07}" type="presOf" srcId="{87B09046-3F09-48F9-902C-4C7ED96B84F6}" destId="{E2CD4A44-55C4-4FE8-801D-11AFD1C3C2CE}" srcOrd="0" destOrd="2" presId="urn:microsoft.com/office/officeart/2005/8/layout/hList2"/>
    <dgm:cxn modelId="{81D19EF6-5DA1-49C9-8CAD-43D1A0F98F80}" type="presOf" srcId="{DDB50168-B896-42D7-802C-62E340519EC9}" destId="{AC50B02B-FF96-4FD4-ADEF-0A2F5B0FCD61}" srcOrd="0" destOrd="0" presId="urn:microsoft.com/office/officeart/2005/8/layout/hList2"/>
    <dgm:cxn modelId="{54EE04FA-D187-43C3-A3FB-A5ABB93EF925}" type="presOf" srcId="{5E7A2ECF-9F21-4DD4-B6D3-2CE26C00EEB8}" destId="{E2CD4A44-55C4-4FE8-801D-11AFD1C3C2CE}" srcOrd="0" destOrd="1" presId="urn:microsoft.com/office/officeart/2005/8/layout/hList2"/>
    <dgm:cxn modelId="{238985FA-9E02-487A-B235-C27DA1D7C5C8}" srcId="{8376A6D4-BD2A-44FC-A976-72093050F7A6}" destId="{5E7A2ECF-9F21-4DD4-B6D3-2CE26C00EEB8}" srcOrd="1" destOrd="0" parTransId="{C73A6DF8-DA54-4488-B976-0BD9E6312E4C}" sibTransId="{C7E063A4-D7F5-4140-8BD1-4B753CFBF881}"/>
    <dgm:cxn modelId="{5E928FE3-760E-4688-ABCD-C93E4D20F090}" type="presParOf" srcId="{4C6D66B4-F3DA-4EB2-8A1F-769B05FC10DA}" destId="{5A57DEA0-4820-441C-81E5-3988FC68F5EF}" srcOrd="0" destOrd="0" presId="urn:microsoft.com/office/officeart/2005/8/layout/hList2"/>
    <dgm:cxn modelId="{0D1C1B2A-B616-48F3-B4BB-C18285412647}" type="presParOf" srcId="{5A57DEA0-4820-441C-81E5-3988FC68F5EF}" destId="{98501AC5-8A95-4C8F-A6F4-26F26756E857}" srcOrd="0" destOrd="0" presId="urn:microsoft.com/office/officeart/2005/8/layout/hList2"/>
    <dgm:cxn modelId="{2DA021DB-2312-405B-9886-AECEB4D11A27}" type="presParOf" srcId="{5A57DEA0-4820-441C-81E5-3988FC68F5EF}" destId="{AC50B02B-FF96-4FD4-ADEF-0A2F5B0FCD61}" srcOrd="1" destOrd="0" presId="urn:microsoft.com/office/officeart/2005/8/layout/hList2"/>
    <dgm:cxn modelId="{29162331-3CA4-4312-8A91-9C26064B8667}" type="presParOf" srcId="{5A57DEA0-4820-441C-81E5-3988FC68F5EF}" destId="{4CF39E92-A81B-402A-B996-B43DCCFCDF8B}" srcOrd="2" destOrd="0" presId="urn:microsoft.com/office/officeart/2005/8/layout/hList2"/>
    <dgm:cxn modelId="{4590E756-2196-4BBA-87C8-1BC62B2A2503}" type="presParOf" srcId="{4C6D66B4-F3DA-4EB2-8A1F-769B05FC10DA}" destId="{FC631BD5-0C0C-4764-B5B1-AACB6D539346}" srcOrd="1" destOrd="0" presId="urn:microsoft.com/office/officeart/2005/8/layout/hList2"/>
    <dgm:cxn modelId="{F3F6B5B8-92AE-4344-B6C0-F802A0F35163}" type="presParOf" srcId="{4C6D66B4-F3DA-4EB2-8A1F-769B05FC10DA}" destId="{F947F01A-D620-4999-8627-864F31240F97}" srcOrd="2" destOrd="0" presId="urn:microsoft.com/office/officeart/2005/8/layout/hList2"/>
    <dgm:cxn modelId="{3A61678A-EB23-4834-A7BF-8DDF7703AB54}" type="presParOf" srcId="{F947F01A-D620-4999-8627-864F31240F97}" destId="{6595D2F2-675C-4902-9DCB-092CCF7C725D}" srcOrd="0" destOrd="0" presId="urn:microsoft.com/office/officeart/2005/8/layout/hList2"/>
    <dgm:cxn modelId="{7C57323F-E4B7-4FFC-961C-BA25B2D679A5}" type="presParOf" srcId="{F947F01A-D620-4999-8627-864F31240F97}" destId="{516DB1DB-AC77-4216-843F-ED76141C5E64}" srcOrd="1" destOrd="0" presId="urn:microsoft.com/office/officeart/2005/8/layout/hList2"/>
    <dgm:cxn modelId="{375AE9BC-929C-488F-8F0A-5490635A5D60}" type="presParOf" srcId="{F947F01A-D620-4999-8627-864F31240F97}" destId="{515A9441-6663-4FEC-A6C8-A56CB7FDB1BE}" srcOrd="2" destOrd="0" presId="urn:microsoft.com/office/officeart/2005/8/layout/hList2"/>
    <dgm:cxn modelId="{FD48DA8A-0DA4-45CA-9AE6-8BCF8FEF3F3C}" type="presParOf" srcId="{4C6D66B4-F3DA-4EB2-8A1F-769B05FC10DA}" destId="{808E14AA-D28D-480B-A4A8-FD942E3F9BD6}" srcOrd="3" destOrd="0" presId="urn:microsoft.com/office/officeart/2005/8/layout/hList2"/>
    <dgm:cxn modelId="{EE64CE84-1B20-4B80-B038-EACD6E0722E2}" type="presParOf" srcId="{4C6D66B4-F3DA-4EB2-8A1F-769B05FC10DA}" destId="{5AA3832D-F978-47B4-BFBE-E08AAB792CB3}" srcOrd="4" destOrd="0" presId="urn:microsoft.com/office/officeart/2005/8/layout/hList2"/>
    <dgm:cxn modelId="{10EC1ECD-896C-437B-8832-9EAFCF387683}" type="presParOf" srcId="{5AA3832D-F978-47B4-BFBE-E08AAB792CB3}" destId="{E39D13D5-C5A0-45C1-A6E4-24A22C308A8D}" srcOrd="0" destOrd="0" presId="urn:microsoft.com/office/officeart/2005/8/layout/hList2"/>
    <dgm:cxn modelId="{7129A300-F169-4EE6-B4D0-59F92CEAB891}" type="presParOf" srcId="{5AA3832D-F978-47B4-BFBE-E08AAB792CB3}" destId="{E2CD4A44-55C4-4FE8-801D-11AFD1C3C2CE}" srcOrd="1" destOrd="0" presId="urn:microsoft.com/office/officeart/2005/8/layout/hList2"/>
    <dgm:cxn modelId="{43388AAD-7C68-47E3-B619-0466D2138A8B}" type="presParOf" srcId="{5AA3832D-F978-47B4-BFBE-E08AAB792CB3}" destId="{E773EB2C-1E2F-4877-AC3C-33E56DC36A9A}" srcOrd="2" destOrd="0" presId="urn:microsoft.com/office/officeart/2005/8/layout/h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CE70D0-ADF8-447D-9AA1-89D2B154EDEB}" type="doc">
      <dgm:prSet loTypeId="urn:microsoft.com/office/officeart/2005/8/layout/hierarchy3" loCatId="hierarchy" qsTypeId="urn:microsoft.com/office/officeart/2005/8/quickstyle/3d3" qsCatId="3D" csTypeId="urn:microsoft.com/office/officeart/2005/8/colors/accent0_2" csCatId="mainScheme" phldr="1"/>
      <dgm:spPr/>
      <dgm:t>
        <a:bodyPr/>
        <a:lstStyle/>
        <a:p>
          <a:endParaRPr lang="es-VE"/>
        </a:p>
      </dgm:t>
    </dgm:pt>
    <dgm:pt modelId="{ED781264-DC17-4E12-B042-205D05FD3DBA}">
      <dgm:prSet phldrT="[Texto]"/>
      <dgm:spPr/>
      <dgm:t>
        <a:bodyPr/>
        <a:lstStyle/>
        <a:p>
          <a:r>
            <a:rPr lang="es-ES" b="1" dirty="0">
              <a:solidFill>
                <a:schemeClr val="tx1"/>
              </a:solidFill>
              <a:latin typeface="Times New Roman" panose="02020603050405020304" pitchFamily="18" charset="0"/>
              <a:cs typeface="Times New Roman" panose="02020603050405020304" pitchFamily="18" charset="0"/>
            </a:rPr>
            <a:t>Objetivos</a:t>
          </a:r>
          <a:r>
            <a:rPr lang="es-ES" b="1" dirty="0">
              <a:solidFill>
                <a:schemeClr val="bg1"/>
              </a:solidFill>
              <a:latin typeface="Times New Roman" panose="02020603050405020304" pitchFamily="18" charset="0"/>
              <a:cs typeface="Times New Roman" panose="02020603050405020304" pitchFamily="18" charset="0"/>
            </a:rPr>
            <a:t> </a:t>
          </a:r>
          <a:r>
            <a:rPr lang="es-ES" b="1" dirty="0">
              <a:solidFill>
                <a:schemeClr val="tx1"/>
              </a:solidFill>
              <a:latin typeface="Times New Roman" panose="02020603050405020304" pitchFamily="18" charset="0"/>
              <a:cs typeface="Times New Roman" panose="02020603050405020304" pitchFamily="18" charset="0"/>
            </a:rPr>
            <a:t>General</a:t>
          </a:r>
          <a:endParaRPr lang="es-VE" b="1" dirty="0">
            <a:solidFill>
              <a:schemeClr val="tx1"/>
            </a:solidFill>
            <a:latin typeface="Times New Roman" panose="02020603050405020304" pitchFamily="18" charset="0"/>
            <a:cs typeface="Times New Roman" panose="02020603050405020304" pitchFamily="18" charset="0"/>
          </a:endParaRPr>
        </a:p>
      </dgm:t>
    </dgm:pt>
    <dgm:pt modelId="{57EF21DB-1FAA-4337-9F8A-F434FD54F117}" type="parTrans" cxnId="{8871187A-4943-480A-B4AB-12349310B99E}">
      <dgm:prSet/>
      <dgm:spPr/>
      <dgm:t>
        <a:bodyPr/>
        <a:lstStyle/>
        <a:p>
          <a:endParaRPr lang="es-VE"/>
        </a:p>
      </dgm:t>
    </dgm:pt>
    <dgm:pt modelId="{86962253-CC84-4E50-BF64-02B73FD99B6A}" type="sibTrans" cxnId="{8871187A-4943-480A-B4AB-12349310B99E}">
      <dgm:prSet/>
      <dgm:spPr/>
      <dgm:t>
        <a:bodyPr/>
        <a:lstStyle/>
        <a:p>
          <a:endParaRPr lang="es-VE"/>
        </a:p>
      </dgm:t>
    </dgm:pt>
    <dgm:pt modelId="{6397D6C9-4528-4A91-B922-3D9CA9CD00E2}">
      <dgm:prSet phldrT="[Texto]" custT="1"/>
      <dgm:spPr/>
      <dgm:t>
        <a:bodyPr/>
        <a:lstStyle/>
        <a:p>
          <a:pPr algn="just">
            <a:buFont typeface="Wingdings" panose="05000000000000000000" pitchFamily="2" charset="2"/>
            <a:buChar char="Ø"/>
          </a:pPr>
          <a:r>
            <a:rPr lang="es-ES" sz="1400" dirty="0">
              <a:latin typeface="Arial" panose="020B0604020202020204" pitchFamily="34" charset="0"/>
              <a:cs typeface="Arial" panose="020B0604020202020204" pitchFamily="34" charset="0"/>
            </a:rPr>
            <a:t>- </a:t>
          </a:r>
          <a:r>
            <a:rPr lang="es-ES" sz="1400" dirty="0">
              <a:solidFill>
                <a:schemeClr val="tx1"/>
              </a:solidFill>
              <a:latin typeface="Arial" panose="020B0604020202020204" pitchFamily="34" charset="0"/>
              <a:cs typeface="Arial" panose="020B0604020202020204" pitchFamily="34" charset="0"/>
            </a:rPr>
            <a:t>Asegurar la actuación sostenible del Banco y sus Subsidiarias, a partir de la integración de las dimensiones ambiental y social.  En su estrategia, garantizando la incorporación de los principios y directrices de esta política en los negocios, procesos internos y externos y relaciones con las partes interesadas. </a:t>
          </a:r>
          <a:endParaRPr lang="es-VE" sz="1400" dirty="0">
            <a:solidFill>
              <a:schemeClr val="tx1"/>
            </a:solidFill>
            <a:latin typeface="Arial" panose="020B0604020202020204" pitchFamily="34" charset="0"/>
            <a:cs typeface="Arial" panose="020B0604020202020204" pitchFamily="34" charset="0"/>
          </a:endParaRPr>
        </a:p>
      </dgm:t>
    </dgm:pt>
    <dgm:pt modelId="{CBEB71EC-A500-4497-BC3E-1FE4CB51DCAF}" type="parTrans" cxnId="{68A74B8B-DAD7-41C7-9B28-55F21E651B8A}">
      <dgm:prSet/>
      <dgm:spPr/>
      <dgm:t>
        <a:bodyPr/>
        <a:lstStyle/>
        <a:p>
          <a:endParaRPr lang="es-VE"/>
        </a:p>
      </dgm:t>
    </dgm:pt>
    <dgm:pt modelId="{68A2F495-20F8-43B2-A6AC-56BA317156F9}" type="sibTrans" cxnId="{68A74B8B-DAD7-41C7-9B28-55F21E651B8A}">
      <dgm:prSet/>
      <dgm:spPr/>
      <dgm:t>
        <a:bodyPr/>
        <a:lstStyle/>
        <a:p>
          <a:endParaRPr lang="es-VE"/>
        </a:p>
      </dgm:t>
    </dgm:pt>
    <dgm:pt modelId="{4DD5A100-970A-45EC-8E53-417D6BCB3711}">
      <dgm:prSet phldrT="[Texto]"/>
      <dgm:spPr/>
      <dgm:t>
        <a:bodyPr/>
        <a:lstStyle/>
        <a:p>
          <a:r>
            <a:rPr lang="es-ES" b="1" dirty="0">
              <a:solidFill>
                <a:schemeClr val="tx1"/>
              </a:solidFill>
              <a:latin typeface="Times New Roman" panose="02020603050405020304" pitchFamily="18" charset="0"/>
              <a:cs typeface="Times New Roman" panose="02020603050405020304" pitchFamily="18" charset="0"/>
            </a:rPr>
            <a:t>Objetivos Específicos</a:t>
          </a:r>
          <a:endParaRPr lang="es-VE" b="1" dirty="0">
            <a:solidFill>
              <a:schemeClr val="tx1"/>
            </a:solidFill>
            <a:latin typeface="Times New Roman" panose="02020603050405020304" pitchFamily="18" charset="0"/>
            <a:cs typeface="Times New Roman" panose="02020603050405020304" pitchFamily="18" charset="0"/>
          </a:endParaRPr>
        </a:p>
      </dgm:t>
    </dgm:pt>
    <dgm:pt modelId="{3AB98DE1-1C96-4859-8CC7-11FB68882DC2}" type="parTrans" cxnId="{025BF34E-4C61-4221-84D6-3542B3E3E167}">
      <dgm:prSet/>
      <dgm:spPr/>
      <dgm:t>
        <a:bodyPr/>
        <a:lstStyle/>
        <a:p>
          <a:endParaRPr lang="es-VE"/>
        </a:p>
      </dgm:t>
    </dgm:pt>
    <dgm:pt modelId="{CAEF966D-F08E-4C80-ADFA-E7587784E8DA}" type="sibTrans" cxnId="{025BF34E-4C61-4221-84D6-3542B3E3E167}">
      <dgm:prSet/>
      <dgm:spPr/>
      <dgm:t>
        <a:bodyPr/>
        <a:lstStyle/>
        <a:p>
          <a:endParaRPr lang="es-VE"/>
        </a:p>
      </dgm:t>
    </dgm:pt>
    <dgm:pt modelId="{DD53ACCC-1EF9-4359-B23E-431FA5081EF3}">
      <dgm:prSet phldrT="[Texto]" custT="1"/>
      <dgm:spPr/>
      <dgm:t>
        <a:bodyPr/>
        <a:lstStyle/>
        <a:p>
          <a:pPr algn="just"/>
          <a:r>
            <a:rPr lang="es-ES" sz="1100" b="1" dirty="0">
              <a:solidFill>
                <a:schemeClr val="tx1"/>
              </a:solidFill>
            </a:rPr>
            <a:t>Desarrollar y promover productos y servicios que apoyen a nuestros clientes </a:t>
          </a:r>
          <a:r>
            <a:rPr lang="es-ES" sz="1100" b="1" dirty="0">
              <a:solidFill>
                <a:schemeClr val="bg1"/>
              </a:solidFill>
            </a:rPr>
            <a:t>.</a:t>
          </a:r>
          <a:endParaRPr lang="es-VE" sz="1100" b="1" dirty="0">
            <a:solidFill>
              <a:schemeClr val="bg1"/>
            </a:solidFill>
          </a:endParaRPr>
        </a:p>
      </dgm:t>
    </dgm:pt>
    <dgm:pt modelId="{337DA144-A09A-462F-BF73-936B82A94997}" type="parTrans" cxnId="{C17DC5A1-DF71-4F2B-8BC3-C89F2BE2EEA9}">
      <dgm:prSet/>
      <dgm:spPr/>
      <dgm:t>
        <a:bodyPr/>
        <a:lstStyle/>
        <a:p>
          <a:endParaRPr lang="es-VE"/>
        </a:p>
      </dgm:t>
    </dgm:pt>
    <dgm:pt modelId="{248A8B27-BB8B-406D-9715-385BCDEC3FA9}" type="sibTrans" cxnId="{C17DC5A1-DF71-4F2B-8BC3-C89F2BE2EEA9}">
      <dgm:prSet/>
      <dgm:spPr/>
      <dgm:t>
        <a:bodyPr/>
        <a:lstStyle/>
        <a:p>
          <a:endParaRPr lang="es-VE"/>
        </a:p>
      </dgm:t>
    </dgm:pt>
    <dgm:pt modelId="{9FAD1F0C-1BC1-4704-9ED4-7AB9156A66FE}">
      <dgm:prSet phldrT="[Texto]" custT="1"/>
      <dgm:spPr/>
      <dgm:t>
        <a:bodyPr/>
        <a:lstStyle/>
        <a:p>
          <a:pPr algn="just">
            <a:buFont typeface="+mj-lt"/>
            <a:buAutoNum type="arabicPeriod"/>
          </a:pPr>
          <a:r>
            <a:rPr lang="es-ES" sz="1100" b="1" dirty="0">
              <a:solidFill>
                <a:schemeClr val="tx1"/>
              </a:solidFill>
            </a:rPr>
            <a:t>Informar, concientizar, sensibilizar y capacitar a los colaboradores en materia de sostenibilidad, como parte de nuestra cultura corporativa</a:t>
          </a:r>
          <a:r>
            <a:rPr lang="es-ES" sz="1100" dirty="0">
              <a:solidFill>
                <a:schemeClr val="tx1"/>
              </a:solidFill>
            </a:rPr>
            <a:t>.</a:t>
          </a:r>
          <a:endParaRPr lang="es-VE" sz="1100" dirty="0">
            <a:solidFill>
              <a:schemeClr val="tx1"/>
            </a:solidFill>
          </a:endParaRPr>
        </a:p>
      </dgm:t>
    </dgm:pt>
    <dgm:pt modelId="{229E5734-F3BC-4C73-8343-541095489A42}" type="parTrans" cxnId="{C74922E9-7DF8-4841-B4DC-9DDF82E30B54}">
      <dgm:prSet/>
      <dgm:spPr/>
      <dgm:t>
        <a:bodyPr/>
        <a:lstStyle/>
        <a:p>
          <a:endParaRPr lang="es-VE"/>
        </a:p>
      </dgm:t>
    </dgm:pt>
    <dgm:pt modelId="{2276750F-DBD3-4F40-AA7C-F538E4CC4C3B}" type="sibTrans" cxnId="{C74922E9-7DF8-4841-B4DC-9DDF82E30B54}">
      <dgm:prSet/>
      <dgm:spPr/>
      <dgm:t>
        <a:bodyPr/>
        <a:lstStyle/>
        <a:p>
          <a:endParaRPr lang="es-VE"/>
        </a:p>
      </dgm:t>
    </dgm:pt>
    <dgm:pt modelId="{F6A583E2-EBDE-4BF3-9CE1-3A7B53C43AFD}">
      <dgm:prSet custT="1"/>
      <dgm:spPr/>
      <dgm:t>
        <a:bodyPr/>
        <a:lstStyle/>
        <a:p>
          <a:pPr algn="just"/>
          <a:r>
            <a:rPr lang="es-ES" sz="1050" b="1" dirty="0">
              <a:solidFill>
                <a:schemeClr val="tx1"/>
              </a:solidFill>
            </a:rPr>
            <a:t>Garantizar la transparencia e informar la gestión en materia, a través del procesos de sostenibilidades de rendición de cuentas</a:t>
          </a:r>
          <a:r>
            <a:rPr lang="es-ES" sz="700" dirty="0">
              <a:solidFill>
                <a:schemeClr val="bg1"/>
              </a:solidFill>
            </a:rPr>
            <a:t>.</a:t>
          </a:r>
          <a:endParaRPr lang="es-VE" sz="700" dirty="0">
            <a:solidFill>
              <a:schemeClr val="bg1"/>
            </a:solidFill>
          </a:endParaRPr>
        </a:p>
      </dgm:t>
    </dgm:pt>
    <dgm:pt modelId="{154AD832-6E8C-4E25-877A-CD512242D632}" type="parTrans" cxnId="{61CDB9CB-7B1E-4FFE-AAF2-0F4583DDAC29}">
      <dgm:prSet/>
      <dgm:spPr/>
      <dgm:t>
        <a:bodyPr/>
        <a:lstStyle/>
        <a:p>
          <a:endParaRPr lang="es-VE"/>
        </a:p>
      </dgm:t>
    </dgm:pt>
    <dgm:pt modelId="{6009EE90-906D-4416-B619-E3CE92C2D390}" type="sibTrans" cxnId="{61CDB9CB-7B1E-4FFE-AAF2-0F4583DDAC29}">
      <dgm:prSet/>
      <dgm:spPr/>
      <dgm:t>
        <a:bodyPr/>
        <a:lstStyle/>
        <a:p>
          <a:endParaRPr lang="es-VE"/>
        </a:p>
      </dgm:t>
    </dgm:pt>
    <dgm:pt modelId="{6914B2C8-98DF-49C0-9817-74A61216AB41}" type="pres">
      <dgm:prSet presAssocID="{CCCE70D0-ADF8-447D-9AA1-89D2B154EDEB}" presName="diagram" presStyleCnt="0">
        <dgm:presLayoutVars>
          <dgm:chPref val="1"/>
          <dgm:dir/>
          <dgm:animOne val="branch"/>
          <dgm:animLvl val="lvl"/>
          <dgm:resizeHandles/>
        </dgm:presLayoutVars>
      </dgm:prSet>
      <dgm:spPr/>
    </dgm:pt>
    <dgm:pt modelId="{3E460324-1341-4609-BE6E-7C8BD3DE020C}" type="pres">
      <dgm:prSet presAssocID="{ED781264-DC17-4E12-B042-205D05FD3DBA}" presName="root" presStyleCnt="0"/>
      <dgm:spPr/>
    </dgm:pt>
    <dgm:pt modelId="{3F072588-E9C9-491F-8C88-FBAD3FDDEA82}" type="pres">
      <dgm:prSet presAssocID="{ED781264-DC17-4E12-B042-205D05FD3DBA}" presName="rootComposite" presStyleCnt="0"/>
      <dgm:spPr/>
    </dgm:pt>
    <dgm:pt modelId="{7AE9914D-D62C-4E74-A1F0-D1DCD6EAE3BC}" type="pres">
      <dgm:prSet presAssocID="{ED781264-DC17-4E12-B042-205D05FD3DBA}" presName="rootText" presStyleLbl="node1" presStyleIdx="0" presStyleCnt="2" custScaleX="120117"/>
      <dgm:spPr/>
    </dgm:pt>
    <dgm:pt modelId="{5F92AB12-0440-4F5F-AD53-A3B17F4179DE}" type="pres">
      <dgm:prSet presAssocID="{ED781264-DC17-4E12-B042-205D05FD3DBA}" presName="rootConnector" presStyleLbl="node1" presStyleIdx="0" presStyleCnt="2"/>
      <dgm:spPr/>
    </dgm:pt>
    <dgm:pt modelId="{514041AE-C50A-4C5A-BBBE-F9B097A7401E}" type="pres">
      <dgm:prSet presAssocID="{ED781264-DC17-4E12-B042-205D05FD3DBA}" presName="childShape" presStyleCnt="0"/>
      <dgm:spPr/>
    </dgm:pt>
    <dgm:pt modelId="{777567FA-F748-408D-8DBA-71A600565EC0}" type="pres">
      <dgm:prSet presAssocID="{CBEB71EC-A500-4497-BC3E-1FE4CB51DCAF}" presName="Name13" presStyleLbl="parChTrans1D2" presStyleIdx="0" presStyleCnt="4"/>
      <dgm:spPr/>
    </dgm:pt>
    <dgm:pt modelId="{C4A19E1D-674D-481D-92A9-68A4A74048AC}" type="pres">
      <dgm:prSet presAssocID="{6397D6C9-4528-4A91-B922-3D9CA9CD00E2}" presName="childText" presStyleLbl="bgAcc1" presStyleIdx="0" presStyleCnt="4" custScaleX="181792" custScaleY="380045" custLinFactNeighborY="317">
        <dgm:presLayoutVars>
          <dgm:bulletEnabled val="1"/>
        </dgm:presLayoutVars>
      </dgm:prSet>
      <dgm:spPr/>
    </dgm:pt>
    <dgm:pt modelId="{BCC4F08F-8EF2-4AE5-9427-32A6F5D64052}" type="pres">
      <dgm:prSet presAssocID="{4DD5A100-970A-45EC-8E53-417D6BCB3711}" presName="root" presStyleCnt="0"/>
      <dgm:spPr/>
    </dgm:pt>
    <dgm:pt modelId="{098B81EE-7070-4646-97F0-CD4DC947EB3F}" type="pres">
      <dgm:prSet presAssocID="{4DD5A100-970A-45EC-8E53-417D6BCB3711}" presName="rootComposite" presStyleCnt="0"/>
      <dgm:spPr/>
    </dgm:pt>
    <dgm:pt modelId="{20CE8DF7-B04E-44EE-B280-593A2177187B}" type="pres">
      <dgm:prSet presAssocID="{4DD5A100-970A-45EC-8E53-417D6BCB3711}" presName="rootText" presStyleLbl="node1" presStyleIdx="1" presStyleCnt="2" custScaleX="138291" custLinFactNeighborX="-3232" custLinFactNeighborY="3879"/>
      <dgm:spPr/>
    </dgm:pt>
    <dgm:pt modelId="{CB1E0184-CFF7-4AF6-BC92-E49D344F652D}" type="pres">
      <dgm:prSet presAssocID="{4DD5A100-970A-45EC-8E53-417D6BCB3711}" presName="rootConnector" presStyleLbl="node1" presStyleIdx="1" presStyleCnt="2"/>
      <dgm:spPr/>
    </dgm:pt>
    <dgm:pt modelId="{DC8E1555-BA71-4394-8FEB-1C9974C7B352}" type="pres">
      <dgm:prSet presAssocID="{4DD5A100-970A-45EC-8E53-417D6BCB3711}" presName="childShape" presStyleCnt="0"/>
      <dgm:spPr/>
    </dgm:pt>
    <dgm:pt modelId="{6D444E9F-6552-4BA1-9CA5-CB46A42ADBF6}" type="pres">
      <dgm:prSet presAssocID="{337DA144-A09A-462F-BF73-936B82A94997}" presName="Name13" presStyleLbl="parChTrans1D2" presStyleIdx="1" presStyleCnt="4"/>
      <dgm:spPr/>
    </dgm:pt>
    <dgm:pt modelId="{93BCD6A1-C4F9-4DA8-BF36-73A178D0B0BE}" type="pres">
      <dgm:prSet presAssocID="{DD53ACCC-1EF9-4359-B23E-431FA5081EF3}" presName="childText" presStyleLbl="bgAcc1" presStyleIdx="1" presStyleCnt="4" custScaleX="106643" custScaleY="78901" custLinFactNeighborX="39531" custLinFactNeighborY="-4865">
        <dgm:presLayoutVars>
          <dgm:bulletEnabled val="1"/>
        </dgm:presLayoutVars>
      </dgm:prSet>
      <dgm:spPr/>
    </dgm:pt>
    <dgm:pt modelId="{F39BFC7F-253D-491F-9478-356526C79552}" type="pres">
      <dgm:prSet presAssocID="{154AD832-6E8C-4E25-877A-CD512242D632}" presName="Name13" presStyleLbl="parChTrans1D2" presStyleIdx="2" presStyleCnt="4"/>
      <dgm:spPr/>
    </dgm:pt>
    <dgm:pt modelId="{6FEE85B2-F77B-4153-990D-50FB6AAED543}" type="pres">
      <dgm:prSet presAssocID="{F6A583E2-EBDE-4BF3-9CE1-3A7B53C43AFD}" presName="childText" presStyleLbl="bgAcc1" presStyleIdx="2" presStyleCnt="4" custScaleX="117100" custLinFactNeighborX="36752" custLinFactNeighborY="-19583">
        <dgm:presLayoutVars>
          <dgm:bulletEnabled val="1"/>
        </dgm:presLayoutVars>
      </dgm:prSet>
      <dgm:spPr/>
    </dgm:pt>
    <dgm:pt modelId="{A2E2C50A-E8F2-4C6E-BA1D-6348BF3DF6D3}" type="pres">
      <dgm:prSet presAssocID="{229E5734-F3BC-4C73-8343-541095489A42}" presName="Name13" presStyleLbl="parChTrans1D2" presStyleIdx="3" presStyleCnt="4"/>
      <dgm:spPr/>
    </dgm:pt>
    <dgm:pt modelId="{0A2F8FCF-2000-4593-8C8A-DD1ECD34625E}" type="pres">
      <dgm:prSet presAssocID="{9FAD1F0C-1BC1-4704-9ED4-7AB9156A66FE}" presName="childText" presStyleLbl="bgAcc1" presStyleIdx="3" presStyleCnt="4" custScaleX="138811" custScaleY="88597" custLinFactNeighborX="30065" custLinFactNeighborY="-16937">
        <dgm:presLayoutVars>
          <dgm:bulletEnabled val="1"/>
        </dgm:presLayoutVars>
      </dgm:prSet>
      <dgm:spPr/>
    </dgm:pt>
  </dgm:ptLst>
  <dgm:cxnLst>
    <dgm:cxn modelId="{7C2ABB1A-643D-4B01-9C5E-A2188C0BE7EC}" type="presOf" srcId="{154AD832-6E8C-4E25-877A-CD512242D632}" destId="{F39BFC7F-253D-491F-9478-356526C79552}" srcOrd="0" destOrd="0" presId="urn:microsoft.com/office/officeart/2005/8/layout/hierarchy3"/>
    <dgm:cxn modelId="{81B2802B-1715-4DBE-B0A2-1AE1C03BCF9D}" type="presOf" srcId="{CCCE70D0-ADF8-447D-9AA1-89D2B154EDEB}" destId="{6914B2C8-98DF-49C0-9817-74A61216AB41}" srcOrd="0" destOrd="0" presId="urn:microsoft.com/office/officeart/2005/8/layout/hierarchy3"/>
    <dgm:cxn modelId="{A402963B-1B80-4D55-8904-2B1AAE61FAF8}" type="presOf" srcId="{DD53ACCC-1EF9-4359-B23E-431FA5081EF3}" destId="{93BCD6A1-C4F9-4DA8-BF36-73A178D0B0BE}" srcOrd="0" destOrd="0" presId="urn:microsoft.com/office/officeart/2005/8/layout/hierarchy3"/>
    <dgm:cxn modelId="{1B88435C-E6E4-46EE-B15D-B9696A8A1CB1}" type="presOf" srcId="{ED781264-DC17-4E12-B042-205D05FD3DBA}" destId="{7AE9914D-D62C-4E74-A1F0-D1DCD6EAE3BC}" srcOrd="0" destOrd="0" presId="urn:microsoft.com/office/officeart/2005/8/layout/hierarchy3"/>
    <dgm:cxn modelId="{38F4C463-4DC0-4621-83B9-0C5E80A2309D}" type="presOf" srcId="{4DD5A100-970A-45EC-8E53-417D6BCB3711}" destId="{20CE8DF7-B04E-44EE-B280-593A2177187B}" srcOrd="0" destOrd="0" presId="urn:microsoft.com/office/officeart/2005/8/layout/hierarchy3"/>
    <dgm:cxn modelId="{239E2F46-2FFD-4F2D-B8E0-B0A7B7E6D5EF}" type="presOf" srcId="{4DD5A100-970A-45EC-8E53-417D6BCB3711}" destId="{CB1E0184-CFF7-4AF6-BC92-E49D344F652D}" srcOrd="1" destOrd="0" presId="urn:microsoft.com/office/officeart/2005/8/layout/hierarchy3"/>
    <dgm:cxn modelId="{025BF34E-4C61-4221-84D6-3542B3E3E167}" srcId="{CCCE70D0-ADF8-447D-9AA1-89D2B154EDEB}" destId="{4DD5A100-970A-45EC-8E53-417D6BCB3711}" srcOrd="1" destOrd="0" parTransId="{3AB98DE1-1C96-4859-8CC7-11FB68882DC2}" sibTransId="{CAEF966D-F08E-4C80-ADFA-E7587784E8DA}"/>
    <dgm:cxn modelId="{8871187A-4943-480A-B4AB-12349310B99E}" srcId="{CCCE70D0-ADF8-447D-9AA1-89D2B154EDEB}" destId="{ED781264-DC17-4E12-B042-205D05FD3DBA}" srcOrd="0" destOrd="0" parTransId="{57EF21DB-1FAA-4337-9F8A-F434FD54F117}" sibTransId="{86962253-CC84-4E50-BF64-02B73FD99B6A}"/>
    <dgm:cxn modelId="{8B9D287A-AB4A-4B80-AE87-42D2D1183026}" type="presOf" srcId="{CBEB71EC-A500-4497-BC3E-1FE4CB51DCAF}" destId="{777567FA-F748-408D-8DBA-71A600565EC0}" srcOrd="0" destOrd="0" presId="urn:microsoft.com/office/officeart/2005/8/layout/hierarchy3"/>
    <dgm:cxn modelId="{05536F87-9678-40BF-88DC-D000EF52286E}" type="presOf" srcId="{F6A583E2-EBDE-4BF3-9CE1-3A7B53C43AFD}" destId="{6FEE85B2-F77B-4153-990D-50FB6AAED543}" srcOrd="0" destOrd="0" presId="urn:microsoft.com/office/officeart/2005/8/layout/hierarchy3"/>
    <dgm:cxn modelId="{68A74B8B-DAD7-41C7-9B28-55F21E651B8A}" srcId="{ED781264-DC17-4E12-B042-205D05FD3DBA}" destId="{6397D6C9-4528-4A91-B922-3D9CA9CD00E2}" srcOrd="0" destOrd="0" parTransId="{CBEB71EC-A500-4497-BC3E-1FE4CB51DCAF}" sibTransId="{68A2F495-20F8-43B2-A6AC-56BA317156F9}"/>
    <dgm:cxn modelId="{C17DC5A1-DF71-4F2B-8BC3-C89F2BE2EEA9}" srcId="{4DD5A100-970A-45EC-8E53-417D6BCB3711}" destId="{DD53ACCC-1EF9-4359-B23E-431FA5081EF3}" srcOrd="0" destOrd="0" parTransId="{337DA144-A09A-462F-BF73-936B82A94997}" sibTransId="{248A8B27-BB8B-406D-9715-385BCDEC3FA9}"/>
    <dgm:cxn modelId="{27B07EA6-7DC3-4852-AB4F-558C44FBA164}" type="presOf" srcId="{6397D6C9-4528-4A91-B922-3D9CA9CD00E2}" destId="{C4A19E1D-674D-481D-92A9-68A4A74048AC}" srcOrd="0" destOrd="0" presId="urn:microsoft.com/office/officeart/2005/8/layout/hierarchy3"/>
    <dgm:cxn modelId="{A5C974C2-2EB6-4D23-8851-08BF5A276C61}" type="presOf" srcId="{337DA144-A09A-462F-BF73-936B82A94997}" destId="{6D444E9F-6552-4BA1-9CA5-CB46A42ADBF6}" srcOrd="0" destOrd="0" presId="urn:microsoft.com/office/officeart/2005/8/layout/hierarchy3"/>
    <dgm:cxn modelId="{61CDB9CB-7B1E-4FFE-AAF2-0F4583DDAC29}" srcId="{4DD5A100-970A-45EC-8E53-417D6BCB3711}" destId="{F6A583E2-EBDE-4BF3-9CE1-3A7B53C43AFD}" srcOrd="1" destOrd="0" parTransId="{154AD832-6E8C-4E25-877A-CD512242D632}" sibTransId="{6009EE90-906D-4416-B619-E3CE92C2D390}"/>
    <dgm:cxn modelId="{C74922E9-7DF8-4841-B4DC-9DDF82E30B54}" srcId="{4DD5A100-970A-45EC-8E53-417D6BCB3711}" destId="{9FAD1F0C-1BC1-4704-9ED4-7AB9156A66FE}" srcOrd="2" destOrd="0" parTransId="{229E5734-F3BC-4C73-8343-541095489A42}" sibTransId="{2276750F-DBD3-4F40-AA7C-F538E4CC4C3B}"/>
    <dgm:cxn modelId="{C7A46BF5-ABD9-4A11-8432-610FA16E0950}" type="presOf" srcId="{9FAD1F0C-1BC1-4704-9ED4-7AB9156A66FE}" destId="{0A2F8FCF-2000-4593-8C8A-DD1ECD34625E}" srcOrd="0" destOrd="0" presId="urn:microsoft.com/office/officeart/2005/8/layout/hierarchy3"/>
    <dgm:cxn modelId="{B97D8DF7-D56B-4858-8925-6C9C4B374CEA}" type="presOf" srcId="{229E5734-F3BC-4C73-8343-541095489A42}" destId="{A2E2C50A-E8F2-4C6E-BA1D-6348BF3DF6D3}" srcOrd="0" destOrd="0" presId="urn:microsoft.com/office/officeart/2005/8/layout/hierarchy3"/>
    <dgm:cxn modelId="{3D1E20FC-BA09-4ACC-AA20-FCFEDE21C2DE}" type="presOf" srcId="{ED781264-DC17-4E12-B042-205D05FD3DBA}" destId="{5F92AB12-0440-4F5F-AD53-A3B17F4179DE}" srcOrd="1" destOrd="0" presId="urn:microsoft.com/office/officeart/2005/8/layout/hierarchy3"/>
    <dgm:cxn modelId="{A028ACAF-4A2A-4649-9848-A248746DD246}" type="presParOf" srcId="{6914B2C8-98DF-49C0-9817-74A61216AB41}" destId="{3E460324-1341-4609-BE6E-7C8BD3DE020C}" srcOrd="0" destOrd="0" presId="urn:microsoft.com/office/officeart/2005/8/layout/hierarchy3"/>
    <dgm:cxn modelId="{84E30F9C-3D6A-475C-AC06-A1F846D1A9AB}" type="presParOf" srcId="{3E460324-1341-4609-BE6E-7C8BD3DE020C}" destId="{3F072588-E9C9-491F-8C88-FBAD3FDDEA82}" srcOrd="0" destOrd="0" presId="urn:microsoft.com/office/officeart/2005/8/layout/hierarchy3"/>
    <dgm:cxn modelId="{E347DAA5-3CDE-4B32-84CD-19C08C65FDA4}" type="presParOf" srcId="{3F072588-E9C9-491F-8C88-FBAD3FDDEA82}" destId="{7AE9914D-D62C-4E74-A1F0-D1DCD6EAE3BC}" srcOrd="0" destOrd="0" presId="urn:microsoft.com/office/officeart/2005/8/layout/hierarchy3"/>
    <dgm:cxn modelId="{31871C8F-05DD-4B11-8A21-494F84363FE5}" type="presParOf" srcId="{3F072588-E9C9-491F-8C88-FBAD3FDDEA82}" destId="{5F92AB12-0440-4F5F-AD53-A3B17F4179DE}" srcOrd="1" destOrd="0" presId="urn:microsoft.com/office/officeart/2005/8/layout/hierarchy3"/>
    <dgm:cxn modelId="{0CC21411-B5B7-48A2-A843-BE6419E9D005}" type="presParOf" srcId="{3E460324-1341-4609-BE6E-7C8BD3DE020C}" destId="{514041AE-C50A-4C5A-BBBE-F9B097A7401E}" srcOrd="1" destOrd="0" presId="urn:microsoft.com/office/officeart/2005/8/layout/hierarchy3"/>
    <dgm:cxn modelId="{81EB0C66-042F-4029-9BAC-EE01AF7AE8FD}" type="presParOf" srcId="{514041AE-C50A-4C5A-BBBE-F9B097A7401E}" destId="{777567FA-F748-408D-8DBA-71A600565EC0}" srcOrd="0" destOrd="0" presId="urn:microsoft.com/office/officeart/2005/8/layout/hierarchy3"/>
    <dgm:cxn modelId="{4153A2AC-BFCE-4F64-952A-CC26FAB49BE5}" type="presParOf" srcId="{514041AE-C50A-4C5A-BBBE-F9B097A7401E}" destId="{C4A19E1D-674D-481D-92A9-68A4A74048AC}" srcOrd="1" destOrd="0" presId="urn:microsoft.com/office/officeart/2005/8/layout/hierarchy3"/>
    <dgm:cxn modelId="{9C5ED0BB-AFD3-47C6-BFD2-C81790A0F60C}" type="presParOf" srcId="{6914B2C8-98DF-49C0-9817-74A61216AB41}" destId="{BCC4F08F-8EF2-4AE5-9427-32A6F5D64052}" srcOrd="1" destOrd="0" presId="urn:microsoft.com/office/officeart/2005/8/layout/hierarchy3"/>
    <dgm:cxn modelId="{0297DE92-AFF7-4656-8608-E8997CAEB111}" type="presParOf" srcId="{BCC4F08F-8EF2-4AE5-9427-32A6F5D64052}" destId="{098B81EE-7070-4646-97F0-CD4DC947EB3F}" srcOrd="0" destOrd="0" presId="urn:microsoft.com/office/officeart/2005/8/layout/hierarchy3"/>
    <dgm:cxn modelId="{4B120451-30FB-4207-9F36-9CC0CC922879}" type="presParOf" srcId="{098B81EE-7070-4646-97F0-CD4DC947EB3F}" destId="{20CE8DF7-B04E-44EE-B280-593A2177187B}" srcOrd="0" destOrd="0" presId="urn:microsoft.com/office/officeart/2005/8/layout/hierarchy3"/>
    <dgm:cxn modelId="{0915F574-9292-4963-BCF3-D2AE14B2848A}" type="presParOf" srcId="{098B81EE-7070-4646-97F0-CD4DC947EB3F}" destId="{CB1E0184-CFF7-4AF6-BC92-E49D344F652D}" srcOrd="1" destOrd="0" presId="urn:microsoft.com/office/officeart/2005/8/layout/hierarchy3"/>
    <dgm:cxn modelId="{30791AF9-3C85-4B0D-B3C0-A52B5FFC0752}" type="presParOf" srcId="{BCC4F08F-8EF2-4AE5-9427-32A6F5D64052}" destId="{DC8E1555-BA71-4394-8FEB-1C9974C7B352}" srcOrd="1" destOrd="0" presId="urn:microsoft.com/office/officeart/2005/8/layout/hierarchy3"/>
    <dgm:cxn modelId="{79E1BDE2-1BB6-49E8-AB00-7CDD3FE475CE}" type="presParOf" srcId="{DC8E1555-BA71-4394-8FEB-1C9974C7B352}" destId="{6D444E9F-6552-4BA1-9CA5-CB46A42ADBF6}" srcOrd="0" destOrd="0" presId="urn:microsoft.com/office/officeart/2005/8/layout/hierarchy3"/>
    <dgm:cxn modelId="{3D001E88-42B6-4492-A1DA-F4B4107F54CB}" type="presParOf" srcId="{DC8E1555-BA71-4394-8FEB-1C9974C7B352}" destId="{93BCD6A1-C4F9-4DA8-BF36-73A178D0B0BE}" srcOrd="1" destOrd="0" presId="urn:microsoft.com/office/officeart/2005/8/layout/hierarchy3"/>
    <dgm:cxn modelId="{CD5A16E0-C3FB-491C-8C8C-9D8E3FEE3F6B}" type="presParOf" srcId="{DC8E1555-BA71-4394-8FEB-1C9974C7B352}" destId="{F39BFC7F-253D-491F-9478-356526C79552}" srcOrd="2" destOrd="0" presId="urn:microsoft.com/office/officeart/2005/8/layout/hierarchy3"/>
    <dgm:cxn modelId="{96FA984A-B83A-42C6-B6D6-DD5BB9AF46D5}" type="presParOf" srcId="{DC8E1555-BA71-4394-8FEB-1C9974C7B352}" destId="{6FEE85B2-F77B-4153-990D-50FB6AAED543}" srcOrd="3" destOrd="0" presId="urn:microsoft.com/office/officeart/2005/8/layout/hierarchy3"/>
    <dgm:cxn modelId="{09ECD1DF-B153-4769-ABC4-EE350E3DADE9}" type="presParOf" srcId="{DC8E1555-BA71-4394-8FEB-1C9974C7B352}" destId="{A2E2C50A-E8F2-4C6E-BA1D-6348BF3DF6D3}" srcOrd="4" destOrd="0" presId="urn:microsoft.com/office/officeart/2005/8/layout/hierarchy3"/>
    <dgm:cxn modelId="{A1D181D3-9A63-422E-A412-72E5575AF294}" type="presParOf" srcId="{DC8E1555-BA71-4394-8FEB-1C9974C7B352}" destId="{0A2F8FCF-2000-4593-8C8A-DD1ECD34625E}"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F68980-392D-4155-B962-15827B771E61}" type="doc">
      <dgm:prSet loTypeId="urn:microsoft.com/office/officeart/2008/layout/AscendingPictureAccentProcess" loCatId="process" qsTypeId="urn:microsoft.com/office/officeart/2005/8/quickstyle/simple1" qsCatId="simple" csTypeId="urn:microsoft.com/office/officeart/2005/8/colors/accent3_5" csCatId="accent3" phldr="1"/>
      <dgm:spPr/>
      <dgm:t>
        <a:bodyPr/>
        <a:lstStyle/>
        <a:p>
          <a:endParaRPr lang="es-VE"/>
        </a:p>
      </dgm:t>
    </dgm:pt>
    <dgm:pt modelId="{F81EE48E-02E0-4470-A117-006A85504456}">
      <dgm:prSet phldrT="[Texto]" custT="1"/>
      <dgm:spPr/>
      <dgm:t>
        <a:bodyPr/>
        <a:lstStyle/>
        <a:p>
          <a:pPr algn="just"/>
          <a:r>
            <a:rPr lang="es-ES" sz="1400" dirty="0">
              <a:solidFill>
                <a:schemeClr val="tx1"/>
              </a:solidFill>
            </a:rPr>
            <a:t>Ser la agencia nro. (1) la que resuelve todas las necesidades financieras de nuestros clientes, entregándoles la mejor experiencia personal y digital sustentada en nuestra capacidad de conocerlos y personalizando el servicio que les entregamos.</a:t>
          </a:r>
          <a:endParaRPr lang="es-VE" sz="1400" dirty="0">
            <a:solidFill>
              <a:schemeClr val="tx1"/>
            </a:solidFill>
          </a:endParaRPr>
        </a:p>
      </dgm:t>
    </dgm:pt>
    <dgm:pt modelId="{3FC3FBE6-E217-42C4-B23C-7CCE34AEB834}" type="parTrans" cxnId="{6BDD757C-6945-41EB-974C-D469EADBEB4E}">
      <dgm:prSet/>
      <dgm:spPr/>
      <dgm:t>
        <a:bodyPr/>
        <a:lstStyle/>
        <a:p>
          <a:endParaRPr lang="es-VE"/>
        </a:p>
      </dgm:t>
    </dgm:pt>
    <dgm:pt modelId="{CA762828-D86B-4626-9C01-B176B2E274B7}" type="sibTrans" cxnId="{6BDD757C-6945-41EB-974C-D469EADBEB4E}">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t>
        <a:bodyPr/>
        <a:lstStyle/>
        <a:p>
          <a:endParaRPr lang="es-VE"/>
        </a:p>
      </dgm:t>
    </dgm:pt>
    <dgm:pt modelId="{419CCF29-FF56-47D3-B8DC-1F4AB97C6FB8}">
      <dgm:prSet phldrT="[Texto]" custT="1"/>
      <dgm:spPr/>
      <dgm:t>
        <a:bodyPr/>
        <a:lstStyle/>
        <a:p>
          <a:pPr algn="just"/>
          <a:r>
            <a:rPr lang="es-ES" sz="1400" dirty="0">
              <a:solidFill>
                <a:schemeClr val="tx1"/>
              </a:solidFill>
            </a:rPr>
            <a:t>Brindar una atención de calidad a los clientes y tratando de captar , </a:t>
          </a:r>
          <a:r>
            <a:rPr lang="es-ES" sz="1400" u="none" dirty="0">
              <a:solidFill>
                <a:schemeClr val="tx1"/>
              </a:solidFill>
            </a:rPr>
            <a:t>pr</a:t>
          </a:r>
          <a:r>
            <a:rPr lang="es-ES" sz="1400" u="none" dirty="0">
              <a:solidFill>
                <a:schemeClr val="tx1"/>
              </a:solidFill>
              <a:hlinkClick xmlns:r="http://schemas.openxmlformats.org/officeDocument/2006/relationships" r:id="rId2" tooltip="recursos económicos">
                <a:extLst>
                  <a:ext uri="{A12FA001-AC4F-418D-AE19-62706E023703}">
                    <ahyp:hlinkClr xmlns:ahyp="http://schemas.microsoft.com/office/drawing/2018/hyperlinkcolor" val="tx"/>
                  </a:ext>
                </a:extLst>
              </a:hlinkClick>
            </a:rPr>
            <a:t>e</a:t>
          </a:r>
          <a:r>
            <a:rPr lang="es-ES" sz="1400" u="none" dirty="0">
              <a:solidFill>
                <a:schemeClr val="tx1"/>
              </a:solidFill>
            </a:rPr>
            <a:t>star, recursos económicos, manifestados en depósito </a:t>
          </a:r>
          <a:r>
            <a:rPr lang="es-ES" sz="1400" dirty="0">
              <a:solidFill>
                <a:schemeClr val="tx1"/>
              </a:solidFill>
            </a:rPr>
            <a:t>clientes, prestamos y facilitando la financiación de actividades comerciales entre partes. </a:t>
          </a:r>
          <a:endParaRPr lang="es-VE" sz="1400" dirty="0">
            <a:solidFill>
              <a:schemeClr val="tx1"/>
            </a:solidFill>
          </a:endParaRPr>
        </a:p>
      </dgm:t>
    </dgm:pt>
    <dgm:pt modelId="{5DDA2FC7-FAAE-47EB-9EEA-5C92CBAF904B}" type="parTrans" cxnId="{9014E12A-7C4D-4515-8C6F-122CD45250E4}">
      <dgm:prSet/>
      <dgm:spPr/>
      <dgm:t>
        <a:bodyPr/>
        <a:lstStyle/>
        <a:p>
          <a:endParaRPr lang="es-VE"/>
        </a:p>
      </dgm:t>
    </dgm:pt>
    <dgm:pt modelId="{11885610-7AAE-440B-862C-21990DD9B8D6}" type="sibTrans" cxnId="{9014E12A-7C4D-4515-8C6F-122CD45250E4}">
      <dgm:prSet/>
      <dgm:spPr>
        <a:blipFill>
          <a:blip xmlns:r="http://schemas.openxmlformats.org/officeDocument/2006/relationships" r:embed="rId3">
            <a:extLst>
              <a:ext uri="{28A0092B-C50C-407E-A947-70E740481C1C}">
                <a14:useLocalDpi xmlns:a14="http://schemas.microsoft.com/office/drawing/2010/main" val="0"/>
              </a:ext>
            </a:extLst>
          </a:blip>
          <a:srcRect/>
          <a:stretch>
            <a:fillRect l="-31000" r="-31000"/>
          </a:stretch>
        </a:blipFill>
      </dgm:spPr>
      <dgm:t>
        <a:bodyPr/>
        <a:lstStyle/>
        <a:p>
          <a:endParaRPr lang="es-VE">
            <a:solidFill>
              <a:schemeClr val="tx1"/>
            </a:solidFill>
          </a:endParaRPr>
        </a:p>
      </dgm:t>
    </dgm:pt>
    <dgm:pt modelId="{569A3C7A-EF04-4947-B77A-2591000C0DE2}" type="pres">
      <dgm:prSet presAssocID="{BDF68980-392D-4155-B962-15827B771E61}" presName="Name0" presStyleCnt="0">
        <dgm:presLayoutVars>
          <dgm:chMax val="7"/>
          <dgm:chPref val="7"/>
          <dgm:dir/>
        </dgm:presLayoutVars>
      </dgm:prSet>
      <dgm:spPr/>
    </dgm:pt>
    <dgm:pt modelId="{BF2A3EFC-A96F-4FE7-91A2-9EAAB9CC735C}" type="pres">
      <dgm:prSet presAssocID="{BDF68980-392D-4155-B962-15827B771E61}" presName="dot1" presStyleLbl="alignNode1" presStyleIdx="0" presStyleCnt="10"/>
      <dgm:spPr/>
    </dgm:pt>
    <dgm:pt modelId="{0D87AA0D-634E-40CC-A848-5456F5F0655D}" type="pres">
      <dgm:prSet presAssocID="{BDF68980-392D-4155-B962-15827B771E61}" presName="dot2" presStyleLbl="alignNode1" presStyleIdx="1" presStyleCnt="10"/>
      <dgm:spPr/>
    </dgm:pt>
    <dgm:pt modelId="{9A861F17-54B3-4B8E-8059-07C0F0F1304D}" type="pres">
      <dgm:prSet presAssocID="{BDF68980-392D-4155-B962-15827B771E61}" presName="dot3" presStyleLbl="alignNode1" presStyleIdx="2" presStyleCnt="10" custLinFactX="-72774" custLinFactY="100000" custLinFactNeighborX="-100000" custLinFactNeighborY="183357"/>
      <dgm:spPr/>
    </dgm:pt>
    <dgm:pt modelId="{6197B98C-7458-47FC-90AF-682D422E65E5}" type="pres">
      <dgm:prSet presAssocID="{BDF68980-392D-4155-B962-15827B771E61}" presName="dotArrow1" presStyleLbl="alignNode1" presStyleIdx="3" presStyleCnt="10"/>
      <dgm:spPr/>
    </dgm:pt>
    <dgm:pt modelId="{3BE88195-8195-4333-9ED4-9A5DAEAB3B35}" type="pres">
      <dgm:prSet presAssocID="{BDF68980-392D-4155-B962-15827B771E61}" presName="dotArrow2" presStyleLbl="alignNode1" presStyleIdx="4" presStyleCnt="10"/>
      <dgm:spPr/>
    </dgm:pt>
    <dgm:pt modelId="{FED996B3-667E-47B2-B879-1E744F46D51E}" type="pres">
      <dgm:prSet presAssocID="{BDF68980-392D-4155-B962-15827B771E61}" presName="dotArrow3" presStyleLbl="alignNode1" presStyleIdx="5" presStyleCnt="10"/>
      <dgm:spPr/>
    </dgm:pt>
    <dgm:pt modelId="{051E05F9-8C83-4B15-8A35-DA3671FE63A8}" type="pres">
      <dgm:prSet presAssocID="{BDF68980-392D-4155-B962-15827B771E61}" presName="dotArrow4" presStyleLbl="alignNode1" presStyleIdx="6" presStyleCnt="10"/>
      <dgm:spPr/>
    </dgm:pt>
    <dgm:pt modelId="{37ACE94D-62FF-49D7-9051-D8961352A3E1}" type="pres">
      <dgm:prSet presAssocID="{BDF68980-392D-4155-B962-15827B771E61}" presName="dotArrow5" presStyleLbl="alignNode1" presStyleIdx="7" presStyleCnt="10"/>
      <dgm:spPr/>
    </dgm:pt>
    <dgm:pt modelId="{D168921C-48A1-47F2-AF82-B4F279AFF13B}" type="pres">
      <dgm:prSet presAssocID="{BDF68980-392D-4155-B962-15827B771E61}" presName="dotArrow6" presStyleLbl="alignNode1" presStyleIdx="8" presStyleCnt="10"/>
      <dgm:spPr/>
    </dgm:pt>
    <dgm:pt modelId="{102AD67E-43CC-4239-BF49-BD422D00393C}" type="pres">
      <dgm:prSet presAssocID="{BDF68980-392D-4155-B962-15827B771E61}" presName="dotArrow7" presStyleLbl="alignNode1" presStyleIdx="9" presStyleCnt="10"/>
      <dgm:spPr/>
    </dgm:pt>
    <dgm:pt modelId="{72F054B0-E247-473F-A595-048A8FE28C9F}" type="pres">
      <dgm:prSet presAssocID="{F81EE48E-02E0-4470-A117-006A85504456}" presName="parTx1" presStyleLbl="node1" presStyleIdx="0" presStyleCnt="2" custScaleX="147673" custScaleY="246998" custLinFactNeighborX="50348" custLinFactNeighborY="52018"/>
      <dgm:spPr/>
    </dgm:pt>
    <dgm:pt modelId="{723FC1A8-DEFC-4CF3-89C5-5E5A126DC0C4}" type="pres">
      <dgm:prSet presAssocID="{CA762828-D86B-4626-9C01-B176B2E274B7}" presName="picture1" presStyleCnt="0"/>
      <dgm:spPr/>
    </dgm:pt>
    <dgm:pt modelId="{2D7B941F-F6AC-4F24-8777-6F8E8D88135B}" type="pres">
      <dgm:prSet presAssocID="{CA762828-D86B-4626-9C01-B176B2E274B7}" presName="imageRepeatNode" presStyleLbl="fgImgPlace1" presStyleIdx="0" presStyleCnt="2" custLinFactNeighborX="23116" custLinFactNeighborY="-11158"/>
      <dgm:spPr/>
    </dgm:pt>
    <dgm:pt modelId="{6784BD07-1C63-415E-BB3C-4CB664E0060F}" type="pres">
      <dgm:prSet presAssocID="{419CCF29-FF56-47D3-B8DC-1F4AB97C6FB8}" presName="parTx2" presStyleLbl="node1" presStyleIdx="1" presStyleCnt="2" custScaleX="142722" custScaleY="205254" custLinFactNeighborX="26202" custLinFactNeighborY="-23857"/>
      <dgm:spPr/>
    </dgm:pt>
    <dgm:pt modelId="{606E0D92-6931-4CA9-9CD9-D69F4D5FB247}" type="pres">
      <dgm:prSet presAssocID="{11885610-7AAE-440B-862C-21990DD9B8D6}" presName="picture2" presStyleCnt="0"/>
      <dgm:spPr/>
    </dgm:pt>
    <dgm:pt modelId="{184168B8-1485-45BC-A0E8-BCD74D94194F}" type="pres">
      <dgm:prSet presAssocID="{11885610-7AAE-440B-862C-21990DD9B8D6}" presName="imageRepeatNode" presStyleLbl="fgImgPlace1" presStyleIdx="1" presStyleCnt="2" custScaleX="122339" custScaleY="95151" custLinFactNeighborX="-2926" custLinFactNeighborY="3193"/>
      <dgm:spPr/>
    </dgm:pt>
  </dgm:ptLst>
  <dgm:cxnLst>
    <dgm:cxn modelId="{9014E12A-7C4D-4515-8C6F-122CD45250E4}" srcId="{BDF68980-392D-4155-B962-15827B771E61}" destId="{419CCF29-FF56-47D3-B8DC-1F4AB97C6FB8}" srcOrd="1" destOrd="0" parTransId="{5DDA2FC7-FAAE-47EB-9EEA-5C92CBAF904B}" sibTransId="{11885610-7AAE-440B-862C-21990DD9B8D6}"/>
    <dgm:cxn modelId="{EA8FAC43-BA90-4FA8-8C5D-DDEBCE96A02C}" type="presOf" srcId="{F81EE48E-02E0-4470-A117-006A85504456}" destId="{72F054B0-E247-473F-A595-048A8FE28C9F}" srcOrd="0" destOrd="0" presId="urn:microsoft.com/office/officeart/2008/layout/AscendingPictureAccentProcess"/>
    <dgm:cxn modelId="{6BDD757C-6945-41EB-974C-D469EADBEB4E}" srcId="{BDF68980-392D-4155-B962-15827B771E61}" destId="{F81EE48E-02E0-4470-A117-006A85504456}" srcOrd="0" destOrd="0" parTransId="{3FC3FBE6-E217-42C4-B23C-7CCE34AEB834}" sibTransId="{CA762828-D86B-4626-9C01-B176B2E274B7}"/>
    <dgm:cxn modelId="{3900EA88-17BA-4692-9634-0BAF2E5D49D9}" type="presOf" srcId="{CA762828-D86B-4626-9C01-B176B2E274B7}" destId="{2D7B941F-F6AC-4F24-8777-6F8E8D88135B}" srcOrd="0" destOrd="0" presId="urn:microsoft.com/office/officeart/2008/layout/AscendingPictureAccentProcess"/>
    <dgm:cxn modelId="{0428599D-37FB-44CB-8E46-255C7840E98C}" type="presOf" srcId="{11885610-7AAE-440B-862C-21990DD9B8D6}" destId="{184168B8-1485-45BC-A0E8-BCD74D94194F}" srcOrd="0" destOrd="0" presId="urn:microsoft.com/office/officeart/2008/layout/AscendingPictureAccentProcess"/>
    <dgm:cxn modelId="{045BBBAB-0216-480D-AE13-8AE7A11DFC01}" type="presOf" srcId="{419CCF29-FF56-47D3-B8DC-1F4AB97C6FB8}" destId="{6784BD07-1C63-415E-BB3C-4CB664E0060F}" srcOrd="0" destOrd="0" presId="urn:microsoft.com/office/officeart/2008/layout/AscendingPictureAccentProcess"/>
    <dgm:cxn modelId="{411831D6-E1E9-4508-9157-86B57650C362}" type="presOf" srcId="{BDF68980-392D-4155-B962-15827B771E61}" destId="{569A3C7A-EF04-4947-B77A-2591000C0DE2}" srcOrd="0" destOrd="0" presId="urn:microsoft.com/office/officeart/2008/layout/AscendingPictureAccentProcess"/>
    <dgm:cxn modelId="{DEAC4314-F35C-41BE-A156-1EE0EEFA5770}" type="presParOf" srcId="{569A3C7A-EF04-4947-B77A-2591000C0DE2}" destId="{BF2A3EFC-A96F-4FE7-91A2-9EAAB9CC735C}" srcOrd="0" destOrd="0" presId="urn:microsoft.com/office/officeart/2008/layout/AscendingPictureAccentProcess"/>
    <dgm:cxn modelId="{430CB790-220C-4ED7-B523-D5B6B05AE7CC}" type="presParOf" srcId="{569A3C7A-EF04-4947-B77A-2591000C0DE2}" destId="{0D87AA0D-634E-40CC-A848-5456F5F0655D}" srcOrd="1" destOrd="0" presId="urn:microsoft.com/office/officeart/2008/layout/AscendingPictureAccentProcess"/>
    <dgm:cxn modelId="{56D0E30C-F5E5-4A48-9AA6-16441099A400}" type="presParOf" srcId="{569A3C7A-EF04-4947-B77A-2591000C0DE2}" destId="{9A861F17-54B3-4B8E-8059-07C0F0F1304D}" srcOrd="2" destOrd="0" presId="urn:microsoft.com/office/officeart/2008/layout/AscendingPictureAccentProcess"/>
    <dgm:cxn modelId="{8C23F77C-A8FF-43BA-AEFA-6D93620337E8}" type="presParOf" srcId="{569A3C7A-EF04-4947-B77A-2591000C0DE2}" destId="{6197B98C-7458-47FC-90AF-682D422E65E5}" srcOrd="3" destOrd="0" presId="urn:microsoft.com/office/officeart/2008/layout/AscendingPictureAccentProcess"/>
    <dgm:cxn modelId="{B0E1F157-A97B-42FE-AA27-451C4D366E07}" type="presParOf" srcId="{569A3C7A-EF04-4947-B77A-2591000C0DE2}" destId="{3BE88195-8195-4333-9ED4-9A5DAEAB3B35}" srcOrd="4" destOrd="0" presId="urn:microsoft.com/office/officeart/2008/layout/AscendingPictureAccentProcess"/>
    <dgm:cxn modelId="{8F383263-2033-4738-AFB1-9D33C30395AD}" type="presParOf" srcId="{569A3C7A-EF04-4947-B77A-2591000C0DE2}" destId="{FED996B3-667E-47B2-B879-1E744F46D51E}" srcOrd="5" destOrd="0" presId="urn:microsoft.com/office/officeart/2008/layout/AscendingPictureAccentProcess"/>
    <dgm:cxn modelId="{D7830863-181C-4BBB-9F6D-16EEC817D18E}" type="presParOf" srcId="{569A3C7A-EF04-4947-B77A-2591000C0DE2}" destId="{051E05F9-8C83-4B15-8A35-DA3671FE63A8}" srcOrd="6" destOrd="0" presId="urn:microsoft.com/office/officeart/2008/layout/AscendingPictureAccentProcess"/>
    <dgm:cxn modelId="{B45F855A-3C94-47C1-A659-A7CF805560CE}" type="presParOf" srcId="{569A3C7A-EF04-4947-B77A-2591000C0DE2}" destId="{37ACE94D-62FF-49D7-9051-D8961352A3E1}" srcOrd="7" destOrd="0" presId="urn:microsoft.com/office/officeart/2008/layout/AscendingPictureAccentProcess"/>
    <dgm:cxn modelId="{3341B5DA-99EC-4DE0-911E-FC26D8795EAF}" type="presParOf" srcId="{569A3C7A-EF04-4947-B77A-2591000C0DE2}" destId="{D168921C-48A1-47F2-AF82-B4F279AFF13B}" srcOrd="8" destOrd="0" presId="urn:microsoft.com/office/officeart/2008/layout/AscendingPictureAccentProcess"/>
    <dgm:cxn modelId="{E1F7AAE7-4FB0-4A58-9535-CE418C69A371}" type="presParOf" srcId="{569A3C7A-EF04-4947-B77A-2591000C0DE2}" destId="{102AD67E-43CC-4239-BF49-BD422D00393C}" srcOrd="9" destOrd="0" presId="urn:microsoft.com/office/officeart/2008/layout/AscendingPictureAccentProcess"/>
    <dgm:cxn modelId="{CFDF552B-09F6-4483-8976-AFEE239F252E}" type="presParOf" srcId="{569A3C7A-EF04-4947-B77A-2591000C0DE2}" destId="{72F054B0-E247-473F-A595-048A8FE28C9F}" srcOrd="10" destOrd="0" presId="urn:microsoft.com/office/officeart/2008/layout/AscendingPictureAccentProcess"/>
    <dgm:cxn modelId="{BF5C569A-EAC6-416E-B302-D6C4713A1275}" type="presParOf" srcId="{569A3C7A-EF04-4947-B77A-2591000C0DE2}" destId="{723FC1A8-DEFC-4CF3-89C5-5E5A126DC0C4}" srcOrd="11" destOrd="0" presId="urn:microsoft.com/office/officeart/2008/layout/AscendingPictureAccentProcess"/>
    <dgm:cxn modelId="{C586B699-1084-41F2-8324-569EBDC1AF70}" type="presParOf" srcId="{723FC1A8-DEFC-4CF3-89C5-5E5A126DC0C4}" destId="{2D7B941F-F6AC-4F24-8777-6F8E8D88135B}" srcOrd="0" destOrd="0" presId="urn:microsoft.com/office/officeart/2008/layout/AscendingPictureAccentProcess"/>
    <dgm:cxn modelId="{0D407AF3-381D-4F23-9193-8554C125DC2E}" type="presParOf" srcId="{569A3C7A-EF04-4947-B77A-2591000C0DE2}" destId="{6784BD07-1C63-415E-BB3C-4CB664E0060F}" srcOrd="12" destOrd="0" presId="urn:microsoft.com/office/officeart/2008/layout/AscendingPictureAccentProcess"/>
    <dgm:cxn modelId="{32C0CD07-DCC9-4B83-A6DD-D544D6ED7517}" type="presParOf" srcId="{569A3C7A-EF04-4947-B77A-2591000C0DE2}" destId="{606E0D92-6931-4CA9-9CD9-D69F4D5FB247}" srcOrd="13" destOrd="0" presId="urn:microsoft.com/office/officeart/2008/layout/AscendingPictureAccentProcess"/>
    <dgm:cxn modelId="{88BF2172-9FF2-4524-B04D-9D770FC1ECE7}" type="presParOf" srcId="{606E0D92-6931-4CA9-9CD9-D69F4D5FB247}" destId="{184168B8-1485-45BC-A0E8-BCD74D94194F}" srcOrd="0" destOrd="0" presId="urn:microsoft.com/office/officeart/2008/layout/AscendingPictureAccen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28707EB-63C1-4CE9-BECA-69090DE6526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C97E9D13-9448-4A1A-8FDF-0718CD0B822C}">
      <dgm:prSet phldrT="[Texto]" custT="1"/>
      <dgm:spPr/>
      <dgm:t>
        <a:bodyPr/>
        <a:lstStyle/>
        <a:p>
          <a:pPr algn="ctr"/>
          <a:r>
            <a:rPr lang="es-ES" sz="3200" b="1" i="1" dirty="0">
              <a:latin typeface="Times New Roman" panose="02020603050405020304" pitchFamily="18" charset="0"/>
              <a:cs typeface="Times New Roman" panose="02020603050405020304" pitchFamily="18" charset="0"/>
            </a:rPr>
            <a:t>Objetivos General</a:t>
          </a:r>
          <a:endParaRPr lang="es-VE" sz="3200" b="1" i="1" dirty="0">
            <a:latin typeface="Times New Roman" panose="02020603050405020304" pitchFamily="18" charset="0"/>
            <a:cs typeface="Times New Roman" panose="02020603050405020304" pitchFamily="18" charset="0"/>
          </a:endParaRPr>
        </a:p>
      </dgm:t>
    </dgm:pt>
    <dgm:pt modelId="{0C6BA6CA-EE26-4D29-9C41-8A09C588DD87}" type="parTrans" cxnId="{8F9D5BBF-573F-4BE4-82D9-913752E75EC7}">
      <dgm:prSet/>
      <dgm:spPr/>
      <dgm:t>
        <a:bodyPr/>
        <a:lstStyle/>
        <a:p>
          <a:endParaRPr lang="es-VE"/>
        </a:p>
      </dgm:t>
    </dgm:pt>
    <dgm:pt modelId="{E449A225-AE8F-45F1-B956-5C5247029040}" type="sibTrans" cxnId="{8F9D5BBF-573F-4BE4-82D9-913752E75EC7}">
      <dgm:prSet/>
      <dgm:spPr/>
      <dgm:t>
        <a:bodyPr/>
        <a:lstStyle/>
        <a:p>
          <a:endParaRPr lang="es-VE"/>
        </a:p>
      </dgm:t>
    </dgm:pt>
    <dgm:pt modelId="{9EC82B5C-E297-4996-98F5-68948801EC86}">
      <dgm:prSet phldrT="[Texto]" custT="1"/>
      <dgm:spPr/>
      <dgm:t>
        <a:bodyPr/>
        <a:lstStyle/>
        <a:p>
          <a:pPr algn="just"/>
          <a:r>
            <a:rPr lang="es-ES" sz="1600" dirty="0">
              <a:solidFill>
                <a:schemeClr val="tx1"/>
              </a:solidFill>
              <a:latin typeface="Times New Roman" panose="02020603050405020304" pitchFamily="18" charset="0"/>
              <a:cs typeface="Times New Roman" panose="02020603050405020304" pitchFamily="18" charset="0"/>
            </a:rPr>
            <a:t>Analizar en la actualidad la competencia con ellos debemos es brindar la mejora atención al cliente, dar solución a las solicitudes del cliente por último captar la mayoría de cliente para la institución pudiendo poder ofrecer nuestros productos para poder cumplir nuestras metas</a:t>
          </a:r>
          <a:r>
            <a:rPr lang="es-ES" sz="1600" dirty="0">
              <a:solidFill>
                <a:schemeClr val="tx1"/>
              </a:solidFill>
            </a:rPr>
            <a:t>. </a:t>
          </a:r>
          <a:endParaRPr lang="es-VE" sz="1600" dirty="0">
            <a:solidFill>
              <a:schemeClr val="tx1"/>
            </a:solidFill>
          </a:endParaRPr>
        </a:p>
      </dgm:t>
    </dgm:pt>
    <dgm:pt modelId="{D53306E6-174F-476E-99D9-0008AD444CD0}" type="parTrans" cxnId="{5B3A1C43-BF37-4A2F-A9B6-FAE1FAF82C42}">
      <dgm:prSet/>
      <dgm:spPr/>
      <dgm:t>
        <a:bodyPr/>
        <a:lstStyle/>
        <a:p>
          <a:endParaRPr lang="es-VE"/>
        </a:p>
      </dgm:t>
    </dgm:pt>
    <dgm:pt modelId="{749B154B-6B6C-47A1-94B2-345E76B66F8D}" type="sibTrans" cxnId="{5B3A1C43-BF37-4A2F-A9B6-FAE1FAF82C42}">
      <dgm:prSet/>
      <dgm:spPr/>
      <dgm:t>
        <a:bodyPr/>
        <a:lstStyle/>
        <a:p>
          <a:endParaRPr lang="es-VE"/>
        </a:p>
      </dgm:t>
    </dgm:pt>
    <dgm:pt modelId="{9FD03F79-266B-40D4-B98C-EC7C0844F195}">
      <dgm:prSet phldrT="[Texto]" custT="1"/>
      <dgm:spPr/>
      <dgm:t>
        <a:bodyPr/>
        <a:lstStyle/>
        <a:p>
          <a:pPr algn="ctr"/>
          <a:r>
            <a:rPr lang="es-ES" sz="3200" b="1" i="1" dirty="0">
              <a:latin typeface="Times New Roman" panose="02020603050405020304" pitchFamily="18" charset="0"/>
              <a:cs typeface="Times New Roman" panose="02020603050405020304" pitchFamily="18" charset="0"/>
            </a:rPr>
            <a:t>Objetivos Específicos</a:t>
          </a:r>
          <a:endParaRPr lang="es-VE" sz="3200" dirty="0">
            <a:latin typeface="Times New Roman" panose="02020603050405020304" pitchFamily="18" charset="0"/>
            <a:cs typeface="Times New Roman" panose="02020603050405020304" pitchFamily="18" charset="0"/>
          </a:endParaRPr>
        </a:p>
      </dgm:t>
    </dgm:pt>
    <dgm:pt modelId="{CD59CF2B-638C-479D-A275-99FFEE8C9FE4}" type="parTrans" cxnId="{94F5F787-8F2A-4799-BA42-E94CD59B57E9}">
      <dgm:prSet/>
      <dgm:spPr/>
      <dgm:t>
        <a:bodyPr/>
        <a:lstStyle/>
        <a:p>
          <a:endParaRPr lang="es-VE"/>
        </a:p>
      </dgm:t>
    </dgm:pt>
    <dgm:pt modelId="{2229D367-CF93-4FE3-A1EB-29626E92F743}" type="sibTrans" cxnId="{94F5F787-8F2A-4799-BA42-E94CD59B57E9}">
      <dgm:prSet/>
      <dgm:spPr/>
      <dgm:t>
        <a:bodyPr/>
        <a:lstStyle/>
        <a:p>
          <a:endParaRPr lang="es-VE"/>
        </a:p>
      </dgm:t>
    </dgm:pt>
    <dgm:pt modelId="{65DA5211-31FC-496C-8228-318FF8F8D83C}">
      <dgm:prSet phldrT="[Texto]" custT="1"/>
      <dgm:spPr/>
      <dgm:t>
        <a:bodyPr/>
        <a:lstStyle/>
        <a:p>
          <a:pPr algn="just"/>
          <a:r>
            <a:rPr lang="es-ES" sz="1600" dirty="0">
              <a:solidFill>
                <a:schemeClr val="tx1"/>
              </a:solidFill>
              <a:latin typeface="Times New Roman" panose="02020603050405020304" pitchFamily="18" charset="0"/>
              <a:cs typeface="Times New Roman" panose="02020603050405020304" pitchFamily="18" charset="0"/>
            </a:rPr>
            <a:t>Informar, concientizar, sensibilizar y capacitar a los colaboradores</a:t>
          </a:r>
          <a:endParaRPr lang="es-VE" sz="1600" dirty="0">
            <a:solidFill>
              <a:schemeClr val="tx1"/>
            </a:solidFill>
            <a:latin typeface="Times New Roman" panose="02020603050405020304" pitchFamily="18" charset="0"/>
            <a:cs typeface="Times New Roman" panose="02020603050405020304" pitchFamily="18" charset="0"/>
          </a:endParaRPr>
        </a:p>
      </dgm:t>
    </dgm:pt>
    <dgm:pt modelId="{23E972D7-DBD6-4AAA-826C-DB1A17016048}" type="parTrans" cxnId="{5829376A-F9B4-4017-B9FF-6128A7ADE67F}">
      <dgm:prSet/>
      <dgm:spPr/>
      <dgm:t>
        <a:bodyPr/>
        <a:lstStyle/>
        <a:p>
          <a:endParaRPr lang="es-VE"/>
        </a:p>
      </dgm:t>
    </dgm:pt>
    <dgm:pt modelId="{9AB628F3-4A32-4B36-9F05-78537FA35FED}" type="sibTrans" cxnId="{5829376A-F9B4-4017-B9FF-6128A7ADE67F}">
      <dgm:prSet/>
      <dgm:spPr/>
      <dgm:t>
        <a:bodyPr/>
        <a:lstStyle/>
        <a:p>
          <a:endParaRPr lang="es-VE"/>
        </a:p>
      </dgm:t>
    </dgm:pt>
    <dgm:pt modelId="{10F8E5B7-C188-4BD0-A896-18D9BCAFEA82}">
      <dgm:prSet phldrT="[Texto]" custT="1"/>
      <dgm:spPr/>
      <dgm:t>
        <a:bodyPr/>
        <a:lstStyle/>
        <a:p>
          <a:pPr algn="just"/>
          <a:r>
            <a:rPr lang="es-ES" sz="1600" dirty="0">
              <a:solidFill>
                <a:schemeClr val="tx1"/>
              </a:solidFill>
              <a:latin typeface="Times New Roman" panose="02020603050405020304" pitchFamily="18" charset="0"/>
              <a:cs typeface="Times New Roman" panose="02020603050405020304" pitchFamily="18" charset="0"/>
            </a:rPr>
            <a:t>Desarrollar y promover productos y servicios que apoyen a nuestros </a:t>
          </a:r>
          <a:endParaRPr lang="es-VE" sz="1600" dirty="0">
            <a:solidFill>
              <a:schemeClr val="tx1"/>
            </a:solidFill>
            <a:latin typeface="Times New Roman" panose="02020603050405020304" pitchFamily="18" charset="0"/>
            <a:cs typeface="Times New Roman" panose="02020603050405020304" pitchFamily="18" charset="0"/>
          </a:endParaRPr>
        </a:p>
      </dgm:t>
    </dgm:pt>
    <dgm:pt modelId="{56C14704-95BE-4E06-968D-6A466D711CB1}" type="parTrans" cxnId="{4D540256-A70B-4ABA-8C7B-D97C01F1FE3A}">
      <dgm:prSet/>
      <dgm:spPr/>
      <dgm:t>
        <a:bodyPr/>
        <a:lstStyle/>
        <a:p>
          <a:endParaRPr lang="es-VE"/>
        </a:p>
      </dgm:t>
    </dgm:pt>
    <dgm:pt modelId="{CBED6FD6-D7AD-41D8-ACF5-25A4319744FA}" type="sibTrans" cxnId="{4D540256-A70B-4ABA-8C7B-D97C01F1FE3A}">
      <dgm:prSet/>
      <dgm:spPr/>
      <dgm:t>
        <a:bodyPr/>
        <a:lstStyle/>
        <a:p>
          <a:endParaRPr lang="es-VE"/>
        </a:p>
      </dgm:t>
    </dgm:pt>
    <dgm:pt modelId="{7A2456B3-F1A0-4C44-B9E2-724F89CD7D90}">
      <dgm:prSet phldrT="[Texto]" custT="1"/>
      <dgm:spPr/>
      <dgm:t>
        <a:bodyPr/>
        <a:lstStyle/>
        <a:p>
          <a:pPr algn="just"/>
          <a:r>
            <a:rPr lang="es-ES" sz="1600" dirty="0">
              <a:solidFill>
                <a:schemeClr val="tx1"/>
              </a:solidFill>
              <a:latin typeface="Times New Roman" panose="02020603050405020304" pitchFamily="18" charset="0"/>
              <a:cs typeface="Times New Roman" panose="02020603050405020304" pitchFamily="18" charset="0"/>
            </a:rPr>
            <a:t>Garantizar la transparencia e informar la gestión en materia de sostenibilidad, a través del proceso de rendición de cuentas.</a:t>
          </a:r>
          <a:endParaRPr lang="es-VE" sz="1600" dirty="0">
            <a:solidFill>
              <a:schemeClr val="tx1"/>
            </a:solidFill>
            <a:latin typeface="Times New Roman" panose="02020603050405020304" pitchFamily="18" charset="0"/>
            <a:cs typeface="Times New Roman" panose="02020603050405020304" pitchFamily="18" charset="0"/>
          </a:endParaRPr>
        </a:p>
      </dgm:t>
    </dgm:pt>
    <dgm:pt modelId="{5D41C817-F74D-4B31-8FC5-1097AFB8C7C9}" type="parTrans" cxnId="{7BCDA0E9-B864-4B9E-98CE-F8C1AFC8277F}">
      <dgm:prSet/>
      <dgm:spPr/>
      <dgm:t>
        <a:bodyPr/>
        <a:lstStyle/>
        <a:p>
          <a:endParaRPr lang="es-VE"/>
        </a:p>
      </dgm:t>
    </dgm:pt>
    <dgm:pt modelId="{ECEA65A5-806C-45E6-9E83-2A3B8659BB3F}" type="sibTrans" cxnId="{7BCDA0E9-B864-4B9E-98CE-F8C1AFC8277F}">
      <dgm:prSet/>
      <dgm:spPr/>
      <dgm:t>
        <a:bodyPr/>
        <a:lstStyle/>
        <a:p>
          <a:endParaRPr lang="es-VE"/>
        </a:p>
      </dgm:t>
    </dgm:pt>
    <dgm:pt modelId="{F64DB1EF-27CA-4696-B108-5F7B92B6E3E1}" type="pres">
      <dgm:prSet presAssocID="{228707EB-63C1-4CE9-BECA-69090DE65261}" presName="linear" presStyleCnt="0">
        <dgm:presLayoutVars>
          <dgm:animLvl val="lvl"/>
          <dgm:resizeHandles val="exact"/>
        </dgm:presLayoutVars>
      </dgm:prSet>
      <dgm:spPr/>
    </dgm:pt>
    <dgm:pt modelId="{027CC4C1-8859-4AAD-945A-B8182C6276F4}" type="pres">
      <dgm:prSet presAssocID="{C97E9D13-9448-4A1A-8FDF-0718CD0B822C}" presName="parentText" presStyleLbl="node1" presStyleIdx="0" presStyleCnt="2" custScaleX="52500" custScaleY="47500" custLinFactNeighborY="-19761">
        <dgm:presLayoutVars>
          <dgm:chMax val="0"/>
          <dgm:bulletEnabled val="1"/>
        </dgm:presLayoutVars>
      </dgm:prSet>
      <dgm:spPr/>
    </dgm:pt>
    <dgm:pt modelId="{D68B8D49-15EB-4DE2-898B-A76D6C249329}" type="pres">
      <dgm:prSet presAssocID="{C97E9D13-9448-4A1A-8FDF-0718CD0B822C}" presName="childText" presStyleLbl="revTx" presStyleIdx="0" presStyleCnt="2" custScaleX="90682" custLinFactNeighborY="2432">
        <dgm:presLayoutVars>
          <dgm:bulletEnabled val="1"/>
        </dgm:presLayoutVars>
      </dgm:prSet>
      <dgm:spPr/>
    </dgm:pt>
    <dgm:pt modelId="{3A29B8CA-9014-4C89-B6C8-F14FB723AA43}" type="pres">
      <dgm:prSet presAssocID="{9FD03F79-266B-40D4-B98C-EC7C0844F195}" presName="parentText" presStyleLbl="node1" presStyleIdx="1" presStyleCnt="2" custScaleX="49092" custScaleY="60174" custLinFactNeighborX="-511" custLinFactNeighborY="7164">
        <dgm:presLayoutVars>
          <dgm:chMax val="0"/>
          <dgm:bulletEnabled val="1"/>
        </dgm:presLayoutVars>
      </dgm:prSet>
      <dgm:spPr/>
    </dgm:pt>
    <dgm:pt modelId="{6D4B4E7F-9148-41DC-90E9-04E600FE1626}" type="pres">
      <dgm:prSet presAssocID="{9FD03F79-266B-40D4-B98C-EC7C0844F195}" presName="childText" presStyleLbl="revTx" presStyleIdx="1" presStyleCnt="2" custScaleX="85909" custLinFactNeighborX="1062" custLinFactNeighborY="41643">
        <dgm:presLayoutVars>
          <dgm:bulletEnabled val="1"/>
        </dgm:presLayoutVars>
      </dgm:prSet>
      <dgm:spPr/>
    </dgm:pt>
  </dgm:ptLst>
  <dgm:cxnLst>
    <dgm:cxn modelId="{577BDA0B-E08F-41E3-9BB0-F49E427EDCA8}" type="presOf" srcId="{65DA5211-31FC-496C-8228-318FF8F8D83C}" destId="{6D4B4E7F-9148-41DC-90E9-04E600FE1626}" srcOrd="0" destOrd="1" presId="urn:microsoft.com/office/officeart/2005/8/layout/vList2"/>
    <dgm:cxn modelId="{2D95DB34-8D32-42DE-B008-CAF01A0C6BBF}" type="presOf" srcId="{7A2456B3-F1A0-4C44-B9E2-724F89CD7D90}" destId="{6D4B4E7F-9148-41DC-90E9-04E600FE1626}" srcOrd="0" destOrd="2" presId="urn:microsoft.com/office/officeart/2005/8/layout/vList2"/>
    <dgm:cxn modelId="{91BCBA38-E0E0-4DCA-9FD3-91A534757041}" type="presOf" srcId="{C97E9D13-9448-4A1A-8FDF-0718CD0B822C}" destId="{027CC4C1-8859-4AAD-945A-B8182C6276F4}" srcOrd="0" destOrd="0" presId="urn:microsoft.com/office/officeart/2005/8/layout/vList2"/>
    <dgm:cxn modelId="{846FAA39-E1C6-4514-8019-626BD4A457F3}" type="presOf" srcId="{10F8E5B7-C188-4BD0-A896-18D9BCAFEA82}" destId="{6D4B4E7F-9148-41DC-90E9-04E600FE1626}" srcOrd="0" destOrd="0" presId="urn:microsoft.com/office/officeart/2005/8/layout/vList2"/>
    <dgm:cxn modelId="{5B3A1C43-BF37-4A2F-A9B6-FAE1FAF82C42}" srcId="{C97E9D13-9448-4A1A-8FDF-0718CD0B822C}" destId="{9EC82B5C-E297-4996-98F5-68948801EC86}" srcOrd="0" destOrd="0" parTransId="{D53306E6-174F-476E-99D9-0008AD444CD0}" sibTransId="{749B154B-6B6C-47A1-94B2-345E76B66F8D}"/>
    <dgm:cxn modelId="{54D60248-DDC6-471E-8843-8F1CE3A00049}" type="presOf" srcId="{228707EB-63C1-4CE9-BECA-69090DE65261}" destId="{F64DB1EF-27CA-4696-B108-5F7B92B6E3E1}" srcOrd="0" destOrd="0" presId="urn:microsoft.com/office/officeart/2005/8/layout/vList2"/>
    <dgm:cxn modelId="{5829376A-F9B4-4017-B9FF-6128A7ADE67F}" srcId="{9FD03F79-266B-40D4-B98C-EC7C0844F195}" destId="{65DA5211-31FC-496C-8228-318FF8F8D83C}" srcOrd="1" destOrd="0" parTransId="{23E972D7-DBD6-4AAA-826C-DB1A17016048}" sibTransId="{9AB628F3-4A32-4B36-9F05-78537FA35FED}"/>
    <dgm:cxn modelId="{4D540256-A70B-4ABA-8C7B-D97C01F1FE3A}" srcId="{9FD03F79-266B-40D4-B98C-EC7C0844F195}" destId="{10F8E5B7-C188-4BD0-A896-18D9BCAFEA82}" srcOrd="0" destOrd="0" parTransId="{56C14704-95BE-4E06-968D-6A466D711CB1}" sibTransId="{CBED6FD6-D7AD-41D8-ACF5-25A4319744FA}"/>
    <dgm:cxn modelId="{CD47B85A-633C-48D6-8534-21AA7120BF6D}" type="presOf" srcId="{9FD03F79-266B-40D4-B98C-EC7C0844F195}" destId="{3A29B8CA-9014-4C89-B6C8-F14FB723AA43}" srcOrd="0" destOrd="0" presId="urn:microsoft.com/office/officeart/2005/8/layout/vList2"/>
    <dgm:cxn modelId="{D7528E7B-5323-429F-AD9E-59B73BF3B5A7}" type="presOf" srcId="{9EC82B5C-E297-4996-98F5-68948801EC86}" destId="{D68B8D49-15EB-4DE2-898B-A76D6C249329}" srcOrd="0" destOrd="0" presId="urn:microsoft.com/office/officeart/2005/8/layout/vList2"/>
    <dgm:cxn modelId="{94F5F787-8F2A-4799-BA42-E94CD59B57E9}" srcId="{228707EB-63C1-4CE9-BECA-69090DE65261}" destId="{9FD03F79-266B-40D4-B98C-EC7C0844F195}" srcOrd="1" destOrd="0" parTransId="{CD59CF2B-638C-479D-A275-99FFEE8C9FE4}" sibTransId="{2229D367-CF93-4FE3-A1EB-29626E92F743}"/>
    <dgm:cxn modelId="{8F9D5BBF-573F-4BE4-82D9-913752E75EC7}" srcId="{228707EB-63C1-4CE9-BECA-69090DE65261}" destId="{C97E9D13-9448-4A1A-8FDF-0718CD0B822C}" srcOrd="0" destOrd="0" parTransId="{0C6BA6CA-EE26-4D29-9C41-8A09C588DD87}" sibTransId="{E449A225-AE8F-45F1-B956-5C5247029040}"/>
    <dgm:cxn modelId="{7BCDA0E9-B864-4B9E-98CE-F8C1AFC8277F}" srcId="{9FD03F79-266B-40D4-B98C-EC7C0844F195}" destId="{7A2456B3-F1A0-4C44-B9E2-724F89CD7D90}" srcOrd="2" destOrd="0" parTransId="{5D41C817-F74D-4B31-8FC5-1097AFB8C7C9}" sibTransId="{ECEA65A5-806C-45E6-9E83-2A3B8659BB3F}"/>
    <dgm:cxn modelId="{3A4D84B2-7AC1-4A9D-B413-927DD1AF5174}" type="presParOf" srcId="{F64DB1EF-27CA-4696-B108-5F7B92B6E3E1}" destId="{027CC4C1-8859-4AAD-945A-B8182C6276F4}" srcOrd="0" destOrd="0" presId="urn:microsoft.com/office/officeart/2005/8/layout/vList2"/>
    <dgm:cxn modelId="{BF909A14-0913-43B0-B6D5-74BAB047BE3C}" type="presParOf" srcId="{F64DB1EF-27CA-4696-B108-5F7B92B6E3E1}" destId="{D68B8D49-15EB-4DE2-898B-A76D6C249329}" srcOrd="1" destOrd="0" presId="urn:microsoft.com/office/officeart/2005/8/layout/vList2"/>
    <dgm:cxn modelId="{FA3694B2-2A24-4DC2-8A29-36B39E4896E8}" type="presParOf" srcId="{F64DB1EF-27CA-4696-B108-5F7B92B6E3E1}" destId="{3A29B8CA-9014-4C89-B6C8-F14FB723AA43}" srcOrd="2" destOrd="0" presId="urn:microsoft.com/office/officeart/2005/8/layout/vList2"/>
    <dgm:cxn modelId="{37B2C334-0985-4E1E-AD02-02DFA315AF80}" type="presParOf" srcId="{F64DB1EF-27CA-4696-B108-5F7B92B6E3E1}" destId="{6D4B4E7F-9148-41DC-90E9-04E600FE162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BFEB1B3-F215-405C-BCE4-C7072846AD15}" type="doc">
      <dgm:prSet loTypeId="urn:microsoft.com/office/officeart/2005/8/layout/process1" loCatId="process" qsTypeId="urn:microsoft.com/office/officeart/2005/8/quickstyle/simple1" qsCatId="simple" csTypeId="urn:microsoft.com/office/officeart/2005/8/colors/accent1_2" csCatId="accent1" phldr="1"/>
      <dgm:spPr/>
    </dgm:pt>
    <dgm:pt modelId="{5A4D1263-AC67-478F-B679-40019C8A2A53}">
      <dgm:prSet/>
      <dgm:spPr/>
      <dgm:t>
        <a:bodyPr/>
        <a:lstStyle/>
        <a:p>
          <a:r>
            <a:rPr lang="es-ES" b="1" i="1" dirty="0">
              <a:effectLst/>
              <a:latin typeface="Times New Roman" panose="02020603050405020304" pitchFamily="18" charset="0"/>
              <a:ea typeface="Calibri" panose="020F0502020204030204" pitchFamily="34" charset="0"/>
              <a:cs typeface="Times New Roman" panose="02020603050405020304" pitchFamily="18" charset="0"/>
            </a:rPr>
            <a:t>Atención al Cliente</a:t>
          </a:r>
          <a:endParaRPr lang="es-VE" dirty="0">
            <a:effectLst/>
            <a:latin typeface="Calibri" panose="020F0502020204030204" pitchFamily="34" charset="0"/>
            <a:ea typeface="Calibri" panose="020F0502020204030204" pitchFamily="34" charset="0"/>
            <a:cs typeface="Times New Roman" panose="02020603050405020304" pitchFamily="18" charset="0"/>
          </a:endParaRPr>
        </a:p>
      </dgm:t>
    </dgm:pt>
    <dgm:pt modelId="{E5E20194-16D5-423C-9061-984C8371530F}" type="parTrans" cxnId="{298CB26B-A557-42BF-B529-825CADA40161}">
      <dgm:prSet/>
      <dgm:spPr/>
      <dgm:t>
        <a:bodyPr/>
        <a:lstStyle/>
        <a:p>
          <a:endParaRPr lang="es-VE"/>
        </a:p>
      </dgm:t>
    </dgm:pt>
    <dgm:pt modelId="{73E83772-6F0A-45D3-8558-879D8A95C45F}" type="sibTrans" cxnId="{298CB26B-A557-42BF-B529-825CADA40161}">
      <dgm:prSet/>
      <dgm:spPr/>
      <dgm:t>
        <a:bodyPr/>
        <a:lstStyle/>
        <a:p>
          <a:endParaRPr lang="es-VE"/>
        </a:p>
      </dgm:t>
    </dgm:pt>
    <dgm:pt modelId="{AF86730F-6AB1-4FAD-BAAC-66912DB91592}">
      <dgm:prSet/>
      <dgm:spPr/>
      <dgm:t>
        <a:bodyPr/>
        <a:lstStyle/>
        <a:p>
          <a:r>
            <a:rPr lang="es-ES" b="1" i="1" dirty="0">
              <a:effectLst/>
              <a:latin typeface="Times New Roman" panose="02020603050405020304" pitchFamily="18" charset="0"/>
              <a:ea typeface="Calibri" panose="020F0502020204030204" pitchFamily="34" charset="0"/>
              <a:cs typeface="Times New Roman" panose="02020603050405020304" pitchFamily="18" charset="0"/>
            </a:rPr>
            <a:t>Banco </a:t>
          </a:r>
          <a:endParaRPr lang="es-VE" dirty="0">
            <a:effectLst/>
            <a:latin typeface="Calibri" panose="020F0502020204030204" pitchFamily="34" charset="0"/>
            <a:ea typeface="Calibri" panose="020F0502020204030204" pitchFamily="34" charset="0"/>
            <a:cs typeface="Times New Roman" panose="02020603050405020304" pitchFamily="18" charset="0"/>
          </a:endParaRPr>
        </a:p>
      </dgm:t>
    </dgm:pt>
    <dgm:pt modelId="{2BD1E5C9-9432-4A21-82BA-B4BE9359FD88}" type="parTrans" cxnId="{4AE6A417-A1C3-4614-AE37-7A128145ABF6}">
      <dgm:prSet/>
      <dgm:spPr/>
      <dgm:t>
        <a:bodyPr/>
        <a:lstStyle/>
        <a:p>
          <a:endParaRPr lang="es-VE"/>
        </a:p>
      </dgm:t>
    </dgm:pt>
    <dgm:pt modelId="{6D51482B-BAEB-4553-85EB-C9BB8F81DC64}" type="sibTrans" cxnId="{4AE6A417-A1C3-4614-AE37-7A128145ABF6}">
      <dgm:prSet/>
      <dgm:spPr/>
      <dgm:t>
        <a:bodyPr/>
        <a:lstStyle/>
        <a:p>
          <a:endParaRPr lang="es-VE"/>
        </a:p>
      </dgm:t>
    </dgm:pt>
    <dgm:pt modelId="{219E19B1-3B20-4FEB-8ACB-8AEEADC6E7CA}">
      <dgm:prSet/>
      <dgm:spPr/>
      <dgm:t>
        <a:bodyPr/>
        <a:lstStyle/>
        <a:p>
          <a:r>
            <a:rPr lang="es-ES" b="1" i="1" dirty="0"/>
            <a:t>Estrategias</a:t>
          </a:r>
          <a:endParaRPr lang="es-VE" dirty="0"/>
        </a:p>
      </dgm:t>
    </dgm:pt>
    <dgm:pt modelId="{5D04BA5C-F59E-4CEC-8273-39F5C4B8B802}" type="parTrans" cxnId="{8ECA081C-888E-4E37-9755-6BA751134042}">
      <dgm:prSet/>
      <dgm:spPr/>
      <dgm:t>
        <a:bodyPr/>
        <a:lstStyle/>
        <a:p>
          <a:endParaRPr lang="es-VE"/>
        </a:p>
      </dgm:t>
    </dgm:pt>
    <dgm:pt modelId="{0A35E900-B27B-4FD4-AD21-35FB77176215}" type="sibTrans" cxnId="{8ECA081C-888E-4E37-9755-6BA751134042}">
      <dgm:prSet/>
      <dgm:spPr/>
      <dgm:t>
        <a:bodyPr/>
        <a:lstStyle/>
        <a:p>
          <a:endParaRPr lang="es-VE"/>
        </a:p>
      </dgm:t>
    </dgm:pt>
    <dgm:pt modelId="{D465C1FE-8600-499A-A61D-21A6200BE9DC}" type="pres">
      <dgm:prSet presAssocID="{EBFEB1B3-F215-405C-BCE4-C7072846AD15}" presName="Name0" presStyleCnt="0">
        <dgm:presLayoutVars>
          <dgm:dir/>
          <dgm:resizeHandles val="exact"/>
        </dgm:presLayoutVars>
      </dgm:prSet>
      <dgm:spPr/>
    </dgm:pt>
    <dgm:pt modelId="{29298122-830E-4E9C-A797-9516959FC4B2}" type="pres">
      <dgm:prSet presAssocID="{5A4D1263-AC67-478F-B679-40019C8A2A53}" presName="node" presStyleLbl="node1" presStyleIdx="0" presStyleCnt="3">
        <dgm:presLayoutVars>
          <dgm:bulletEnabled val="1"/>
        </dgm:presLayoutVars>
      </dgm:prSet>
      <dgm:spPr/>
    </dgm:pt>
    <dgm:pt modelId="{F6FCE350-A965-4D08-8514-639159DA8E32}" type="pres">
      <dgm:prSet presAssocID="{73E83772-6F0A-45D3-8558-879D8A95C45F}" presName="sibTrans" presStyleLbl="sibTrans2D1" presStyleIdx="0" presStyleCnt="2"/>
      <dgm:spPr/>
    </dgm:pt>
    <dgm:pt modelId="{E41F15B6-60D8-4253-8E92-7E94EB4C793E}" type="pres">
      <dgm:prSet presAssocID="{73E83772-6F0A-45D3-8558-879D8A95C45F}" presName="connectorText" presStyleLbl="sibTrans2D1" presStyleIdx="0" presStyleCnt="2"/>
      <dgm:spPr/>
    </dgm:pt>
    <dgm:pt modelId="{10729570-86F1-44C9-AFC2-3B08E2F91DDF}" type="pres">
      <dgm:prSet presAssocID="{AF86730F-6AB1-4FAD-BAAC-66912DB91592}" presName="node" presStyleLbl="node1" presStyleIdx="1" presStyleCnt="3">
        <dgm:presLayoutVars>
          <dgm:bulletEnabled val="1"/>
        </dgm:presLayoutVars>
      </dgm:prSet>
      <dgm:spPr/>
    </dgm:pt>
    <dgm:pt modelId="{9AD18A3F-ABF6-4EAB-A17D-E8ABA377C2C1}" type="pres">
      <dgm:prSet presAssocID="{6D51482B-BAEB-4553-85EB-C9BB8F81DC64}" presName="sibTrans" presStyleLbl="sibTrans2D1" presStyleIdx="1" presStyleCnt="2"/>
      <dgm:spPr/>
    </dgm:pt>
    <dgm:pt modelId="{85EA3E91-3C44-49B2-9231-B2A62B36C43B}" type="pres">
      <dgm:prSet presAssocID="{6D51482B-BAEB-4553-85EB-C9BB8F81DC64}" presName="connectorText" presStyleLbl="sibTrans2D1" presStyleIdx="1" presStyleCnt="2"/>
      <dgm:spPr/>
    </dgm:pt>
    <dgm:pt modelId="{2B276B9D-06F1-4F70-B50C-B5106134BE55}" type="pres">
      <dgm:prSet presAssocID="{219E19B1-3B20-4FEB-8ACB-8AEEADC6E7CA}" presName="node" presStyleLbl="node1" presStyleIdx="2" presStyleCnt="3">
        <dgm:presLayoutVars>
          <dgm:bulletEnabled val="1"/>
        </dgm:presLayoutVars>
      </dgm:prSet>
      <dgm:spPr/>
    </dgm:pt>
  </dgm:ptLst>
  <dgm:cxnLst>
    <dgm:cxn modelId="{4AE6A417-A1C3-4614-AE37-7A128145ABF6}" srcId="{EBFEB1B3-F215-405C-BCE4-C7072846AD15}" destId="{AF86730F-6AB1-4FAD-BAAC-66912DB91592}" srcOrd="1" destOrd="0" parTransId="{2BD1E5C9-9432-4A21-82BA-B4BE9359FD88}" sibTransId="{6D51482B-BAEB-4553-85EB-C9BB8F81DC64}"/>
    <dgm:cxn modelId="{8ECA081C-888E-4E37-9755-6BA751134042}" srcId="{EBFEB1B3-F215-405C-BCE4-C7072846AD15}" destId="{219E19B1-3B20-4FEB-8ACB-8AEEADC6E7CA}" srcOrd="2" destOrd="0" parTransId="{5D04BA5C-F59E-4CEC-8273-39F5C4B8B802}" sibTransId="{0A35E900-B27B-4FD4-AD21-35FB77176215}"/>
    <dgm:cxn modelId="{0376682A-64DB-4F84-B91B-4ED133A4E7DF}" type="presOf" srcId="{6D51482B-BAEB-4553-85EB-C9BB8F81DC64}" destId="{9AD18A3F-ABF6-4EAB-A17D-E8ABA377C2C1}" srcOrd="0" destOrd="0" presId="urn:microsoft.com/office/officeart/2005/8/layout/process1"/>
    <dgm:cxn modelId="{C75C4532-8E07-46C3-919A-B746D19FBD51}" type="presOf" srcId="{6D51482B-BAEB-4553-85EB-C9BB8F81DC64}" destId="{85EA3E91-3C44-49B2-9231-B2A62B36C43B}" srcOrd="1" destOrd="0" presId="urn:microsoft.com/office/officeart/2005/8/layout/process1"/>
    <dgm:cxn modelId="{74F06A41-0439-425E-820D-71FAE0AFAC92}" type="presOf" srcId="{EBFEB1B3-F215-405C-BCE4-C7072846AD15}" destId="{D465C1FE-8600-499A-A61D-21A6200BE9DC}" srcOrd="0" destOrd="0" presId="urn:microsoft.com/office/officeart/2005/8/layout/process1"/>
    <dgm:cxn modelId="{1AF9FB42-CF41-4645-84D4-1392354ACF5E}" type="presOf" srcId="{73E83772-6F0A-45D3-8558-879D8A95C45F}" destId="{E41F15B6-60D8-4253-8E92-7E94EB4C793E}" srcOrd="1" destOrd="0" presId="urn:microsoft.com/office/officeart/2005/8/layout/process1"/>
    <dgm:cxn modelId="{298CB26B-A557-42BF-B529-825CADA40161}" srcId="{EBFEB1B3-F215-405C-BCE4-C7072846AD15}" destId="{5A4D1263-AC67-478F-B679-40019C8A2A53}" srcOrd="0" destOrd="0" parTransId="{E5E20194-16D5-423C-9061-984C8371530F}" sibTransId="{73E83772-6F0A-45D3-8558-879D8A95C45F}"/>
    <dgm:cxn modelId="{34E4B051-D5A2-42F8-862D-D3BCB3515E91}" type="presOf" srcId="{5A4D1263-AC67-478F-B679-40019C8A2A53}" destId="{29298122-830E-4E9C-A797-9516959FC4B2}" srcOrd="0" destOrd="0" presId="urn:microsoft.com/office/officeart/2005/8/layout/process1"/>
    <dgm:cxn modelId="{B400C252-CEBF-4355-A83A-9295A3DEB28E}" type="presOf" srcId="{219E19B1-3B20-4FEB-8ACB-8AEEADC6E7CA}" destId="{2B276B9D-06F1-4F70-B50C-B5106134BE55}" srcOrd="0" destOrd="0" presId="urn:microsoft.com/office/officeart/2005/8/layout/process1"/>
    <dgm:cxn modelId="{4832FE8F-0283-4996-86AB-6145F7D77939}" type="presOf" srcId="{AF86730F-6AB1-4FAD-BAAC-66912DB91592}" destId="{10729570-86F1-44C9-AFC2-3B08E2F91DDF}" srcOrd="0" destOrd="0" presId="urn:microsoft.com/office/officeart/2005/8/layout/process1"/>
    <dgm:cxn modelId="{06EB6EBD-2E36-43BE-95BC-CF91FF32AB69}" type="presOf" srcId="{73E83772-6F0A-45D3-8558-879D8A95C45F}" destId="{F6FCE350-A965-4D08-8514-639159DA8E32}" srcOrd="0" destOrd="0" presId="urn:microsoft.com/office/officeart/2005/8/layout/process1"/>
    <dgm:cxn modelId="{1F2621E8-0067-4CF7-8AB0-B74920446578}" type="presParOf" srcId="{D465C1FE-8600-499A-A61D-21A6200BE9DC}" destId="{29298122-830E-4E9C-A797-9516959FC4B2}" srcOrd="0" destOrd="0" presId="urn:microsoft.com/office/officeart/2005/8/layout/process1"/>
    <dgm:cxn modelId="{AED22A01-CB10-46E8-B17D-76B5948FEE10}" type="presParOf" srcId="{D465C1FE-8600-499A-A61D-21A6200BE9DC}" destId="{F6FCE350-A965-4D08-8514-639159DA8E32}" srcOrd="1" destOrd="0" presId="urn:microsoft.com/office/officeart/2005/8/layout/process1"/>
    <dgm:cxn modelId="{9DA5CF9E-BC54-477E-AFC8-CDFE91877556}" type="presParOf" srcId="{F6FCE350-A965-4D08-8514-639159DA8E32}" destId="{E41F15B6-60D8-4253-8E92-7E94EB4C793E}" srcOrd="0" destOrd="0" presId="urn:microsoft.com/office/officeart/2005/8/layout/process1"/>
    <dgm:cxn modelId="{59426923-2D74-4019-86C0-D8FFEFD9A913}" type="presParOf" srcId="{D465C1FE-8600-499A-A61D-21A6200BE9DC}" destId="{10729570-86F1-44C9-AFC2-3B08E2F91DDF}" srcOrd="2" destOrd="0" presId="urn:microsoft.com/office/officeart/2005/8/layout/process1"/>
    <dgm:cxn modelId="{E38DDB6D-2593-4235-B08F-26357D67F1D4}" type="presParOf" srcId="{D465C1FE-8600-499A-A61D-21A6200BE9DC}" destId="{9AD18A3F-ABF6-4EAB-A17D-E8ABA377C2C1}" srcOrd="3" destOrd="0" presId="urn:microsoft.com/office/officeart/2005/8/layout/process1"/>
    <dgm:cxn modelId="{0CEFC4F8-27DA-449B-B4CE-EFCF00E74611}" type="presParOf" srcId="{9AD18A3F-ABF6-4EAB-A17D-E8ABA377C2C1}" destId="{85EA3E91-3C44-49B2-9231-B2A62B36C43B}" srcOrd="0" destOrd="0" presId="urn:microsoft.com/office/officeart/2005/8/layout/process1"/>
    <dgm:cxn modelId="{29BB6AF9-B88A-4CC1-9DD7-F4A5E86ADD7B}" type="presParOf" srcId="{D465C1FE-8600-499A-A61D-21A6200BE9DC}" destId="{2B276B9D-06F1-4F70-B50C-B5106134BE55}"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7DC5823-62CE-4587-BAA9-590C56FB38B7}"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s-VE"/>
        </a:p>
      </dgm:t>
    </dgm:pt>
    <dgm:pt modelId="{12F54C83-FA1C-40CC-98CC-ECB0A5DBA4DA}">
      <dgm:prSet phldrT="[Texto]" custT="1"/>
      <dgm:spPr/>
      <dgm:t>
        <a:bodyPr/>
        <a:lstStyle/>
        <a:p>
          <a:r>
            <a:rPr lang="es-ES" sz="2000" b="1" dirty="0">
              <a:latin typeface="Times New Roman" panose="02020603050405020304" pitchFamily="18" charset="0"/>
              <a:cs typeface="Times New Roman" panose="02020603050405020304" pitchFamily="18" charset="0"/>
            </a:rPr>
            <a:t>Objetivo General</a:t>
          </a:r>
          <a:endParaRPr lang="es-VE" sz="2000" b="1" dirty="0">
            <a:latin typeface="Times New Roman" panose="02020603050405020304" pitchFamily="18" charset="0"/>
            <a:cs typeface="Times New Roman" panose="02020603050405020304" pitchFamily="18" charset="0"/>
          </a:endParaRPr>
        </a:p>
      </dgm:t>
    </dgm:pt>
    <dgm:pt modelId="{8708CB4A-1E9E-4B43-A7B4-E21172BEF13E}" type="parTrans" cxnId="{C4E2819F-A369-4A0D-9D86-784BA2974C08}">
      <dgm:prSet/>
      <dgm:spPr/>
      <dgm:t>
        <a:bodyPr/>
        <a:lstStyle/>
        <a:p>
          <a:endParaRPr lang="es-VE"/>
        </a:p>
      </dgm:t>
    </dgm:pt>
    <dgm:pt modelId="{95E2D072-42BF-4F52-947C-E26AE7541750}" type="sibTrans" cxnId="{C4E2819F-A369-4A0D-9D86-784BA2974C08}">
      <dgm:prSet/>
      <dgm:spPr/>
      <dgm:t>
        <a:bodyPr/>
        <a:lstStyle/>
        <a:p>
          <a:endParaRPr lang="es-VE"/>
        </a:p>
      </dgm:t>
    </dgm:pt>
    <dgm:pt modelId="{FCC6E488-1296-45DB-82F3-A5DB90F577D9}">
      <dgm:prSet phldrT="[Texto]" custT="1"/>
      <dgm:spPr/>
      <dgm:t>
        <a:bodyPr/>
        <a:lstStyle/>
        <a:p>
          <a:pPr algn="just"/>
          <a:r>
            <a:rPr lang="es-ES" sz="1600" dirty="0">
              <a:latin typeface="Times New Roman" panose="02020603050405020304" pitchFamily="18" charset="0"/>
              <a:cs typeface="Times New Roman" panose="02020603050405020304" pitchFamily="18" charset="0"/>
            </a:rPr>
            <a:t>Proponer Estrategias de atención al cliente en Banesco Banco Universal, Gerencia de Red de Sucursales. Estado Bolivariano de Miranda</a:t>
          </a:r>
          <a:r>
            <a:rPr lang="es-ES" sz="1700" dirty="0">
              <a:latin typeface="Times New Roman" panose="02020603050405020304" pitchFamily="18" charset="0"/>
              <a:cs typeface="Times New Roman" panose="02020603050405020304" pitchFamily="18" charset="0"/>
            </a:rPr>
            <a:t>.</a:t>
          </a:r>
          <a:endParaRPr lang="es-VE" sz="1700" dirty="0">
            <a:latin typeface="Times New Roman" panose="02020603050405020304" pitchFamily="18" charset="0"/>
            <a:cs typeface="Times New Roman" panose="02020603050405020304" pitchFamily="18" charset="0"/>
          </a:endParaRPr>
        </a:p>
      </dgm:t>
    </dgm:pt>
    <dgm:pt modelId="{E8369D74-BB8A-4856-884E-1AACAE0D9FBB}" type="parTrans" cxnId="{C1D6575C-D31F-459B-8027-4C60AA63A097}">
      <dgm:prSet/>
      <dgm:spPr/>
      <dgm:t>
        <a:bodyPr/>
        <a:lstStyle/>
        <a:p>
          <a:endParaRPr lang="es-VE"/>
        </a:p>
      </dgm:t>
    </dgm:pt>
    <dgm:pt modelId="{EE79E940-5CF6-4752-9FE3-76E0460BCFAB}" type="sibTrans" cxnId="{C1D6575C-D31F-459B-8027-4C60AA63A097}">
      <dgm:prSet/>
      <dgm:spPr/>
      <dgm:t>
        <a:bodyPr/>
        <a:lstStyle/>
        <a:p>
          <a:endParaRPr lang="es-VE"/>
        </a:p>
      </dgm:t>
    </dgm:pt>
    <dgm:pt modelId="{B761DCB4-2678-4F50-9CA6-FA9558C6D768}">
      <dgm:prSet phldrT="[Texto]" custT="1"/>
      <dgm:spPr/>
      <dgm:t>
        <a:bodyPr/>
        <a:lstStyle/>
        <a:p>
          <a:endParaRPr lang="es-ES" sz="2000" b="1" dirty="0"/>
        </a:p>
        <a:p>
          <a:r>
            <a:rPr lang="es-ES" sz="2000" b="1" dirty="0">
              <a:latin typeface="Times New Roman" panose="02020603050405020304" pitchFamily="18" charset="0"/>
              <a:cs typeface="Times New Roman" panose="02020603050405020304" pitchFamily="18" charset="0"/>
            </a:rPr>
            <a:t>Objetivo Específico</a:t>
          </a:r>
          <a:endParaRPr lang="es-VE" sz="2000" dirty="0">
            <a:latin typeface="Times New Roman" panose="02020603050405020304" pitchFamily="18" charset="0"/>
            <a:cs typeface="Times New Roman" panose="02020603050405020304" pitchFamily="18" charset="0"/>
          </a:endParaRPr>
        </a:p>
        <a:p>
          <a:endParaRPr lang="es-VE" sz="2400" dirty="0"/>
        </a:p>
      </dgm:t>
    </dgm:pt>
    <dgm:pt modelId="{89FD0166-3B7B-495A-9AE0-B6FB10C59B90}" type="parTrans" cxnId="{1839FB53-A1C0-45F1-974D-E01AA6983B7D}">
      <dgm:prSet/>
      <dgm:spPr/>
      <dgm:t>
        <a:bodyPr/>
        <a:lstStyle/>
        <a:p>
          <a:endParaRPr lang="es-VE"/>
        </a:p>
      </dgm:t>
    </dgm:pt>
    <dgm:pt modelId="{7C5AE259-3D94-4B2A-9F17-F803A772D2D6}" type="sibTrans" cxnId="{1839FB53-A1C0-45F1-974D-E01AA6983B7D}">
      <dgm:prSet/>
      <dgm:spPr/>
      <dgm:t>
        <a:bodyPr/>
        <a:lstStyle/>
        <a:p>
          <a:endParaRPr lang="es-VE"/>
        </a:p>
      </dgm:t>
    </dgm:pt>
    <dgm:pt modelId="{135AFA3C-9D25-47F5-ADB4-BA75894F453B}">
      <dgm:prSet phldrT="[Texto]" custT="1"/>
      <dgm:spPr/>
      <dgm:t>
        <a:bodyPr/>
        <a:lstStyle/>
        <a:p>
          <a:pPr algn="just">
            <a:buFont typeface="Arial" panose="020B0604020202020204" pitchFamily="34" charset="0"/>
            <a:buChar char="•"/>
          </a:pPr>
          <a:r>
            <a:rPr lang="es-ES" sz="1800" dirty="0"/>
            <a:t>- </a:t>
          </a:r>
          <a:r>
            <a:rPr lang="es-ES" sz="1600" dirty="0">
              <a:latin typeface="Times New Roman" panose="02020603050405020304" pitchFamily="18" charset="0"/>
              <a:cs typeface="Times New Roman" panose="02020603050405020304" pitchFamily="18" charset="0"/>
            </a:rPr>
            <a:t>Sensibilizar, a la Gerencia y al personal de Banesco Banco Universal, C.A</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 Gerencia de Red de Sucursales </a:t>
          </a:r>
          <a:r>
            <a:rPr lang="es-ES" sz="1600" dirty="0">
              <a:latin typeface="Times New Roman" panose="02020603050405020304" pitchFamily="18" charset="0"/>
              <a:cs typeface="Times New Roman" panose="02020603050405020304" pitchFamily="18" charset="0"/>
            </a:rPr>
            <a:t>Estado Bolivariano de Miranda</a:t>
          </a:r>
          <a:r>
            <a:rPr lang="es-ES" sz="1800" dirty="0"/>
            <a:t>.</a:t>
          </a:r>
          <a:endParaRPr lang="es-VE" sz="1800" dirty="0"/>
        </a:p>
      </dgm:t>
    </dgm:pt>
    <dgm:pt modelId="{64869C3E-B21F-4E0E-BD7A-0FBCD6E14D90}" type="parTrans" cxnId="{80E19058-3AA1-4CE3-97AD-8C6E925C2956}">
      <dgm:prSet/>
      <dgm:spPr/>
      <dgm:t>
        <a:bodyPr/>
        <a:lstStyle/>
        <a:p>
          <a:endParaRPr lang="es-VE"/>
        </a:p>
      </dgm:t>
    </dgm:pt>
    <dgm:pt modelId="{8EC63568-9E83-44CF-A17B-8F63B239E46B}" type="sibTrans" cxnId="{80E19058-3AA1-4CE3-97AD-8C6E925C2956}">
      <dgm:prSet/>
      <dgm:spPr/>
      <dgm:t>
        <a:bodyPr/>
        <a:lstStyle/>
        <a:p>
          <a:endParaRPr lang="es-VE"/>
        </a:p>
      </dgm:t>
    </dgm:pt>
    <dgm:pt modelId="{84001CCE-9DF1-4592-BAC2-408724D162C7}">
      <dgm:prSet/>
      <dgm:spPr/>
      <dgm:t>
        <a:bodyPr/>
        <a:lstStyle/>
        <a:p>
          <a:pPr algn="l"/>
          <a:endParaRPr lang="es-VE" sz="1900" dirty="0">
            <a:effectLst/>
            <a:latin typeface="Calibri" panose="020F0502020204030204" pitchFamily="34" charset="0"/>
            <a:ea typeface="Calibri" panose="020F0502020204030204" pitchFamily="34" charset="0"/>
            <a:cs typeface="Times New Roman" panose="02020603050405020304" pitchFamily="18" charset="0"/>
          </a:endParaRPr>
        </a:p>
      </dgm:t>
    </dgm:pt>
    <dgm:pt modelId="{F382D94A-A6B4-45BB-BC5A-7258B52E7666}" type="parTrans" cxnId="{10102011-1A34-443B-9D8C-B766DDE94270}">
      <dgm:prSet/>
      <dgm:spPr/>
      <dgm:t>
        <a:bodyPr/>
        <a:lstStyle/>
        <a:p>
          <a:endParaRPr lang="es-VE"/>
        </a:p>
      </dgm:t>
    </dgm:pt>
    <dgm:pt modelId="{921E69D4-4A72-4D15-AA09-D0671FCA9893}" type="sibTrans" cxnId="{10102011-1A34-443B-9D8C-B766DDE94270}">
      <dgm:prSet/>
      <dgm:spPr/>
      <dgm:t>
        <a:bodyPr/>
        <a:lstStyle/>
        <a:p>
          <a:endParaRPr lang="es-VE"/>
        </a:p>
      </dgm:t>
    </dgm:pt>
    <dgm:pt modelId="{72FE19D1-1681-4C80-9FA3-DD6DC007F85C}">
      <dgm:prSet custT="1"/>
      <dgm:spPr/>
      <dgm:t>
        <a:bodyPr/>
        <a:lstStyle/>
        <a:p>
          <a:pPr algn="just">
            <a:buFont typeface="Times New Roman" panose="02020603050405020304" pitchFamily="18" charset="0"/>
            <a:buChar char="-"/>
          </a:pP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Establecer las estrategias para agilizar la atención al cliente en Banesco Banco Universal, C.A. Gerencia de Red de Sucursales. </a:t>
          </a:r>
          <a:r>
            <a:rPr lang="es-E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Estado Bolivariano de Miranda.</a:t>
          </a:r>
          <a:endParaRPr lang="es-VE" sz="1600" dirty="0">
            <a:effectLst/>
            <a:latin typeface="Calibri" panose="020F0502020204030204" pitchFamily="34" charset="0"/>
            <a:ea typeface="Calibri" panose="020F0502020204030204" pitchFamily="34" charset="0"/>
            <a:cs typeface="Times New Roman" panose="02020603050405020304" pitchFamily="18" charset="0"/>
          </a:endParaRPr>
        </a:p>
      </dgm:t>
    </dgm:pt>
    <dgm:pt modelId="{C4102E90-95B4-40C9-BEE3-6BC3FE9BDFD4}" type="parTrans" cxnId="{AA88BDD3-A2AD-4456-87A0-299480C92CDD}">
      <dgm:prSet/>
      <dgm:spPr/>
      <dgm:t>
        <a:bodyPr/>
        <a:lstStyle/>
        <a:p>
          <a:endParaRPr lang="es-VE"/>
        </a:p>
      </dgm:t>
    </dgm:pt>
    <dgm:pt modelId="{0F25ED40-0668-4A50-9DD9-47D2B23297CE}" type="sibTrans" cxnId="{AA88BDD3-A2AD-4456-87A0-299480C92CDD}">
      <dgm:prSet/>
      <dgm:spPr/>
      <dgm:t>
        <a:bodyPr/>
        <a:lstStyle/>
        <a:p>
          <a:endParaRPr lang="es-VE"/>
        </a:p>
      </dgm:t>
    </dgm:pt>
    <dgm:pt modelId="{4CA637E2-647C-49A9-B510-3B2A220503FA}" type="pres">
      <dgm:prSet presAssocID="{C7DC5823-62CE-4587-BAA9-590C56FB38B7}" presName="diagram" presStyleCnt="0">
        <dgm:presLayoutVars>
          <dgm:chPref val="1"/>
          <dgm:dir/>
          <dgm:animOne val="branch"/>
          <dgm:animLvl val="lvl"/>
          <dgm:resizeHandles/>
        </dgm:presLayoutVars>
      </dgm:prSet>
      <dgm:spPr/>
    </dgm:pt>
    <dgm:pt modelId="{385FFEC3-18E0-4B02-ACCF-31418F5F33ED}" type="pres">
      <dgm:prSet presAssocID="{12F54C83-FA1C-40CC-98CC-ECB0A5DBA4DA}" presName="root" presStyleCnt="0"/>
      <dgm:spPr/>
    </dgm:pt>
    <dgm:pt modelId="{27DF8D2C-04AD-47BE-92A1-50E31D3B60ED}" type="pres">
      <dgm:prSet presAssocID="{12F54C83-FA1C-40CC-98CC-ECB0A5DBA4DA}" presName="rootComposite" presStyleCnt="0"/>
      <dgm:spPr/>
    </dgm:pt>
    <dgm:pt modelId="{85F3116C-D414-48E2-B6A6-088B3623951C}" type="pres">
      <dgm:prSet presAssocID="{12F54C83-FA1C-40CC-98CC-ECB0A5DBA4DA}" presName="rootText" presStyleLbl="node1" presStyleIdx="0" presStyleCnt="2" custScaleY="62923" custLinFactNeighborX="637" custLinFactNeighborY="-125"/>
      <dgm:spPr/>
    </dgm:pt>
    <dgm:pt modelId="{9C1B998E-E9EE-43A0-9DAD-E2D06CACC6EC}" type="pres">
      <dgm:prSet presAssocID="{12F54C83-FA1C-40CC-98CC-ECB0A5DBA4DA}" presName="rootConnector" presStyleLbl="node1" presStyleIdx="0" presStyleCnt="2"/>
      <dgm:spPr/>
    </dgm:pt>
    <dgm:pt modelId="{999A2768-7F66-4243-9CC7-79802435A4B1}" type="pres">
      <dgm:prSet presAssocID="{12F54C83-FA1C-40CC-98CC-ECB0A5DBA4DA}" presName="childShape" presStyleCnt="0"/>
      <dgm:spPr/>
    </dgm:pt>
    <dgm:pt modelId="{02313FCD-9A3B-4538-824E-EC05D793F3B2}" type="pres">
      <dgm:prSet presAssocID="{E8369D74-BB8A-4856-884E-1AACAE0D9FBB}" presName="Name13" presStyleLbl="parChTrans1D2" presStyleIdx="0" presStyleCnt="3"/>
      <dgm:spPr/>
    </dgm:pt>
    <dgm:pt modelId="{F783DBC9-E0A7-45A0-8C11-4470BCEF30CA}" type="pres">
      <dgm:prSet presAssocID="{FCC6E488-1296-45DB-82F3-A5DB90F577D9}" presName="childText" presStyleLbl="bgAcc1" presStyleIdx="0" presStyleCnt="3">
        <dgm:presLayoutVars>
          <dgm:bulletEnabled val="1"/>
        </dgm:presLayoutVars>
      </dgm:prSet>
      <dgm:spPr/>
    </dgm:pt>
    <dgm:pt modelId="{3218948C-12D2-428E-B3E3-009233CB57C3}" type="pres">
      <dgm:prSet presAssocID="{B761DCB4-2678-4F50-9CA6-FA9558C6D768}" presName="root" presStyleCnt="0"/>
      <dgm:spPr/>
    </dgm:pt>
    <dgm:pt modelId="{7D5855B1-CFC3-4328-9678-CDC35F4033DD}" type="pres">
      <dgm:prSet presAssocID="{B761DCB4-2678-4F50-9CA6-FA9558C6D768}" presName="rootComposite" presStyleCnt="0"/>
      <dgm:spPr/>
    </dgm:pt>
    <dgm:pt modelId="{90062E7E-24D1-4B75-8561-EACEBACF219F}" type="pres">
      <dgm:prSet presAssocID="{B761DCB4-2678-4F50-9CA6-FA9558C6D768}" presName="rootText" presStyleLbl="node1" presStyleIdx="1" presStyleCnt="2" custScaleY="52821" custLinFactNeighborX="-12500" custLinFactNeighborY="2325"/>
      <dgm:spPr/>
    </dgm:pt>
    <dgm:pt modelId="{79B3C21B-C559-4746-901F-FA89307F9E74}" type="pres">
      <dgm:prSet presAssocID="{B761DCB4-2678-4F50-9CA6-FA9558C6D768}" presName="rootConnector" presStyleLbl="node1" presStyleIdx="1" presStyleCnt="2"/>
      <dgm:spPr/>
    </dgm:pt>
    <dgm:pt modelId="{BB395CA4-B834-493E-986E-499D160B8D04}" type="pres">
      <dgm:prSet presAssocID="{B761DCB4-2678-4F50-9CA6-FA9558C6D768}" presName="childShape" presStyleCnt="0"/>
      <dgm:spPr/>
    </dgm:pt>
    <dgm:pt modelId="{D23CB3A6-9C10-48B0-9F2C-0AD326549993}" type="pres">
      <dgm:prSet presAssocID="{F382D94A-A6B4-45BB-BC5A-7258B52E7666}" presName="Name13" presStyleLbl="parChTrans1D2" presStyleIdx="1" presStyleCnt="3"/>
      <dgm:spPr/>
    </dgm:pt>
    <dgm:pt modelId="{2340E844-3EB5-4814-9225-35A44B79F4C8}" type="pres">
      <dgm:prSet presAssocID="{84001CCE-9DF1-4592-BAC2-408724D162C7}" presName="childText" presStyleLbl="bgAcc1" presStyleIdx="1" presStyleCnt="3">
        <dgm:presLayoutVars>
          <dgm:bulletEnabled val="1"/>
        </dgm:presLayoutVars>
      </dgm:prSet>
      <dgm:spPr/>
    </dgm:pt>
    <dgm:pt modelId="{6B817049-4522-4FA7-BFC1-A97ACD0346BC}" type="pres">
      <dgm:prSet presAssocID="{64869C3E-B21F-4E0E-BD7A-0FBCD6E14D90}" presName="Name13" presStyleLbl="parChTrans1D2" presStyleIdx="2" presStyleCnt="3"/>
      <dgm:spPr/>
    </dgm:pt>
    <dgm:pt modelId="{B4F8483F-BF6E-4173-B814-4B559FAD0915}" type="pres">
      <dgm:prSet presAssocID="{135AFA3C-9D25-47F5-ADB4-BA75894F453B}" presName="childText" presStyleLbl="bgAcc1" presStyleIdx="2" presStyleCnt="3">
        <dgm:presLayoutVars>
          <dgm:bulletEnabled val="1"/>
        </dgm:presLayoutVars>
      </dgm:prSet>
      <dgm:spPr/>
    </dgm:pt>
  </dgm:ptLst>
  <dgm:cxnLst>
    <dgm:cxn modelId="{10102011-1A34-443B-9D8C-B766DDE94270}" srcId="{B761DCB4-2678-4F50-9CA6-FA9558C6D768}" destId="{84001CCE-9DF1-4592-BAC2-408724D162C7}" srcOrd="0" destOrd="0" parTransId="{F382D94A-A6B4-45BB-BC5A-7258B52E7666}" sibTransId="{921E69D4-4A72-4D15-AA09-D0671FCA9893}"/>
    <dgm:cxn modelId="{7D8A2A25-29A9-4F0C-A1F3-104BF1BCE2B6}" type="presOf" srcId="{64869C3E-B21F-4E0E-BD7A-0FBCD6E14D90}" destId="{6B817049-4522-4FA7-BFC1-A97ACD0346BC}" srcOrd="0" destOrd="0" presId="urn:microsoft.com/office/officeart/2005/8/layout/hierarchy3"/>
    <dgm:cxn modelId="{7F313335-82E9-4C22-9F3B-A689EFCF0E3B}" type="presOf" srcId="{FCC6E488-1296-45DB-82F3-A5DB90F577D9}" destId="{F783DBC9-E0A7-45A0-8C11-4470BCEF30CA}" srcOrd="0" destOrd="0" presId="urn:microsoft.com/office/officeart/2005/8/layout/hierarchy3"/>
    <dgm:cxn modelId="{B2114B3D-54A9-4BF3-9B30-67A702A25F99}" type="presOf" srcId="{12F54C83-FA1C-40CC-98CC-ECB0A5DBA4DA}" destId="{85F3116C-D414-48E2-B6A6-088B3623951C}" srcOrd="0" destOrd="0" presId="urn:microsoft.com/office/officeart/2005/8/layout/hierarchy3"/>
    <dgm:cxn modelId="{C1D6575C-D31F-459B-8027-4C60AA63A097}" srcId="{12F54C83-FA1C-40CC-98CC-ECB0A5DBA4DA}" destId="{FCC6E488-1296-45DB-82F3-A5DB90F577D9}" srcOrd="0" destOrd="0" parTransId="{E8369D74-BB8A-4856-884E-1AACAE0D9FBB}" sibTransId="{EE79E940-5CF6-4752-9FE3-76E0460BCFAB}"/>
    <dgm:cxn modelId="{4F692B5D-DEBF-40FC-A9BF-54A8A834488B}" type="presOf" srcId="{C7DC5823-62CE-4587-BAA9-590C56FB38B7}" destId="{4CA637E2-647C-49A9-B510-3B2A220503FA}" srcOrd="0" destOrd="0" presId="urn:microsoft.com/office/officeart/2005/8/layout/hierarchy3"/>
    <dgm:cxn modelId="{0ECF615F-D119-4602-B3A7-99482F982ACF}" type="presOf" srcId="{84001CCE-9DF1-4592-BAC2-408724D162C7}" destId="{2340E844-3EB5-4814-9225-35A44B79F4C8}" srcOrd="0" destOrd="0" presId="urn:microsoft.com/office/officeart/2005/8/layout/hierarchy3"/>
    <dgm:cxn modelId="{A89B0546-08A0-43DE-9013-98CA9E6E1827}" type="presOf" srcId="{B761DCB4-2678-4F50-9CA6-FA9558C6D768}" destId="{90062E7E-24D1-4B75-8561-EACEBACF219F}" srcOrd="0" destOrd="0" presId="urn:microsoft.com/office/officeart/2005/8/layout/hierarchy3"/>
    <dgm:cxn modelId="{1EEB1071-701E-44DE-9608-2AEE4178951B}" type="presOf" srcId="{135AFA3C-9D25-47F5-ADB4-BA75894F453B}" destId="{B4F8483F-BF6E-4173-B814-4B559FAD0915}" srcOrd="0" destOrd="0" presId="urn:microsoft.com/office/officeart/2005/8/layout/hierarchy3"/>
    <dgm:cxn modelId="{1839FB53-A1C0-45F1-974D-E01AA6983B7D}" srcId="{C7DC5823-62CE-4587-BAA9-590C56FB38B7}" destId="{B761DCB4-2678-4F50-9CA6-FA9558C6D768}" srcOrd="1" destOrd="0" parTransId="{89FD0166-3B7B-495A-9AE0-B6FB10C59B90}" sibTransId="{7C5AE259-3D94-4B2A-9F17-F803A772D2D6}"/>
    <dgm:cxn modelId="{80E19058-3AA1-4CE3-97AD-8C6E925C2956}" srcId="{B761DCB4-2678-4F50-9CA6-FA9558C6D768}" destId="{135AFA3C-9D25-47F5-ADB4-BA75894F453B}" srcOrd="1" destOrd="0" parTransId="{64869C3E-B21F-4E0E-BD7A-0FBCD6E14D90}" sibTransId="{8EC63568-9E83-44CF-A17B-8F63B239E46B}"/>
    <dgm:cxn modelId="{75640C59-52B4-463D-BA0B-C9031B113F89}" type="presOf" srcId="{B761DCB4-2678-4F50-9CA6-FA9558C6D768}" destId="{79B3C21B-C559-4746-901F-FA89307F9E74}" srcOrd="1" destOrd="0" presId="urn:microsoft.com/office/officeart/2005/8/layout/hierarchy3"/>
    <dgm:cxn modelId="{AE1CC985-E8AB-475F-81B5-51D3DB2C0ADF}" type="presOf" srcId="{12F54C83-FA1C-40CC-98CC-ECB0A5DBA4DA}" destId="{9C1B998E-E9EE-43A0-9DAD-E2D06CACC6EC}" srcOrd="1" destOrd="0" presId="urn:microsoft.com/office/officeart/2005/8/layout/hierarchy3"/>
    <dgm:cxn modelId="{56A0FA89-A45C-4A17-92E4-931E80CE0AC2}" type="presOf" srcId="{E8369D74-BB8A-4856-884E-1AACAE0D9FBB}" destId="{02313FCD-9A3B-4538-824E-EC05D793F3B2}" srcOrd="0" destOrd="0" presId="urn:microsoft.com/office/officeart/2005/8/layout/hierarchy3"/>
    <dgm:cxn modelId="{C4E2819F-A369-4A0D-9D86-784BA2974C08}" srcId="{C7DC5823-62CE-4587-BAA9-590C56FB38B7}" destId="{12F54C83-FA1C-40CC-98CC-ECB0A5DBA4DA}" srcOrd="0" destOrd="0" parTransId="{8708CB4A-1E9E-4B43-A7B4-E21172BEF13E}" sibTransId="{95E2D072-42BF-4F52-947C-E26AE7541750}"/>
    <dgm:cxn modelId="{5F834DA6-207C-44F6-8655-0EF0875E5660}" type="presOf" srcId="{72FE19D1-1681-4C80-9FA3-DD6DC007F85C}" destId="{2340E844-3EB5-4814-9225-35A44B79F4C8}" srcOrd="0" destOrd="1" presId="urn:microsoft.com/office/officeart/2005/8/layout/hierarchy3"/>
    <dgm:cxn modelId="{173F10CF-A58A-43DB-9A39-D7A1BFA05C16}" type="presOf" srcId="{F382D94A-A6B4-45BB-BC5A-7258B52E7666}" destId="{D23CB3A6-9C10-48B0-9F2C-0AD326549993}" srcOrd="0" destOrd="0" presId="urn:microsoft.com/office/officeart/2005/8/layout/hierarchy3"/>
    <dgm:cxn modelId="{AA88BDD3-A2AD-4456-87A0-299480C92CDD}" srcId="{84001CCE-9DF1-4592-BAC2-408724D162C7}" destId="{72FE19D1-1681-4C80-9FA3-DD6DC007F85C}" srcOrd="0" destOrd="0" parTransId="{C4102E90-95B4-40C9-BEE3-6BC3FE9BDFD4}" sibTransId="{0F25ED40-0668-4A50-9DD9-47D2B23297CE}"/>
    <dgm:cxn modelId="{C3C05B87-A5A8-4BB9-9A6D-CC0D105F2D0D}" type="presParOf" srcId="{4CA637E2-647C-49A9-B510-3B2A220503FA}" destId="{385FFEC3-18E0-4B02-ACCF-31418F5F33ED}" srcOrd="0" destOrd="0" presId="urn:microsoft.com/office/officeart/2005/8/layout/hierarchy3"/>
    <dgm:cxn modelId="{BB1A4BE8-2A1A-4A5F-9A2C-C257958B7716}" type="presParOf" srcId="{385FFEC3-18E0-4B02-ACCF-31418F5F33ED}" destId="{27DF8D2C-04AD-47BE-92A1-50E31D3B60ED}" srcOrd="0" destOrd="0" presId="urn:microsoft.com/office/officeart/2005/8/layout/hierarchy3"/>
    <dgm:cxn modelId="{CBDAE92B-5DEB-4A99-9443-3DB546CCAB42}" type="presParOf" srcId="{27DF8D2C-04AD-47BE-92A1-50E31D3B60ED}" destId="{85F3116C-D414-48E2-B6A6-088B3623951C}" srcOrd="0" destOrd="0" presId="urn:microsoft.com/office/officeart/2005/8/layout/hierarchy3"/>
    <dgm:cxn modelId="{A0D2982C-0B84-4C5D-926F-C2EFA80383A0}" type="presParOf" srcId="{27DF8D2C-04AD-47BE-92A1-50E31D3B60ED}" destId="{9C1B998E-E9EE-43A0-9DAD-E2D06CACC6EC}" srcOrd="1" destOrd="0" presId="urn:microsoft.com/office/officeart/2005/8/layout/hierarchy3"/>
    <dgm:cxn modelId="{F8E4257C-2669-4019-AFB3-A19F0ADD4E8D}" type="presParOf" srcId="{385FFEC3-18E0-4B02-ACCF-31418F5F33ED}" destId="{999A2768-7F66-4243-9CC7-79802435A4B1}" srcOrd="1" destOrd="0" presId="urn:microsoft.com/office/officeart/2005/8/layout/hierarchy3"/>
    <dgm:cxn modelId="{0EEF436A-261D-451C-B3A8-B8B28ED0CDBE}" type="presParOf" srcId="{999A2768-7F66-4243-9CC7-79802435A4B1}" destId="{02313FCD-9A3B-4538-824E-EC05D793F3B2}" srcOrd="0" destOrd="0" presId="urn:microsoft.com/office/officeart/2005/8/layout/hierarchy3"/>
    <dgm:cxn modelId="{40FCB3FD-A662-4DCC-B0B1-DAF6BA42FBB9}" type="presParOf" srcId="{999A2768-7F66-4243-9CC7-79802435A4B1}" destId="{F783DBC9-E0A7-45A0-8C11-4470BCEF30CA}" srcOrd="1" destOrd="0" presId="urn:microsoft.com/office/officeart/2005/8/layout/hierarchy3"/>
    <dgm:cxn modelId="{CF7E42B3-C568-4DD8-820B-7DB30B29E8B3}" type="presParOf" srcId="{4CA637E2-647C-49A9-B510-3B2A220503FA}" destId="{3218948C-12D2-428E-B3E3-009233CB57C3}" srcOrd="1" destOrd="0" presId="urn:microsoft.com/office/officeart/2005/8/layout/hierarchy3"/>
    <dgm:cxn modelId="{4AA90B92-99B4-41B8-8B29-BA9F738D8AB4}" type="presParOf" srcId="{3218948C-12D2-428E-B3E3-009233CB57C3}" destId="{7D5855B1-CFC3-4328-9678-CDC35F4033DD}" srcOrd="0" destOrd="0" presId="urn:microsoft.com/office/officeart/2005/8/layout/hierarchy3"/>
    <dgm:cxn modelId="{33BEA4EE-4EC0-4F3E-B111-88735457C451}" type="presParOf" srcId="{7D5855B1-CFC3-4328-9678-CDC35F4033DD}" destId="{90062E7E-24D1-4B75-8561-EACEBACF219F}" srcOrd="0" destOrd="0" presId="urn:microsoft.com/office/officeart/2005/8/layout/hierarchy3"/>
    <dgm:cxn modelId="{2E2F6E3E-273F-4B75-8CE1-B800CA629D61}" type="presParOf" srcId="{7D5855B1-CFC3-4328-9678-CDC35F4033DD}" destId="{79B3C21B-C559-4746-901F-FA89307F9E74}" srcOrd="1" destOrd="0" presId="urn:microsoft.com/office/officeart/2005/8/layout/hierarchy3"/>
    <dgm:cxn modelId="{D6B9E1E9-D6EB-4159-B7F0-090596C4708E}" type="presParOf" srcId="{3218948C-12D2-428E-B3E3-009233CB57C3}" destId="{BB395CA4-B834-493E-986E-499D160B8D04}" srcOrd="1" destOrd="0" presId="urn:microsoft.com/office/officeart/2005/8/layout/hierarchy3"/>
    <dgm:cxn modelId="{6C72E2F1-1077-40D1-8529-2082B3C97194}" type="presParOf" srcId="{BB395CA4-B834-493E-986E-499D160B8D04}" destId="{D23CB3A6-9C10-48B0-9F2C-0AD326549993}" srcOrd="0" destOrd="0" presId="urn:microsoft.com/office/officeart/2005/8/layout/hierarchy3"/>
    <dgm:cxn modelId="{E92A71CB-0F70-4822-8342-F4D0D5C4D17F}" type="presParOf" srcId="{BB395CA4-B834-493E-986E-499D160B8D04}" destId="{2340E844-3EB5-4814-9225-35A44B79F4C8}" srcOrd="1" destOrd="0" presId="urn:microsoft.com/office/officeart/2005/8/layout/hierarchy3"/>
    <dgm:cxn modelId="{4F2EE148-2253-4BBC-BE57-429D19F457C8}" type="presParOf" srcId="{BB395CA4-B834-493E-986E-499D160B8D04}" destId="{6B817049-4522-4FA7-BFC1-A97ACD0346BC}" srcOrd="2" destOrd="0" presId="urn:microsoft.com/office/officeart/2005/8/layout/hierarchy3"/>
    <dgm:cxn modelId="{07A79F9D-0DF1-48D0-B460-B549F516D739}" type="presParOf" srcId="{BB395CA4-B834-493E-986E-499D160B8D04}" destId="{B4F8483F-BF6E-4173-B814-4B559FAD0915}"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39E92-A81B-402A-B996-B43DCCFCDF8B}">
      <dsp:nvSpPr>
        <dsp:cNvPr id="0" name=""/>
        <dsp:cNvSpPr/>
      </dsp:nvSpPr>
      <dsp:spPr>
        <a:xfrm rot="16200000">
          <a:off x="-1161843" y="2002076"/>
          <a:ext cx="2809701" cy="390508"/>
        </a:xfrm>
        <a:prstGeom prst="rect">
          <a:avLst/>
        </a:prstGeom>
        <a:noFill/>
        <a:ln w="9525"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344407" bIns="0" numCol="1" spcCol="1270" anchor="t" anchorCtr="0">
          <a:noAutofit/>
        </a:bodyPr>
        <a:lstStyle/>
        <a:p>
          <a:pPr marL="0" lvl="0" indent="0" algn="r" defTabSz="1200150">
            <a:lnSpc>
              <a:spcPct val="90000"/>
            </a:lnSpc>
            <a:spcBef>
              <a:spcPct val="0"/>
            </a:spcBef>
            <a:spcAft>
              <a:spcPct val="35000"/>
            </a:spcAft>
            <a:buNone/>
          </a:pPr>
          <a:r>
            <a:rPr lang="es-ES" sz="2700" kern="1200" dirty="0">
              <a:solidFill>
                <a:schemeClr val="tx1"/>
              </a:solidFill>
            </a:rPr>
            <a:t>Misión</a:t>
          </a:r>
          <a:r>
            <a:rPr lang="es-ES" sz="2700" kern="1200" dirty="0"/>
            <a:t> </a:t>
          </a:r>
          <a:endParaRPr lang="es-VE" sz="2700" kern="1200" dirty="0"/>
        </a:p>
      </dsp:txBody>
      <dsp:txXfrm>
        <a:off x="-1161843" y="2002076"/>
        <a:ext cx="2809701" cy="390508"/>
      </dsp:txXfrm>
    </dsp:sp>
    <dsp:sp modelId="{AC50B02B-FF96-4FD4-ADEF-0A2F5B0FCD61}">
      <dsp:nvSpPr>
        <dsp:cNvPr id="0" name=""/>
        <dsp:cNvSpPr/>
      </dsp:nvSpPr>
      <dsp:spPr>
        <a:xfrm>
          <a:off x="438261" y="653975"/>
          <a:ext cx="1945147" cy="2809701"/>
        </a:xfrm>
        <a:prstGeom prst="rect">
          <a:avLst/>
        </a:prstGeom>
        <a:solidFill>
          <a:schemeClr val="l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5128" tIns="344407" rIns="135128" bIns="135128" numCol="1" spcCol="1270" anchor="t" anchorCtr="0">
          <a:noAutofit/>
        </a:bodyPr>
        <a:lstStyle/>
        <a:p>
          <a:pPr marL="114300" lvl="1" indent="-114300" algn="just" defTabSz="666750">
            <a:lnSpc>
              <a:spcPct val="90000"/>
            </a:lnSpc>
            <a:spcBef>
              <a:spcPct val="0"/>
            </a:spcBef>
            <a:spcAft>
              <a:spcPct val="15000"/>
            </a:spcAft>
            <a:buFont typeface="Arial" panose="020B0604020202020204" pitchFamily="34" charset="0"/>
            <a:buChar char="•"/>
          </a:pPr>
          <a:r>
            <a:rPr lang="es-ES" sz="1500" kern="1200" dirty="0"/>
            <a:t> </a:t>
          </a:r>
          <a:r>
            <a:rPr lang="es-ES" sz="1500" b="1" kern="1200" dirty="0"/>
            <a:t>Estamos comprometidos a generar la mayor rentabilidad al accionista y bienestar a nuestra comunidad.</a:t>
          </a:r>
          <a:endParaRPr lang="es-VE" sz="1500" b="1" kern="1200" dirty="0"/>
        </a:p>
      </dsp:txBody>
      <dsp:txXfrm>
        <a:off x="438261" y="653975"/>
        <a:ext cx="1945147" cy="2809701"/>
      </dsp:txXfrm>
    </dsp:sp>
    <dsp:sp modelId="{98501AC5-8A95-4C8F-A6F4-26F26756E857}">
      <dsp:nvSpPr>
        <dsp:cNvPr id="0" name=""/>
        <dsp:cNvSpPr/>
      </dsp:nvSpPr>
      <dsp:spPr>
        <a:xfrm>
          <a:off x="47753" y="138504"/>
          <a:ext cx="781017" cy="781017"/>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515A9441-6663-4FEC-A6C8-A56CB7FDB1BE}">
      <dsp:nvSpPr>
        <dsp:cNvPr id="0" name=""/>
        <dsp:cNvSpPr/>
      </dsp:nvSpPr>
      <dsp:spPr>
        <a:xfrm rot="16200000">
          <a:off x="1686575" y="1863572"/>
          <a:ext cx="2809701" cy="390508"/>
        </a:xfrm>
        <a:prstGeom prst="rect">
          <a:avLst/>
        </a:prstGeom>
        <a:noFill/>
        <a:ln w="9525"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344407" bIns="0" numCol="1" spcCol="1270" anchor="t" anchorCtr="0">
          <a:noAutofit/>
        </a:bodyPr>
        <a:lstStyle/>
        <a:p>
          <a:pPr marL="0" lvl="0" indent="0" algn="r" defTabSz="1200150">
            <a:lnSpc>
              <a:spcPct val="90000"/>
            </a:lnSpc>
            <a:spcBef>
              <a:spcPct val="0"/>
            </a:spcBef>
            <a:spcAft>
              <a:spcPct val="35000"/>
            </a:spcAft>
            <a:buNone/>
          </a:pPr>
          <a:r>
            <a:rPr lang="es-ES" sz="2700" kern="1200" dirty="0"/>
            <a:t>Visión </a:t>
          </a:r>
          <a:endParaRPr lang="es-VE" sz="2700" kern="1200" dirty="0"/>
        </a:p>
      </dsp:txBody>
      <dsp:txXfrm>
        <a:off x="1686575" y="1863572"/>
        <a:ext cx="2809701" cy="390508"/>
      </dsp:txXfrm>
    </dsp:sp>
    <dsp:sp modelId="{516DB1DB-AC77-4216-843F-ED76141C5E64}">
      <dsp:nvSpPr>
        <dsp:cNvPr id="0" name=""/>
        <dsp:cNvSpPr/>
      </dsp:nvSpPr>
      <dsp:spPr>
        <a:xfrm>
          <a:off x="3286680" y="653975"/>
          <a:ext cx="1945147" cy="2809701"/>
        </a:xfrm>
        <a:prstGeom prst="rect">
          <a:avLst/>
        </a:prstGeom>
        <a:solidFill>
          <a:schemeClr val="l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5128" tIns="344407" rIns="135128" bIns="135128" numCol="1" spcCol="1270" anchor="t" anchorCtr="0">
          <a:noAutofit/>
        </a:bodyPr>
        <a:lstStyle/>
        <a:p>
          <a:pPr marL="114300" lvl="1" indent="-114300" algn="just" defTabSz="666750">
            <a:lnSpc>
              <a:spcPct val="90000"/>
            </a:lnSpc>
            <a:spcBef>
              <a:spcPct val="0"/>
            </a:spcBef>
            <a:spcAft>
              <a:spcPct val="15000"/>
            </a:spcAft>
            <a:buChar char="•"/>
          </a:pPr>
          <a:r>
            <a:rPr lang="es-ES" sz="1500" b="1" kern="1200" dirty="0"/>
            <a:t>Garantizar el acceso a nuestros servicios de una manera conveniente, confiable y consistente.</a:t>
          </a:r>
          <a:endParaRPr lang="es-VE" sz="1500" b="1" kern="1200" dirty="0"/>
        </a:p>
      </dsp:txBody>
      <dsp:txXfrm>
        <a:off x="3286680" y="653975"/>
        <a:ext cx="1945147" cy="2809701"/>
      </dsp:txXfrm>
    </dsp:sp>
    <dsp:sp modelId="{6595D2F2-675C-4902-9DCB-092CCF7C725D}">
      <dsp:nvSpPr>
        <dsp:cNvPr id="0" name=""/>
        <dsp:cNvSpPr/>
      </dsp:nvSpPr>
      <dsp:spPr>
        <a:xfrm>
          <a:off x="2896171" y="138504"/>
          <a:ext cx="781017" cy="781017"/>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E773EB2C-1E2F-4877-AC3C-33E56DC36A9A}">
      <dsp:nvSpPr>
        <dsp:cNvPr id="0" name=""/>
        <dsp:cNvSpPr/>
      </dsp:nvSpPr>
      <dsp:spPr>
        <a:xfrm rot="16200000">
          <a:off x="4534993" y="1863572"/>
          <a:ext cx="2809701" cy="390508"/>
        </a:xfrm>
        <a:prstGeom prst="rect">
          <a:avLst/>
        </a:prstGeom>
        <a:noFill/>
        <a:ln w="9525"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344407" bIns="0" numCol="1" spcCol="1270" anchor="t" anchorCtr="0">
          <a:noAutofit/>
        </a:bodyPr>
        <a:lstStyle/>
        <a:p>
          <a:pPr marL="0" lvl="0" indent="0" algn="r" defTabSz="1200150">
            <a:lnSpc>
              <a:spcPct val="90000"/>
            </a:lnSpc>
            <a:spcBef>
              <a:spcPct val="0"/>
            </a:spcBef>
            <a:spcAft>
              <a:spcPct val="35000"/>
            </a:spcAft>
            <a:buNone/>
          </a:pPr>
          <a:r>
            <a:rPr lang="es-ES" sz="2700" kern="1200" dirty="0"/>
            <a:t>Valores</a:t>
          </a:r>
          <a:endParaRPr lang="es-VE" sz="2700" kern="1200" dirty="0"/>
        </a:p>
      </dsp:txBody>
      <dsp:txXfrm>
        <a:off x="4534993" y="1863572"/>
        <a:ext cx="2809701" cy="390508"/>
      </dsp:txXfrm>
    </dsp:sp>
    <dsp:sp modelId="{E2CD4A44-55C4-4FE8-801D-11AFD1C3C2CE}">
      <dsp:nvSpPr>
        <dsp:cNvPr id="0" name=""/>
        <dsp:cNvSpPr/>
      </dsp:nvSpPr>
      <dsp:spPr>
        <a:xfrm>
          <a:off x="6135099" y="653975"/>
          <a:ext cx="1945147" cy="2809701"/>
        </a:xfrm>
        <a:prstGeom prst="rect">
          <a:avLst/>
        </a:prstGeom>
        <a:solidFill>
          <a:schemeClr val="l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5128" tIns="344407" rIns="135128" bIns="135128" numCol="1" spcCol="1270" anchor="t" anchorCtr="0">
          <a:noAutofit/>
        </a:bodyPr>
        <a:lstStyle/>
        <a:p>
          <a:pPr marL="114300" lvl="1" indent="-114300" algn="just" defTabSz="666750">
            <a:lnSpc>
              <a:spcPct val="90000"/>
            </a:lnSpc>
            <a:spcBef>
              <a:spcPct val="0"/>
            </a:spcBef>
            <a:spcAft>
              <a:spcPct val="15000"/>
            </a:spcAft>
            <a:buChar char="•"/>
          </a:pPr>
          <a:r>
            <a:rPr lang="es-ES" sz="1500" b="1" kern="1200" dirty="0"/>
            <a:t>Responsabilidad</a:t>
          </a:r>
          <a:endParaRPr lang="es-VE" sz="1500" b="1" kern="1200" dirty="0"/>
        </a:p>
        <a:p>
          <a:pPr marL="114300" lvl="1" indent="-114300" algn="just" defTabSz="666750">
            <a:lnSpc>
              <a:spcPct val="90000"/>
            </a:lnSpc>
            <a:spcBef>
              <a:spcPct val="0"/>
            </a:spcBef>
            <a:spcAft>
              <a:spcPct val="15000"/>
            </a:spcAft>
            <a:buChar char="•"/>
          </a:pPr>
          <a:r>
            <a:rPr lang="es-ES" sz="1500" b="1" kern="1200" dirty="0"/>
            <a:t>Confiabilidad</a:t>
          </a:r>
          <a:endParaRPr lang="es-VE" sz="1500" kern="1200" dirty="0"/>
        </a:p>
        <a:p>
          <a:pPr marL="114300" lvl="1" indent="-114300" algn="just" defTabSz="666750">
            <a:lnSpc>
              <a:spcPct val="90000"/>
            </a:lnSpc>
            <a:spcBef>
              <a:spcPct val="0"/>
            </a:spcBef>
            <a:spcAft>
              <a:spcPct val="15000"/>
            </a:spcAft>
            <a:buChar char="•"/>
          </a:pPr>
          <a:r>
            <a:rPr lang="es-ES" sz="1500" b="1" kern="1200" dirty="0"/>
            <a:t>Calidad</a:t>
          </a:r>
          <a:endParaRPr lang="es-VE" sz="1500" kern="1200" dirty="0"/>
        </a:p>
        <a:p>
          <a:pPr marL="114300" lvl="1" indent="-114300" algn="just" defTabSz="666750">
            <a:lnSpc>
              <a:spcPct val="90000"/>
            </a:lnSpc>
            <a:spcBef>
              <a:spcPct val="0"/>
            </a:spcBef>
            <a:spcAft>
              <a:spcPct val="15000"/>
            </a:spcAft>
            <a:buChar char="•"/>
          </a:pPr>
          <a:r>
            <a:rPr lang="es-ES" sz="1500" b="1" kern="1200" dirty="0"/>
            <a:t>Innovación</a:t>
          </a:r>
          <a:endParaRPr lang="es-VE" sz="1500" kern="1200" dirty="0"/>
        </a:p>
      </dsp:txBody>
      <dsp:txXfrm>
        <a:off x="6135099" y="653975"/>
        <a:ext cx="1945147" cy="2809701"/>
      </dsp:txXfrm>
    </dsp:sp>
    <dsp:sp modelId="{E39D13D5-C5A0-45C1-A6E4-24A22C308A8D}">
      <dsp:nvSpPr>
        <dsp:cNvPr id="0" name=""/>
        <dsp:cNvSpPr/>
      </dsp:nvSpPr>
      <dsp:spPr>
        <a:xfrm>
          <a:off x="5744590" y="138504"/>
          <a:ext cx="781017" cy="781017"/>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1000" r="-21000"/>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E9914D-D62C-4E74-A1F0-D1DCD6EAE3BC}">
      <dsp:nvSpPr>
        <dsp:cNvPr id="0" name=""/>
        <dsp:cNvSpPr/>
      </dsp:nvSpPr>
      <dsp:spPr>
        <a:xfrm>
          <a:off x="1920762" y="1751"/>
          <a:ext cx="2509681" cy="1044682"/>
        </a:xfrm>
        <a:prstGeom prst="roundRect">
          <a:avLst>
            <a:gd name="adj" fmla="val 10000"/>
          </a:avLst>
        </a:prstGeom>
        <a:solidFill>
          <a:schemeClr val="l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4770" tIns="43180" rIns="64770" bIns="43180" numCol="1" spcCol="1270" anchor="ctr" anchorCtr="0">
          <a:noAutofit/>
        </a:bodyPr>
        <a:lstStyle/>
        <a:p>
          <a:pPr marL="0" lvl="0" indent="0" algn="ctr" defTabSz="1511300">
            <a:lnSpc>
              <a:spcPct val="90000"/>
            </a:lnSpc>
            <a:spcBef>
              <a:spcPct val="0"/>
            </a:spcBef>
            <a:spcAft>
              <a:spcPct val="35000"/>
            </a:spcAft>
            <a:buNone/>
          </a:pPr>
          <a:r>
            <a:rPr lang="es-ES" sz="3400" b="1" kern="1200" dirty="0">
              <a:solidFill>
                <a:schemeClr val="tx1"/>
              </a:solidFill>
              <a:latin typeface="Times New Roman" panose="02020603050405020304" pitchFamily="18" charset="0"/>
              <a:cs typeface="Times New Roman" panose="02020603050405020304" pitchFamily="18" charset="0"/>
            </a:rPr>
            <a:t>Objetivos</a:t>
          </a:r>
          <a:r>
            <a:rPr lang="es-ES" sz="3400" b="1" kern="1200" dirty="0">
              <a:solidFill>
                <a:schemeClr val="bg1"/>
              </a:solidFill>
              <a:latin typeface="Times New Roman" panose="02020603050405020304" pitchFamily="18" charset="0"/>
              <a:cs typeface="Times New Roman" panose="02020603050405020304" pitchFamily="18" charset="0"/>
            </a:rPr>
            <a:t> </a:t>
          </a:r>
          <a:r>
            <a:rPr lang="es-ES" sz="3400" b="1" kern="1200" dirty="0">
              <a:solidFill>
                <a:schemeClr val="tx1"/>
              </a:solidFill>
              <a:latin typeface="Times New Roman" panose="02020603050405020304" pitchFamily="18" charset="0"/>
              <a:cs typeface="Times New Roman" panose="02020603050405020304" pitchFamily="18" charset="0"/>
            </a:rPr>
            <a:t>General</a:t>
          </a:r>
          <a:endParaRPr lang="es-VE" sz="3400" b="1" kern="1200" dirty="0">
            <a:solidFill>
              <a:schemeClr val="tx1"/>
            </a:solidFill>
            <a:latin typeface="Times New Roman" panose="02020603050405020304" pitchFamily="18" charset="0"/>
            <a:cs typeface="Times New Roman" panose="02020603050405020304" pitchFamily="18" charset="0"/>
          </a:endParaRPr>
        </a:p>
      </dsp:txBody>
      <dsp:txXfrm>
        <a:off x="1951360" y="32349"/>
        <a:ext cx="2448485" cy="983486"/>
      </dsp:txXfrm>
    </dsp:sp>
    <dsp:sp modelId="{777567FA-F748-408D-8DBA-71A600565EC0}">
      <dsp:nvSpPr>
        <dsp:cNvPr id="0" name=""/>
        <dsp:cNvSpPr/>
      </dsp:nvSpPr>
      <dsp:spPr>
        <a:xfrm>
          <a:off x="2171730" y="1046433"/>
          <a:ext cx="250968" cy="2248052"/>
        </a:xfrm>
        <a:custGeom>
          <a:avLst/>
          <a:gdLst/>
          <a:ahLst/>
          <a:cxnLst/>
          <a:rect l="0" t="0" r="0" b="0"/>
          <a:pathLst>
            <a:path>
              <a:moveTo>
                <a:pt x="0" y="0"/>
              </a:moveTo>
              <a:lnTo>
                <a:pt x="0" y="2248052"/>
              </a:lnTo>
              <a:lnTo>
                <a:pt x="250968" y="2248052"/>
              </a:lnTo>
            </a:path>
          </a:pathLst>
        </a:custGeom>
        <a:noFill/>
        <a:ln w="15875" cap="rnd" cmpd="sng" algn="ctr">
          <a:solidFill>
            <a:schemeClr val="dk2">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C4A19E1D-674D-481D-92A9-68A4A74048AC}">
      <dsp:nvSpPr>
        <dsp:cNvPr id="0" name=""/>
        <dsp:cNvSpPr/>
      </dsp:nvSpPr>
      <dsp:spPr>
        <a:xfrm>
          <a:off x="2422699" y="1309355"/>
          <a:ext cx="3038637" cy="3970261"/>
        </a:xfrm>
        <a:prstGeom prst="roundRect">
          <a:avLst>
            <a:gd name="adj" fmla="val 10000"/>
          </a:avLst>
        </a:prstGeom>
        <a:solidFill>
          <a:schemeClr val="dk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just" defTabSz="622300">
            <a:lnSpc>
              <a:spcPct val="90000"/>
            </a:lnSpc>
            <a:spcBef>
              <a:spcPct val="0"/>
            </a:spcBef>
            <a:spcAft>
              <a:spcPct val="35000"/>
            </a:spcAft>
            <a:buFont typeface="Wingdings" panose="05000000000000000000" pitchFamily="2" charset="2"/>
            <a:buNone/>
          </a:pPr>
          <a:r>
            <a:rPr lang="es-ES" sz="1400" kern="1200" dirty="0">
              <a:latin typeface="Arial" panose="020B0604020202020204" pitchFamily="34" charset="0"/>
              <a:cs typeface="Arial" panose="020B0604020202020204" pitchFamily="34" charset="0"/>
            </a:rPr>
            <a:t>- </a:t>
          </a:r>
          <a:r>
            <a:rPr lang="es-ES" sz="1400" kern="1200" dirty="0">
              <a:solidFill>
                <a:schemeClr val="tx1"/>
              </a:solidFill>
              <a:latin typeface="Arial" panose="020B0604020202020204" pitchFamily="34" charset="0"/>
              <a:cs typeface="Arial" panose="020B0604020202020204" pitchFamily="34" charset="0"/>
            </a:rPr>
            <a:t>Asegurar la actuación sostenible del Banco y sus Subsidiarias, a partir de la integración de las dimensiones ambiental y social.  En su estrategia, garantizando la incorporación de los principios y directrices de esta política en los negocios, procesos internos y externos y relaciones con las partes interesadas. </a:t>
          </a:r>
          <a:endParaRPr lang="es-VE" sz="1400" kern="1200" dirty="0">
            <a:solidFill>
              <a:schemeClr val="tx1"/>
            </a:solidFill>
            <a:latin typeface="Arial" panose="020B0604020202020204" pitchFamily="34" charset="0"/>
            <a:cs typeface="Arial" panose="020B0604020202020204" pitchFamily="34" charset="0"/>
          </a:endParaRPr>
        </a:p>
      </dsp:txBody>
      <dsp:txXfrm>
        <a:off x="2511698" y="1398354"/>
        <a:ext cx="2860639" cy="3792263"/>
      </dsp:txXfrm>
    </dsp:sp>
    <dsp:sp modelId="{20CE8DF7-B04E-44EE-B280-593A2177187B}">
      <dsp:nvSpPr>
        <dsp:cNvPr id="0" name=""/>
        <dsp:cNvSpPr/>
      </dsp:nvSpPr>
      <dsp:spPr>
        <a:xfrm>
          <a:off x="5338268" y="42274"/>
          <a:ext cx="2889402" cy="1044682"/>
        </a:xfrm>
        <a:prstGeom prst="roundRect">
          <a:avLst>
            <a:gd name="adj" fmla="val 10000"/>
          </a:avLst>
        </a:prstGeom>
        <a:solidFill>
          <a:schemeClr val="l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4770" tIns="43180" rIns="64770" bIns="43180" numCol="1" spcCol="1270" anchor="ctr" anchorCtr="0">
          <a:noAutofit/>
        </a:bodyPr>
        <a:lstStyle/>
        <a:p>
          <a:pPr marL="0" lvl="0" indent="0" algn="ctr" defTabSz="1511300">
            <a:lnSpc>
              <a:spcPct val="90000"/>
            </a:lnSpc>
            <a:spcBef>
              <a:spcPct val="0"/>
            </a:spcBef>
            <a:spcAft>
              <a:spcPct val="35000"/>
            </a:spcAft>
            <a:buNone/>
          </a:pPr>
          <a:r>
            <a:rPr lang="es-ES" sz="3400" b="1" kern="1200" dirty="0">
              <a:solidFill>
                <a:schemeClr val="tx1"/>
              </a:solidFill>
              <a:latin typeface="Times New Roman" panose="02020603050405020304" pitchFamily="18" charset="0"/>
              <a:cs typeface="Times New Roman" panose="02020603050405020304" pitchFamily="18" charset="0"/>
            </a:rPr>
            <a:t>Objetivos Específicos</a:t>
          </a:r>
          <a:endParaRPr lang="es-VE" sz="3400" b="1" kern="1200" dirty="0">
            <a:solidFill>
              <a:schemeClr val="tx1"/>
            </a:solidFill>
            <a:latin typeface="Times New Roman" panose="02020603050405020304" pitchFamily="18" charset="0"/>
            <a:cs typeface="Times New Roman" panose="02020603050405020304" pitchFamily="18" charset="0"/>
          </a:endParaRPr>
        </a:p>
      </dsp:txBody>
      <dsp:txXfrm>
        <a:off x="5368866" y="72872"/>
        <a:ext cx="2828206" cy="983486"/>
      </dsp:txXfrm>
    </dsp:sp>
    <dsp:sp modelId="{6D444E9F-6552-4BA1-9CA5-CB46A42ADBF6}">
      <dsp:nvSpPr>
        <dsp:cNvPr id="0" name=""/>
        <dsp:cNvSpPr/>
      </dsp:nvSpPr>
      <dsp:spPr>
        <a:xfrm>
          <a:off x="5627208" y="1086956"/>
          <a:ext cx="1017225" cy="581955"/>
        </a:xfrm>
        <a:custGeom>
          <a:avLst/>
          <a:gdLst/>
          <a:ahLst/>
          <a:cxnLst/>
          <a:rect l="0" t="0" r="0" b="0"/>
          <a:pathLst>
            <a:path>
              <a:moveTo>
                <a:pt x="0" y="0"/>
              </a:moveTo>
              <a:lnTo>
                <a:pt x="0" y="581955"/>
              </a:lnTo>
              <a:lnTo>
                <a:pt x="1017225" y="581955"/>
              </a:lnTo>
            </a:path>
          </a:pathLst>
        </a:custGeom>
        <a:noFill/>
        <a:ln w="15875" cap="rnd" cmpd="sng" algn="ctr">
          <a:solidFill>
            <a:schemeClr val="dk2">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3BCD6A1-C4F9-4DA8-BF36-73A178D0B0BE}">
      <dsp:nvSpPr>
        <dsp:cNvPr id="0" name=""/>
        <dsp:cNvSpPr/>
      </dsp:nvSpPr>
      <dsp:spPr>
        <a:xfrm>
          <a:off x="6644434" y="1256780"/>
          <a:ext cx="1782528" cy="824264"/>
        </a:xfrm>
        <a:prstGeom prst="roundRect">
          <a:avLst>
            <a:gd name="adj" fmla="val 10000"/>
          </a:avLst>
        </a:prstGeom>
        <a:solidFill>
          <a:schemeClr val="dk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just" defTabSz="488950">
            <a:lnSpc>
              <a:spcPct val="90000"/>
            </a:lnSpc>
            <a:spcBef>
              <a:spcPct val="0"/>
            </a:spcBef>
            <a:spcAft>
              <a:spcPct val="35000"/>
            </a:spcAft>
            <a:buNone/>
          </a:pPr>
          <a:r>
            <a:rPr lang="es-ES" sz="1100" b="1" kern="1200" dirty="0">
              <a:solidFill>
                <a:schemeClr val="tx1"/>
              </a:solidFill>
            </a:rPr>
            <a:t>Desarrollar y promover productos y servicios que apoyen a nuestros clientes </a:t>
          </a:r>
          <a:r>
            <a:rPr lang="es-ES" sz="1100" b="1" kern="1200" dirty="0">
              <a:solidFill>
                <a:schemeClr val="bg1"/>
              </a:solidFill>
            </a:rPr>
            <a:t>.</a:t>
          </a:r>
          <a:endParaRPr lang="es-VE" sz="1100" b="1" kern="1200" dirty="0">
            <a:solidFill>
              <a:schemeClr val="bg1"/>
            </a:solidFill>
          </a:endParaRPr>
        </a:p>
      </dsp:txBody>
      <dsp:txXfrm>
        <a:off x="6668576" y="1280922"/>
        <a:ext cx="1734244" cy="775980"/>
      </dsp:txXfrm>
    </dsp:sp>
    <dsp:sp modelId="{F39BFC7F-253D-491F-9478-356526C79552}">
      <dsp:nvSpPr>
        <dsp:cNvPr id="0" name=""/>
        <dsp:cNvSpPr/>
      </dsp:nvSpPr>
      <dsp:spPr>
        <a:xfrm>
          <a:off x="5627208" y="1086956"/>
          <a:ext cx="970774" cy="1623843"/>
        </a:xfrm>
        <a:custGeom>
          <a:avLst/>
          <a:gdLst/>
          <a:ahLst/>
          <a:cxnLst/>
          <a:rect l="0" t="0" r="0" b="0"/>
          <a:pathLst>
            <a:path>
              <a:moveTo>
                <a:pt x="0" y="0"/>
              </a:moveTo>
              <a:lnTo>
                <a:pt x="0" y="1623843"/>
              </a:lnTo>
              <a:lnTo>
                <a:pt x="970774" y="1623843"/>
              </a:lnTo>
            </a:path>
          </a:pathLst>
        </a:custGeom>
        <a:noFill/>
        <a:ln w="15875" cap="rnd" cmpd="sng" algn="ctr">
          <a:solidFill>
            <a:schemeClr val="dk2">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FEE85B2-F77B-4153-990D-50FB6AAED543}">
      <dsp:nvSpPr>
        <dsp:cNvPr id="0" name=""/>
        <dsp:cNvSpPr/>
      </dsp:nvSpPr>
      <dsp:spPr>
        <a:xfrm>
          <a:off x="6597983" y="2188458"/>
          <a:ext cx="1957316" cy="1044682"/>
        </a:xfrm>
        <a:prstGeom prst="roundRect">
          <a:avLst>
            <a:gd name="adj" fmla="val 10000"/>
          </a:avLst>
        </a:prstGeom>
        <a:solidFill>
          <a:schemeClr val="dk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just" defTabSz="466725">
            <a:lnSpc>
              <a:spcPct val="90000"/>
            </a:lnSpc>
            <a:spcBef>
              <a:spcPct val="0"/>
            </a:spcBef>
            <a:spcAft>
              <a:spcPct val="35000"/>
            </a:spcAft>
            <a:buNone/>
          </a:pPr>
          <a:r>
            <a:rPr lang="es-ES" sz="1050" b="1" kern="1200" dirty="0">
              <a:solidFill>
                <a:schemeClr val="tx1"/>
              </a:solidFill>
            </a:rPr>
            <a:t>Garantizar la transparencia e informar la gestión en materia, a través del procesos de sostenibilidades de rendición de cuentas</a:t>
          </a:r>
          <a:r>
            <a:rPr lang="es-ES" sz="700" kern="1200" dirty="0">
              <a:solidFill>
                <a:schemeClr val="bg1"/>
              </a:solidFill>
            </a:rPr>
            <a:t>.</a:t>
          </a:r>
          <a:endParaRPr lang="es-VE" sz="700" kern="1200" dirty="0">
            <a:solidFill>
              <a:schemeClr val="bg1"/>
            </a:solidFill>
          </a:endParaRPr>
        </a:p>
      </dsp:txBody>
      <dsp:txXfrm>
        <a:off x="6628581" y="2219056"/>
        <a:ext cx="1896120" cy="983486"/>
      </dsp:txXfrm>
    </dsp:sp>
    <dsp:sp modelId="{A2E2C50A-E8F2-4C6E-BA1D-6348BF3DF6D3}">
      <dsp:nvSpPr>
        <dsp:cNvPr id="0" name=""/>
        <dsp:cNvSpPr/>
      </dsp:nvSpPr>
      <dsp:spPr>
        <a:xfrm>
          <a:off x="5627208" y="1086956"/>
          <a:ext cx="859002" cy="2897775"/>
        </a:xfrm>
        <a:custGeom>
          <a:avLst/>
          <a:gdLst/>
          <a:ahLst/>
          <a:cxnLst/>
          <a:rect l="0" t="0" r="0" b="0"/>
          <a:pathLst>
            <a:path>
              <a:moveTo>
                <a:pt x="0" y="0"/>
              </a:moveTo>
              <a:lnTo>
                <a:pt x="0" y="2897775"/>
              </a:lnTo>
              <a:lnTo>
                <a:pt x="859002" y="2897775"/>
              </a:lnTo>
            </a:path>
          </a:pathLst>
        </a:custGeom>
        <a:noFill/>
        <a:ln w="15875" cap="rnd" cmpd="sng" algn="ctr">
          <a:solidFill>
            <a:schemeClr val="dk2">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A2F8FCF-2000-4593-8C8A-DD1ECD34625E}">
      <dsp:nvSpPr>
        <dsp:cNvPr id="0" name=""/>
        <dsp:cNvSpPr/>
      </dsp:nvSpPr>
      <dsp:spPr>
        <a:xfrm>
          <a:off x="6486211" y="3521953"/>
          <a:ext cx="2320213" cy="925556"/>
        </a:xfrm>
        <a:prstGeom prst="roundRect">
          <a:avLst>
            <a:gd name="adj" fmla="val 10000"/>
          </a:avLst>
        </a:prstGeom>
        <a:solidFill>
          <a:schemeClr val="dk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just" defTabSz="488950">
            <a:lnSpc>
              <a:spcPct val="90000"/>
            </a:lnSpc>
            <a:spcBef>
              <a:spcPct val="0"/>
            </a:spcBef>
            <a:spcAft>
              <a:spcPct val="35000"/>
            </a:spcAft>
            <a:buFont typeface="+mj-lt"/>
            <a:buNone/>
          </a:pPr>
          <a:r>
            <a:rPr lang="es-ES" sz="1100" b="1" kern="1200" dirty="0">
              <a:solidFill>
                <a:schemeClr val="tx1"/>
              </a:solidFill>
            </a:rPr>
            <a:t>Informar, concientizar, sensibilizar y capacitar a los colaboradores en materia de sostenibilidad, como parte de nuestra cultura corporativa</a:t>
          </a:r>
          <a:r>
            <a:rPr lang="es-ES" sz="1100" kern="1200" dirty="0">
              <a:solidFill>
                <a:schemeClr val="tx1"/>
              </a:solidFill>
            </a:rPr>
            <a:t>.</a:t>
          </a:r>
          <a:endParaRPr lang="es-VE" sz="1100" kern="1200" dirty="0">
            <a:solidFill>
              <a:schemeClr val="tx1"/>
            </a:solidFill>
          </a:endParaRPr>
        </a:p>
      </dsp:txBody>
      <dsp:txXfrm>
        <a:off x="6513320" y="3549062"/>
        <a:ext cx="2265995" cy="8713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2A3EFC-A96F-4FE7-91A2-9EAAB9CC735C}">
      <dsp:nvSpPr>
        <dsp:cNvPr id="0" name=""/>
        <dsp:cNvSpPr/>
      </dsp:nvSpPr>
      <dsp:spPr>
        <a:xfrm>
          <a:off x="2987288" y="2672140"/>
          <a:ext cx="126440" cy="126440"/>
        </a:xfrm>
        <a:prstGeom prst="ellipse">
          <a:avLst/>
        </a:prstGeom>
        <a:solidFill>
          <a:schemeClr val="accent3">
            <a:alpha val="90000"/>
            <a:hueOff val="0"/>
            <a:satOff val="0"/>
            <a:lumOff val="0"/>
            <a:alphaOff val="0"/>
          </a:schemeClr>
        </a:solidFill>
        <a:ln w="15875" cap="rnd" cmpd="sng" algn="ctr">
          <a:solidFill>
            <a:schemeClr val="accent3">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87AA0D-634E-40CC-A848-5456F5F0655D}">
      <dsp:nvSpPr>
        <dsp:cNvPr id="0" name=""/>
        <dsp:cNvSpPr/>
      </dsp:nvSpPr>
      <dsp:spPr>
        <a:xfrm>
          <a:off x="2876527" y="2849641"/>
          <a:ext cx="126440" cy="126440"/>
        </a:xfrm>
        <a:prstGeom prst="ellipse">
          <a:avLst/>
        </a:prstGeom>
        <a:solidFill>
          <a:schemeClr val="accent3">
            <a:alpha val="90000"/>
            <a:hueOff val="0"/>
            <a:satOff val="0"/>
            <a:lumOff val="0"/>
            <a:alphaOff val="-4444"/>
          </a:schemeClr>
        </a:solidFill>
        <a:ln w="15875" cap="rnd" cmpd="sng" algn="ctr">
          <a:solidFill>
            <a:schemeClr val="accent3">
              <a:alpha val="90000"/>
              <a:hueOff val="0"/>
              <a:satOff val="0"/>
              <a:lumOff val="0"/>
              <a:alphaOff val="-4444"/>
            </a:schemeClr>
          </a:solidFill>
          <a:prstDash val="solid"/>
        </a:ln>
        <a:effectLst/>
      </dsp:spPr>
      <dsp:style>
        <a:lnRef idx="2">
          <a:scrgbClr r="0" g="0" b="0"/>
        </a:lnRef>
        <a:fillRef idx="1">
          <a:scrgbClr r="0" g="0" b="0"/>
        </a:fillRef>
        <a:effectRef idx="0">
          <a:scrgbClr r="0" g="0" b="0"/>
        </a:effectRef>
        <a:fontRef idx="minor">
          <a:schemeClr val="lt1"/>
        </a:fontRef>
      </dsp:style>
    </dsp:sp>
    <dsp:sp modelId="{9A861F17-54B3-4B8E-8059-07C0F0F1304D}">
      <dsp:nvSpPr>
        <dsp:cNvPr id="0" name=""/>
        <dsp:cNvSpPr/>
      </dsp:nvSpPr>
      <dsp:spPr>
        <a:xfrm>
          <a:off x="2526067" y="3361596"/>
          <a:ext cx="126440" cy="126440"/>
        </a:xfrm>
        <a:prstGeom prst="ellipse">
          <a:avLst/>
        </a:prstGeom>
        <a:solidFill>
          <a:schemeClr val="accent3">
            <a:alpha val="90000"/>
            <a:hueOff val="0"/>
            <a:satOff val="0"/>
            <a:lumOff val="0"/>
            <a:alphaOff val="-8889"/>
          </a:schemeClr>
        </a:solidFill>
        <a:ln w="15875" cap="rnd" cmpd="sng" algn="ctr">
          <a:solidFill>
            <a:schemeClr val="accent3">
              <a:alpha val="90000"/>
              <a:hueOff val="0"/>
              <a:satOff val="0"/>
              <a:lumOff val="0"/>
              <a:alphaOff val="-8889"/>
            </a:schemeClr>
          </a:solidFill>
          <a:prstDash val="solid"/>
        </a:ln>
        <a:effectLst/>
      </dsp:spPr>
      <dsp:style>
        <a:lnRef idx="2">
          <a:scrgbClr r="0" g="0" b="0"/>
        </a:lnRef>
        <a:fillRef idx="1">
          <a:scrgbClr r="0" g="0" b="0"/>
        </a:fillRef>
        <a:effectRef idx="0">
          <a:scrgbClr r="0" g="0" b="0"/>
        </a:effectRef>
        <a:fontRef idx="minor">
          <a:schemeClr val="lt1"/>
        </a:fontRef>
      </dsp:style>
    </dsp:sp>
    <dsp:sp modelId="{6197B98C-7458-47FC-90AF-682D422E65E5}">
      <dsp:nvSpPr>
        <dsp:cNvPr id="0" name=""/>
        <dsp:cNvSpPr/>
      </dsp:nvSpPr>
      <dsp:spPr>
        <a:xfrm>
          <a:off x="2902320" y="885719"/>
          <a:ext cx="126440" cy="126440"/>
        </a:xfrm>
        <a:prstGeom prst="ellipse">
          <a:avLst/>
        </a:prstGeom>
        <a:solidFill>
          <a:schemeClr val="accent3">
            <a:alpha val="90000"/>
            <a:hueOff val="0"/>
            <a:satOff val="0"/>
            <a:lumOff val="0"/>
            <a:alphaOff val="-13333"/>
          </a:schemeClr>
        </a:solidFill>
        <a:ln w="15875" cap="rnd" cmpd="sng" algn="ctr">
          <a:solidFill>
            <a:schemeClr val="accent3">
              <a:alpha val="90000"/>
              <a:hueOff val="0"/>
              <a:satOff val="0"/>
              <a:lumOff val="0"/>
              <a:alphaOff val="-13333"/>
            </a:schemeClr>
          </a:solidFill>
          <a:prstDash val="solid"/>
        </a:ln>
        <a:effectLst/>
      </dsp:spPr>
      <dsp:style>
        <a:lnRef idx="2">
          <a:scrgbClr r="0" g="0" b="0"/>
        </a:lnRef>
        <a:fillRef idx="1">
          <a:scrgbClr r="0" g="0" b="0"/>
        </a:fillRef>
        <a:effectRef idx="0">
          <a:scrgbClr r="0" g="0" b="0"/>
        </a:effectRef>
        <a:fontRef idx="minor">
          <a:schemeClr val="lt1"/>
        </a:fontRef>
      </dsp:style>
    </dsp:sp>
    <dsp:sp modelId="{3BE88195-8195-4333-9ED4-9A5DAEAB3B35}">
      <dsp:nvSpPr>
        <dsp:cNvPr id="0" name=""/>
        <dsp:cNvSpPr/>
      </dsp:nvSpPr>
      <dsp:spPr>
        <a:xfrm>
          <a:off x="3071245" y="785056"/>
          <a:ext cx="126440" cy="126440"/>
        </a:xfrm>
        <a:prstGeom prst="ellipse">
          <a:avLst/>
        </a:prstGeom>
        <a:solidFill>
          <a:schemeClr val="accent3">
            <a:alpha val="90000"/>
            <a:hueOff val="0"/>
            <a:satOff val="0"/>
            <a:lumOff val="0"/>
            <a:alphaOff val="-17778"/>
          </a:schemeClr>
        </a:solidFill>
        <a:ln w="15875" cap="rnd" cmpd="sng" algn="ctr">
          <a:solidFill>
            <a:schemeClr val="accent3">
              <a:alpha val="90000"/>
              <a:hueOff val="0"/>
              <a:satOff val="0"/>
              <a:lumOff val="0"/>
              <a:alphaOff val="-17778"/>
            </a:schemeClr>
          </a:solidFill>
          <a:prstDash val="solid"/>
        </a:ln>
        <a:effectLst/>
      </dsp:spPr>
      <dsp:style>
        <a:lnRef idx="2">
          <a:scrgbClr r="0" g="0" b="0"/>
        </a:lnRef>
        <a:fillRef idx="1">
          <a:scrgbClr r="0" g="0" b="0"/>
        </a:fillRef>
        <a:effectRef idx="0">
          <a:scrgbClr r="0" g="0" b="0"/>
        </a:effectRef>
        <a:fontRef idx="minor">
          <a:schemeClr val="lt1"/>
        </a:fontRef>
      </dsp:style>
    </dsp:sp>
    <dsp:sp modelId="{FED996B3-667E-47B2-B879-1E744F46D51E}">
      <dsp:nvSpPr>
        <dsp:cNvPr id="0" name=""/>
        <dsp:cNvSpPr/>
      </dsp:nvSpPr>
      <dsp:spPr>
        <a:xfrm>
          <a:off x="3239663" y="684394"/>
          <a:ext cx="126440" cy="126440"/>
        </a:xfrm>
        <a:prstGeom prst="ellipse">
          <a:avLst/>
        </a:prstGeom>
        <a:solidFill>
          <a:schemeClr val="accent3">
            <a:alpha val="90000"/>
            <a:hueOff val="0"/>
            <a:satOff val="0"/>
            <a:lumOff val="0"/>
            <a:alphaOff val="-22222"/>
          </a:schemeClr>
        </a:solidFill>
        <a:ln w="15875" cap="rnd" cmpd="sng" algn="ctr">
          <a:solidFill>
            <a:schemeClr val="accent3">
              <a:alpha val="90000"/>
              <a:hueOff val="0"/>
              <a:satOff val="0"/>
              <a:lumOff val="0"/>
              <a:alphaOff val="-22222"/>
            </a:schemeClr>
          </a:solidFill>
          <a:prstDash val="solid"/>
        </a:ln>
        <a:effectLst/>
      </dsp:spPr>
      <dsp:style>
        <a:lnRef idx="2">
          <a:scrgbClr r="0" g="0" b="0"/>
        </a:lnRef>
        <a:fillRef idx="1">
          <a:scrgbClr r="0" g="0" b="0"/>
        </a:fillRef>
        <a:effectRef idx="0">
          <a:scrgbClr r="0" g="0" b="0"/>
        </a:effectRef>
        <a:fontRef idx="minor">
          <a:schemeClr val="lt1"/>
        </a:fontRef>
      </dsp:style>
    </dsp:sp>
    <dsp:sp modelId="{051E05F9-8C83-4B15-8A35-DA3671FE63A8}">
      <dsp:nvSpPr>
        <dsp:cNvPr id="0" name=""/>
        <dsp:cNvSpPr/>
      </dsp:nvSpPr>
      <dsp:spPr>
        <a:xfrm>
          <a:off x="3408082" y="785056"/>
          <a:ext cx="126440" cy="126440"/>
        </a:xfrm>
        <a:prstGeom prst="ellipse">
          <a:avLst/>
        </a:prstGeom>
        <a:solidFill>
          <a:schemeClr val="accent3">
            <a:alpha val="90000"/>
            <a:hueOff val="0"/>
            <a:satOff val="0"/>
            <a:lumOff val="0"/>
            <a:alphaOff val="-26667"/>
          </a:schemeClr>
        </a:solidFill>
        <a:ln w="15875" cap="rnd" cmpd="sng" algn="ctr">
          <a:solidFill>
            <a:schemeClr val="accent3">
              <a:alpha val="90000"/>
              <a:hueOff val="0"/>
              <a:satOff val="0"/>
              <a:lumOff val="0"/>
              <a:alphaOff val="-26667"/>
            </a:schemeClr>
          </a:solidFill>
          <a:prstDash val="solid"/>
        </a:ln>
        <a:effectLst/>
      </dsp:spPr>
      <dsp:style>
        <a:lnRef idx="2">
          <a:scrgbClr r="0" g="0" b="0"/>
        </a:lnRef>
        <a:fillRef idx="1">
          <a:scrgbClr r="0" g="0" b="0"/>
        </a:fillRef>
        <a:effectRef idx="0">
          <a:scrgbClr r="0" g="0" b="0"/>
        </a:effectRef>
        <a:fontRef idx="minor">
          <a:schemeClr val="lt1"/>
        </a:fontRef>
      </dsp:style>
    </dsp:sp>
    <dsp:sp modelId="{37ACE94D-62FF-49D7-9051-D8961352A3E1}">
      <dsp:nvSpPr>
        <dsp:cNvPr id="0" name=""/>
        <dsp:cNvSpPr/>
      </dsp:nvSpPr>
      <dsp:spPr>
        <a:xfrm>
          <a:off x="3577006" y="885719"/>
          <a:ext cx="126440" cy="126440"/>
        </a:xfrm>
        <a:prstGeom prst="ellipse">
          <a:avLst/>
        </a:prstGeom>
        <a:solidFill>
          <a:schemeClr val="accent3">
            <a:alpha val="90000"/>
            <a:hueOff val="0"/>
            <a:satOff val="0"/>
            <a:lumOff val="0"/>
            <a:alphaOff val="-31111"/>
          </a:schemeClr>
        </a:solidFill>
        <a:ln w="15875" cap="rnd" cmpd="sng" algn="ctr">
          <a:solidFill>
            <a:schemeClr val="accent3">
              <a:alpha val="90000"/>
              <a:hueOff val="0"/>
              <a:satOff val="0"/>
              <a:lumOff val="0"/>
              <a:alphaOff val="-31111"/>
            </a:schemeClr>
          </a:solidFill>
          <a:prstDash val="solid"/>
        </a:ln>
        <a:effectLst/>
      </dsp:spPr>
      <dsp:style>
        <a:lnRef idx="2">
          <a:scrgbClr r="0" g="0" b="0"/>
        </a:lnRef>
        <a:fillRef idx="1">
          <a:scrgbClr r="0" g="0" b="0"/>
        </a:fillRef>
        <a:effectRef idx="0">
          <a:scrgbClr r="0" g="0" b="0"/>
        </a:effectRef>
        <a:fontRef idx="minor">
          <a:schemeClr val="lt1"/>
        </a:fontRef>
      </dsp:style>
    </dsp:sp>
    <dsp:sp modelId="{D168921C-48A1-47F2-AF82-B4F279AFF13B}">
      <dsp:nvSpPr>
        <dsp:cNvPr id="0" name=""/>
        <dsp:cNvSpPr/>
      </dsp:nvSpPr>
      <dsp:spPr>
        <a:xfrm>
          <a:off x="3239663" y="896791"/>
          <a:ext cx="126440" cy="126440"/>
        </a:xfrm>
        <a:prstGeom prst="ellipse">
          <a:avLst/>
        </a:prstGeom>
        <a:solidFill>
          <a:schemeClr val="accent3">
            <a:alpha val="90000"/>
            <a:hueOff val="0"/>
            <a:satOff val="0"/>
            <a:lumOff val="0"/>
            <a:alphaOff val="-35556"/>
          </a:schemeClr>
        </a:solidFill>
        <a:ln w="15875" cap="rnd" cmpd="sng" algn="ctr">
          <a:solidFill>
            <a:schemeClr val="accent3">
              <a:alpha val="90000"/>
              <a:hueOff val="0"/>
              <a:satOff val="0"/>
              <a:lumOff val="0"/>
              <a:alphaOff val="-35556"/>
            </a:schemeClr>
          </a:solidFill>
          <a:prstDash val="solid"/>
        </a:ln>
        <a:effectLst/>
      </dsp:spPr>
      <dsp:style>
        <a:lnRef idx="2">
          <a:scrgbClr r="0" g="0" b="0"/>
        </a:lnRef>
        <a:fillRef idx="1">
          <a:scrgbClr r="0" g="0" b="0"/>
        </a:fillRef>
        <a:effectRef idx="0">
          <a:scrgbClr r="0" g="0" b="0"/>
        </a:effectRef>
        <a:fontRef idx="minor">
          <a:schemeClr val="lt1"/>
        </a:fontRef>
      </dsp:style>
    </dsp:sp>
    <dsp:sp modelId="{102AD67E-43CC-4239-BF49-BD422D00393C}">
      <dsp:nvSpPr>
        <dsp:cNvPr id="0" name=""/>
        <dsp:cNvSpPr/>
      </dsp:nvSpPr>
      <dsp:spPr>
        <a:xfrm>
          <a:off x="3239663" y="1109189"/>
          <a:ext cx="126440" cy="126440"/>
        </a:xfrm>
        <a:prstGeom prst="ellipse">
          <a:avLst/>
        </a:prstGeom>
        <a:solidFill>
          <a:schemeClr val="accent3">
            <a:alpha val="90000"/>
            <a:hueOff val="0"/>
            <a:satOff val="0"/>
            <a:lumOff val="0"/>
            <a:alphaOff val="-40000"/>
          </a:schemeClr>
        </a:solidFill>
        <a:ln w="15875" cap="rnd" cmpd="sng" algn="ctr">
          <a:solidFill>
            <a:schemeClr val="accent3">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72F054B0-E247-473F-A595-048A8FE28C9F}">
      <dsp:nvSpPr>
        <dsp:cNvPr id="0" name=""/>
        <dsp:cNvSpPr/>
      </dsp:nvSpPr>
      <dsp:spPr>
        <a:xfrm>
          <a:off x="2933930" y="3308033"/>
          <a:ext cx="4027137" cy="1806740"/>
        </a:xfrm>
        <a:prstGeom prst="roundRect">
          <a:avLst/>
        </a:prstGeom>
        <a:solidFill>
          <a:schemeClr val="accent3">
            <a:alpha val="9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7229" tIns="53340" rIns="53340" bIns="53340" numCol="1" spcCol="1270" anchor="ctr" anchorCtr="0">
          <a:noAutofit/>
        </a:bodyPr>
        <a:lstStyle/>
        <a:p>
          <a:pPr marL="0" lvl="0" indent="0" algn="just" defTabSz="622300">
            <a:lnSpc>
              <a:spcPct val="90000"/>
            </a:lnSpc>
            <a:spcBef>
              <a:spcPct val="0"/>
            </a:spcBef>
            <a:spcAft>
              <a:spcPct val="35000"/>
            </a:spcAft>
            <a:buNone/>
          </a:pPr>
          <a:r>
            <a:rPr lang="es-ES" sz="1400" kern="1200" dirty="0">
              <a:solidFill>
                <a:schemeClr val="tx1"/>
              </a:solidFill>
            </a:rPr>
            <a:t>Ser la agencia nro. (1) la que resuelve todas las necesidades financieras de nuestros clientes, entregándoles la mejor experiencia personal y digital sustentada en nuestra capacidad de conocerlos y personalizando el servicio que les entregamos.</a:t>
          </a:r>
          <a:endParaRPr lang="es-VE" sz="1400" kern="1200" dirty="0">
            <a:solidFill>
              <a:schemeClr val="tx1"/>
            </a:solidFill>
          </a:endParaRPr>
        </a:p>
      </dsp:txBody>
      <dsp:txXfrm>
        <a:off x="3022128" y="3396231"/>
        <a:ext cx="3850741" cy="1630344"/>
      </dsp:txXfrm>
    </dsp:sp>
    <dsp:sp modelId="{2D7B941F-F6AC-4F24-8777-6F8E8D88135B}">
      <dsp:nvSpPr>
        <dsp:cNvPr id="0" name=""/>
        <dsp:cNvSpPr/>
      </dsp:nvSpPr>
      <dsp:spPr>
        <a:xfrm>
          <a:off x="1747111" y="2607373"/>
          <a:ext cx="1264403" cy="1264319"/>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784BD07-1C63-415E-BB3C-4CB664E0060F}">
      <dsp:nvSpPr>
        <dsp:cNvPr id="0" name=""/>
        <dsp:cNvSpPr/>
      </dsp:nvSpPr>
      <dsp:spPr>
        <a:xfrm>
          <a:off x="3495592" y="1474949"/>
          <a:ext cx="3892120" cy="1501391"/>
        </a:xfrm>
        <a:prstGeom prst="roundRect">
          <a:avLst/>
        </a:prstGeom>
        <a:solidFill>
          <a:schemeClr val="accent3">
            <a:alpha val="90000"/>
            <a:hueOff val="0"/>
            <a:satOff val="0"/>
            <a:lumOff val="0"/>
            <a:alphaOff val="-4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7229" tIns="53340" rIns="53340" bIns="53340" numCol="1" spcCol="1270" anchor="ctr" anchorCtr="0">
          <a:noAutofit/>
        </a:bodyPr>
        <a:lstStyle/>
        <a:p>
          <a:pPr marL="0" lvl="0" indent="0" algn="just" defTabSz="622300">
            <a:lnSpc>
              <a:spcPct val="90000"/>
            </a:lnSpc>
            <a:spcBef>
              <a:spcPct val="0"/>
            </a:spcBef>
            <a:spcAft>
              <a:spcPct val="35000"/>
            </a:spcAft>
            <a:buNone/>
          </a:pPr>
          <a:r>
            <a:rPr lang="es-ES" sz="1400" kern="1200" dirty="0">
              <a:solidFill>
                <a:schemeClr val="tx1"/>
              </a:solidFill>
            </a:rPr>
            <a:t>Brindar una atención de calidad a los clientes y tratando de captar , </a:t>
          </a:r>
          <a:r>
            <a:rPr lang="es-ES" sz="1400" u="none" kern="1200" dirty="0">
              <a:solidFill>
                <a:schemeClr val="tx1"/>
              </a:solidFill>
            </a:rPr>
            <a:t>pr</a:t>
          </a:r>
          <a:r>
            <a:rPr lang="es-ES" sz="1400" u="none" kern="1200" dirty="0">
              <a:solidFill>
                <a:schemeClr val="tx1"/>
              </a:solidFill>
              <a:hlinkClick xmlns:r="http://schemas.openxmlformats.org/officeDocument/2006/relationships" r:id="rId2" tooltip="recursos económicos">
                <a:extLst>
                  <a:ext uri="{A12FA001-AC4F-418D-AE19-62706E023703}">
                    <ahyp:hlinkClr xmlns:ahyp="http://schemas.microsoft.com/office/drawing/2018/hyperlinkcolor" val="tx"/>
                  </a:ext>
                </a:extLst>
              </a:hlinkClick>
            </a:rPr>
            <a:t>e</a:t>
          </a:r>
          <a:r>
            <a:rPr lang="es-ES" sz="1400" u="none" kern="1200" dirty="0">
              <a:solidFill>
                <a:schemeClr val="tx1"/>
              </a:solidFill>
            </a:rPr>
            <a:t>star, recursos económicos, manifestados en depósito </a:t>
          </a:r>
          <a:r>
            <a:rPr lang="es-ES" sz="1400" kern="1200" dirty="0">
              <a:solidFill>
                <a:schemeClr val="tx1"/>
              </a:solidFill>
            </a:rPr>
            <a:t>clientes, prestamos y facilitando la financiación de actividades comerciales entre partes. </a:t>
          </a:r>
          <a:endParaRPr lang="es-VE" sz="1400" kern="1200" dirty="0">
            <a:solidFill>
              <a:schemeClr val="tx1"/>
            </a:solidFill>
          </a:endParaRPr>
        </a:p>
      </dsp:txBody>
      <dsp:txXfrm>
        <a:off x="3568884" y="1548241"/>
        <a:ext cx="3745536" cy="1354807"/>
      </dsp:txXfrm>
    </dsp:sp>
    <dsp:sp modelId="{184168B8-1485-45BC-A0E8-BCD74D94194F}">
      <dsp:nvSpPr>
        <dsp:cNvPr id="0" name=""/>
        <dsp:cNvSpPr/>
      </dsp:nvSpPr>
      <dsp:spPr>
        <a:xfrm>
          <a:off x="2429238" y="1388722"/>
          <a:ext cx="1546858" cy="1203012"/>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1000" r="-31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7CC4C1-8859-4AAD-945A-B8182C6276F4}">
      <dsp:nvSpPr>
        <dsp:cNvPr id="0" name=""/>
        <dsp:cNvSpPr/>
      </dsp:nvSpPr>
      <dsp:spPr>
        <a:xfrm>
          <a:off x="1930400" y="531427"/>
          <a:ext cx="4267200" cy="56908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s-ES" sz="3200" b="1" i="1" kern="1200" dirty="0">
              <a:latin typeface="Times New Roman" panose="02020603050405020304" pitchFamily="18" charset="0"/>
              <a:cs typeface="Times New Roman" panose="02020603050405020304" pitchFamily="18" charset="0"/>
            </a:rPr>
            <a:t>Objetivos General</a:t>
          </a:r>
          <a:endParaRPr lang="es-VE" sz="3200" b="1" i="1" kern="1200" dirty="0">
            <a:latin typeface="Times New Roman" panose="02020603050405020304" pitchFamily="18" charset="0"/>
            <a:cs typeface="Times New Roman" panose="02020603050405020304" pitchFamily="18" charset="0"/>
          </a:endParaRPr>
        </a:p>
      </dsp:txBody>
      <dsp:txXfrm>
        <a:off x="1958181" y="559208"/>
        <a:ext cx="4211638" cy="513526"/>
      </dsp:txXfrm>
    </dsp:sp>
    <dsp:sp modelId="{D68B8D49-15EB-4DE2-898B-A76D6C249329}">
      <dsp:nvSpPr>
        <dsp:cNvPr id="0" name=""/>
        <dsp:cNvSpPr/>
      </dsp:nvSpPr>
      <dsp:spPr>
        <a:xfrm>
          <a:off x="378683" y="1339087"/>
          <a:ext cx="7370632" cy="105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0320" rIns="113792" bIns="20320" numCol="1" spcCol="1270" anchor="t" anchorCtr="0">
          <a:noAutofit/>
        </a:bodyPr>
        <a:lstStyle/>
        <a:p>
          <a:pPr marL="171450" lvl="1" indent="-171450" algn="just" defTabSz="711200">
            <a:lnSpc>
              <a:spcPct val="90000"/>
            </a:lnSpc>
            <a:spcBef>
              <a:spcPct val="0"/>
            </a:spcBef>
            <a:spcAft>
              <a:spcPct val="20000"/>
            </a:spcAft>
            <a:buChar char="•"/>
          </a:pPr>
          <a:r>
            <a:rPr lang="es-ES" sz="1600" kern="1200" dirty="0">
              <a:solidFill>
                <a:schemeClr val="tx1"/>
              </a:solidFill>
              <a:latin typeface="Times New Roman" panose="02020603050405020304" pitchFamily="18" charset="0"/>
              <a:cs typeface="Times New Roman" panose="02020603050405020304" pitchFamily="18" charset="0"/>
            </a:rPr>
            <a:t>Analizar en la actualidad la competencia con ellos debemos es brindar la mejora atención al cliente, dar solución a las solicitudes del cliente por último captar la mayoría de cliente para la institución pudiendo poder ofrecer nuestros productos para poder cumplir nuestras metas</a:t>
          </a:r>
          <a:r>
            <a:rPr lang="es-ES" sz="1600" kern="1200" dirty="0">
              <a:solidFill>
                <a:schemeClr val="tx1"/>
              </a:solidFill>
            </a:rPr>
            <a:t>. </a:t>
          </a:r>
          <a:endParaRPr lang="es-VE" sz="1600" kern="1200" dirty="0">
            <a:solidFill>
              <a:schemeClr val="tx1"/>
            </a:solidFill>
          </a:endParaRPr>
        </a:p>
      </dsp:txBody>
      <dsp:txXfrm>
        <a:off x="378683" y="1339087"/>
        <a:ext cx="7370632" cy="1059840"/>
      </dsp:txXfrm>
    </dsp:sp>
    <dsp:sp modelId="{3A29B8CA-9014-4C89-B6C8-F14FB723AA43}">
      <dsp:nvSpPr>
        <dsp:cNvPr id="0" name=""/>
        <dsp:cNvSpPr/>
      </dsp:nvSpPr>
      <dsp:spPr>
        <a:xfrm>
          <a:off x="2027367" y="2445717"/>
          <a:ext cx="3990197" cy="72093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s-ES" sz="3200" b="1" i="1" kern="1200" dirty="0">
              <a:latin typeface="Times New Roman" panose="02020603050405020304" pitchFamily="18" charset="0"/>
              <a:cs typeface="Times New Roman" panose="02020603050405020304" pitchFamily="18" charset="0"/>
            </a:rPr>
            <a:t>Objetivos Específicos</a:t>
          </a:r>
          <a:endParaRPr lang="es-VE" sz="3200" kern="1200" dirty="0">
            <a:latin typeface="Times New Roman" panose="02020603050405020304" pitchFamily="18" charset="0"/>
            <a:cs typeface="Times New Roman" panose="02020603050405020304" pitchFamily="18" charset="0"/>
          </a:endParaRPr>
        </a:p>
      </dsp:txBody>
      <dsp:txXfrm>
        <a:off x="2062560" y="2480910"/>
        <a:ext cx="3919811" cy="650546"/>
      </dsp:txXfrm>
    </dsp:sp>
    <dsp:sp modelId="{6D4B4E7F-9148-41DC-90E9-04E600FE1626}">
      <dsp:nvSpPr>
        <dsp:cNvPr id="0" name=""/>
        <dsp:cNvSpPr/>
      </dsp:nvSpPr>
      <dsp:spPr>
        <a:xfrm>
          <a:off x="658977" y="3589639"/>
          <a:ext cx="6982683" cy="105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0320" rIns="113792" bIns="20320" numCol="1" spcCol="1270" anchor="t" anchorCtr="0">
          <a:noAutofit/>
        </a:bodyPr>
        <a:lstStyle/>
        <a:p>
          <a:pPr marL="171450" lvl="1" indent="-171450" algn="just" defTabSz="711200">
            <a:lnSpc>
              <a:spcPct val="90000"/>
            </a:lnSpc>
            <a:spcBef>
              <a:spcPct val="0"/>
            </a:spcBef>
            <a:spcAft>
              <a:spcPct val="20000"/>
            </a:spcAft>
            <a:buChar char="•"/>
          </a:pPr>
          <a:r>
            <a:rPr lang="es-ES" sz="1600" kern="1200" dirty="0">
              <a:solidFill>
                <a:schemeClr val="tx1"/>
              </a:solidFill>
              <a:latin typeface="Times New Roman" panose="02020603050405020304" pitchFamily="18" charset="0"/>
              <a:cs typeface="Times New Roman" panose="02020603050405020304" pitchFamily="18" charset="0"/>
            </a:rPr>
            <a:t>Desarrollar y promover productos y servicios que apoyen a nuestros </a:t>
          </a:r>
          <a:endParaRPr lang="es-VE" sz="1600" kern="1200" dirty="0">
            <a:solidFill>
              <a:schemeClr val="tx1"/>
            </a:solidFill>
            <a:latin typeface="Times New Roman" panose="02020603050405020304" pitchFamily="18" charset="0"/>
            <a:cs typeface="Times New Roman" panose="02020603050405020304" pitchFamily="18" charset="0"/>
          </a:endParaRPr>
        </a:p>
        <a:p>
          <a:pPr marL="171450" lvl="1" indent="-171450" algn="just" defTabSz="711200">
            <a:lnSpc>
              <a:spcPct val="90000"/>
            </a:lnSpc>
            <a:spcBef>
              <a:spcPct val="0"/>
            </a:spcBef>
            <a:spcAft>
              <a:spcPct val="20000"/>
            </a:spcAft>
            <a:buChar char="•"/>
          </a:pPr>
          <a:r>
            <a:rPr lang="es-ES" sz="1600" kern="1200" dirty="0">
              <a:solidFill>
                <a:schemeClr val="tx1"/>
              </a:solidFill>
              <a:latin typeface="Times New Roman" panose="02020603050405020304" pitchFamily="18" charset="0"/>
              <a:cs typeface="Times New Roman" panose="02020603050405020304" pitchFamily="18" charset="0"/>
            </a:rPr>
            <a:t>Informar, concientizar, sensibilizar y capacitar a los colaboradores</a:t>
          </a:r>
          <a:endParaRPr lang="es-VE" sz="1600" kern="1200" dirty="0">
            <a:solidFill>
              <a:schemeClr val="tx1"/>
            </a:solidFill>
            <a:latin typeface="Times New Roman" panose="02020603050405020304" pitchFamily="18" charset="0"/>
            <a:cs typeface="Times New Roman" panose="02020603050405020304" pitchFamily="18" charset="0"/>
          </a:endParaRPr>
        </a:p>
        <a:p>
          <a:pPr marL="171450" lvl="1" indent="-171450" algn="just" defTabSz="711200">
            <a:lnSpc>
              <a:spcPct val="90000"/>
            </a:lnSpc>
            <a:spcBef>
              <a:spcPct val="0"/>
            </a:spcBef>
            <a:spcAft>
              <a:spcPct val="20000"/>
            </a:spcAft>
            <a:buChar char="•"/>
          </a:pPr>
          <a:r>
            <a:rPr lang="es-ES" sz="1600" kern="1200" dirty="0">
              <a:solidFill>
                <a:schemeClr val="tx1"/>
              </a:solidFill>
              <a:latin typeface="Times New Roman" panose="02020603050405020304" pitchFamily="18" charset="0"/>
              <a:cs typeface="Times New Roman" panose="02020603050405020304" pitchFamily="18" charset="0"/>
            </a:rPr>
            <a:t>Garantizar la transparencia e informar la gestión en materia de sostenibilidad, a través del proceso de rendición de cuentas.</a:t>
          </a:r>
          <a:endParaRPr lang="es-VE" sz="1600" kern="1200" dirty="0">
            <a:solidFill>
              <a:schemeClr val="tx1"/>
            </a:solidFill>
            <a:latin typeface="Times New Roman" panose="02020603050405020304" pitchFamily="18" charset="0"/>
            <a:cs typeface="Times New Roman" panose="02020603050405020304" pitchFamily="18" charset="0"/>
          </a:endParaRPr>
        </a:p>
      </dsp:txBody>
      <dsp:txXfrm>
        <a:off x="658977" y="3589639"/>
        <a:ext cx="6982683" cy="10598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298122-830E-4E9C-A797-9516959FC4B2}">
      <dsp:nvSpPr>
        <dsp:cNvPr id="0" name=""/>
        <dsp:cNvSpPr/>
      </dsp:nvSpPr>
      <dsp:spPr>
        <a:xfrm>
          <a:off x="7143" y="604095"/>
          <a:ext cx="2135187" cy="128111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b="1" i="1" kern="1200" dirty="0">
              <a:effectLst/>
              <a:latin typeface="Times New Roman" panose="02020603050405020304" pitchFamily="18" charset="0"/>
              <a:ea typeface="Calibri" panose="020F0502020204030204" pitchFamily="34" charset="0"/>
              <a:cs typeface="Times New Roman" panose="02020603050405020304" pitchFamily="18" charset="0"/>
            </a:rPr>
            <a:t>Atención al Cliente</a:t>
          </a:r>
          <a:endParaRPr lang="es-VE" sz="2800" kern="1200" dirty="0">
            <a:effectLst/>
            <a:latin typeface="Calibri" panose="020F0502020204030204" pitchFamily="34" charset="0"/>
            <a:ea typeface="Calibri" panose="020F0502020204030204" pitchFamily="34" charset="0"/>
            <a:cs typeface="Times New Roman" panose="02020603050405020304" pitchFamily="18" charset="0"/>
          </a:endParaRPr>
        </a:p>
      </dsp:txBody>
      <dsp:txXfrm>
        <a:off x="44665" y="641617"/>
        <a:ext cx="2060143" cy="1206068"/>
      </dsp:txXfrm>
    </dsp:sp>
    <dsp:sp modelId="{F6FCE350-A965-4D08-8514-639159DA8E32}">
      <dsp:nvSpPr>
        <dsp:cNvPr id="0" name=""/>
        <dsp:cNvSpPr/>
      </dsp:nvSpPr>
      <dsp:spPr>
        <a:xfrm>
          <a:off x="2355850" y="979888"/>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s-VE" sz="2200" kern="1200"/>
        </a:p>
      </dsp:txBody>
      <dsp:txXfrm>
        <a:off x="2355850" y="1085793"/>
        <a:ext cx="316861" cy="317716"/>
      </dsp:txXfrm>
    </dsp:sp>
    <dsp:sp modelId="{10729570-86F1-44C9-AFC2-3B08E2F91DDF}">
      <dsp:nvSpPr>
        <dsp:cNvPr id="0" name=""/>
        <dsp:cNvSpPr/>
      </dsp:nvSpPr>
      <dsp:spPr>
        <a:xfrm>
          <a:off x="2996406" y="604095"/>
          <a:ext cx="2135187" cy="128111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b="1" i="1" kern="1200" dirty="0">
              <a:effectLst/>
              <a:latin typeface="Times New Roman" panose="02020603050405020304" pitchFamily="18" charset="0"/>
              <a:ea typeface="Calibri" panose="020F0502020204030204" pitchFamily="34" charset="0"/>
              <a:cs typeface="Times New Roman" panose="02020603050405020304" pitchFamily="18" charset="0"/>
            </a:rPr>
            <a:t>Banco </a:t>
          </a:r>
          <a:endParaRPr lang="es-VE" sz="2800" kern="1200" dirty="0">
            <a:effectLst/>
            <a:latin typeface="Calibri" panose="020F0502020204030204" pitchFamily="34" charset="0"/>
            <a:ea typeface="Calibri" panose="020F0502020204030204" pitchFamily="34" charset="0"/>
            <a:cs typeface="Times New Roman" panose="02020603050405020304" pitchFamily="18" charset="0"/>
          </a:endParaRPr>
        </a:p>
      </dsp:txBody>
      <dsp:txXfrm>
        <a:off x="3033928" y="641617"/>
        <a:ext cx="2060143" cy="1206068"/>
      </dsp:txXfrm>
    </dsp:sp>
    <dsp:sp modelId="{9AD18A3F-ABF6-4EAB-A17D-E8ABA377C2C1}">
      <dsp:nvSpPr>
        <dsp:cNvPr id="0" name=""/>
        <dsp:cNvSpPr/>
      </dsp:nvSpPr>
      <dsp:spPr>
        <a:xfrm>
          <a:off x="5345112" y="979888"/>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s-VE" sz="2200" kern="1200"/>
        </a:p>
      </dsp:txBody>
      <dsp:txXfrm>
        <a:off x="5345112" y="1085793"/>
        <a:ext cx="316861" cy="317716"/>
      </dsp:txXfrm>
    </dsp:sp>
    <dsp:sp modelId="{2B276B9D-06F1-4F70-B50C-B5106134BE55}">
      <dsp:nvSpPr>
        <dsp:cNvPr id="0" name=""/>
        <dsp:cNvSpPr/>
      </dsp:nvSpPr>
      <dsp:spPr>
        <a:xfrm>
          <a:off x="5985668" y="604095"/>
          <a:ext cx="2135187" cy="128111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b="1" i="1" kern="1200" dirty="0"/>
            <a:t>Estrategias</a:t>
          </a:r>
          <a:endParaRPr lang="es-VE" sz="2800" kern="1200" dirty="0"/>
        </a:p>
      </dsp:txBody>
      <dsp:txXfrm>
        <a:off x="6023190" y="641617"/>
        <a:ext cx="2060143" cy="12060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F3116C-D414-48E2-B6A6-088B3623951C}">
      <dsp:nvSpPr>
        <dsp:cNvPr id="0" name=""/>
        <dsp:cNvSpPr/>
      </dsp:nvSpPr>
      <dsp:spPr>
        <a:xfrm>
          <a:off x="63953" y="0"/>
          <a:ext cx="3575843" cy="112501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latin typeface="Times New Roman" panose="02020603050405020304" pitchFamily="18" charset="0"/>
              <a:cs typeface="Times New Roman" panose="02020603050405020304" pitchFamily="18" charset="0"/>
            </a:rPr>
            <a:t>Objetivo General</a:t>
          </a:r>
          <a:endParaRPr lang="es-VE" sz="2000" b="1" kern="1200" dirty="0">
            <a:latin typeface="Times New Roman" panose="02020603050405020304" pitchFamily="18" charset="0"/>
            <a:cs typeface="Times New Roman" panose="02020603050405020304" pitchFamily="18" charset="0"/>
          </a:endParaRPr>
        </a:p>
      </dsp:txBody>
      <dsp:txXfrm>
        <a:off x="96904" y="32951"/>
        <a:ext cx="3509941" cy="1059112"/>
      </dsp:txXfrm>
    </dsp:sp>
    <dsp:sp modelId="{02313FCD-9A3B-4538-824E-EC05D793F3B2}">
      <dsp:nvSpPr>
        <dsp:cNvPr id="0" name=""/>
        <dsp:cNvSpPr/>
      </dsp:nvSpPr>
      <dsp:spPr>
        <a:xfrm>
          <a:off x="421538" y="1125014"/>
          <a:ext cx="334806" cy="1343173"/>
        </a:xfrm>
        <a:custGeom>
          <a:avLst/>
          <a:gdLst/>
          <a:ahLst/>
          <a:cxnLst/>
          <a:rect l="0" t="0" r="0" b="0"/>
          <a:pathLst>
            <a:path>
              <a:moveTo>
                <a:pt x="0" y="0"/>
              </a:moveTo>
              <a:lnTo>
                <a:pt x="0" y="1343173"/>
              </a:lnTo>
              <a:lnTo>
                <a:pt x="334806" y="134317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83DBC9-E0A7-45A0-8C11-4470BCEF30CA}">
      <dsp:nvSpPr>
        <dsp:cNvPr id="0" name=""/>
        <dsp:cNvSpPr/>
      </dsp:nvSpPr>
      <dsp:spPr>
        <a:xfrm>
          <a:off x="756344" y="1574226"/>
          <a:ext cx="2860674" cy="1787921"/>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just" defTabSz="711200">
            <a:lnSpc>
              <a:spcPct val="90000"/>
            </a:lnSpc>
            <a:spcBef>
              <a:spcPct val="0"/>
            </a:spcBef>
            <a:spcAft>
              <a:spcPct val="35000"/>
            </a:spcAft>
            <a:buNone/>
          </a:pPr>
          <a:r>
            <a:rPr lang="es-ES" sz="1600" kern="1200" dirty="0">
              <a:latin typeface="Times New Roman" panose="02020603050405020304" pitchFamily="18" charset="0"/>
              <a:cs typeface="Times New Roman" panose="02020603050405020304" pitchFamily="18" charset="0"/>
            </a:rPr>
            <a:t>Proponer Estrategias de atención al cliente en Banesco Banco Universal, Gerencia de Red de Sucursales. Estado Bolivariano de Miranda</a:t>
          </a:r>
          <a:r>
            <a:rPr lang="es-ES" sz="1700" kern="1200" dirty="0">
              <a:latin typeface="Times New Roman" panose="02020603050405020304" pitchFamily="18" charset="0"/>
              <a:cs typeface="Times New Roman" panose="02020603050405020304" pitchFamily="18" charset="0"/>
            </a:rPr>
            <a:t>.</a:t>
          </a:r>
          <a:endParaRPr lang="es-VE" sz="1700" kern="1200" dirty="0">
            <a:latin typeface="Times New Roman" panose="02020603050405020304" pitchFamily="18" charset="0"/>
            <a:cs typeface="Times New Roman" panose="02020603050405020304" pitchFamily="18" charset="0"/>
          </a:endParaRPr>
        </a:p>
      </dsp:txBody>
      <dsp:txXfrm>
        <a:off x="808710" y="1626592"/>
        <a:ext cx="2755942" cy="1683189"/>
      </dsp:txXfrm>
    </dsp:sp>
    <dsp:sp modelId="{90062E7E-24D1-4B75-8561-EACEBACF219F}">
      <dsp:nvSpPr>
        <dsp:cNvPr id="0" name=""/>
        <dsp:cNvSpPr/>
      </dsp:nvSpPr>
      <dsp:spPr>
        <a:xfrm>
          <a:off x="4064000" y="43801"/>
          <a:ext cx="3575843" cy="94439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endParaRPr lang="es-ES" sz="2000" b="1" kern="1200" dirty="0"/>
        </a:p>
        <a:p>
          <a:pPr marL="0" lvl="0" indent="0" algn="ctr" defTabSz="889000">
            <a:lnSpc>
              <a:spcPct val="90000"/>
            </a:lnSpc>
            <a:spcBef>
              <a:spcPct val="0"/>
            </a:spcBef>
            <a:spcAft>
              <a:spcPct val="35000"/>
            </a:spcAft>
            <a:buNone/>
          </a:pPr>
          <a:r>
            <a:rPr lang="es-ES" sz="2000" b="1" kern="1200" dirty="0">
              <a:latin typeface="Times New Roman" panose="02020603050405020304" pitchFamily="18" charset="0"/>
              <a:cs typeface="Times New Roman" panose="02020603050405020304" pitchFamily="18" charset="0"/>
            </a:rPr>
            <a:t>Objetivo Específico</a:t>
          </a:r>
          <a:endParaRPr lang="es-VE" sz="2000" kern="1200" dirty="0">
            <a:latin typeface="Times New Roman" panose="02020603050405020304" pitchFamily="18" charset="0"/>
            <a:cs typeface="Times New Roman" panose="02020603050405020304" pitchFamily="18" charset="0"/>
          </a:endParaRPr>
        </a:p>
        <a:p>
          <a:pPr marL="0" lvl="0" indent="0" algn="ctr" defTabSz="889000">
            <a:lnSpc>
              <a:spcPct val="90000"/>
            </a:lnSpc>
            <a:spcBef>
              <a:spcPct val="0"/>
            </a:spcBef>
            <a:spcAft>
              <a:spcPct val="35000"/>
            </a:spcAft>
            <a:buNone/>
          </a:pPr>
          <a:endParaRPr lang="es-VE" sz="2400" kern="1200" dirty="0"/>
        </a:p>
      </dsp:txBody>
      <dsp:txXfrm>
        <a:off x="4091660" y="71461"/>
        <a:ext cx="3520523" cy="889078"/>
      </dsp:txXfrm>
    </dsp:sp>
    <dsp:sp modelId="{D23CB3A6-9C10-48B0-9F2C-0AD326549993}">
      <dsp:nvSpPr>
        <dsp:cNvPr id="0" name=""/>
        <dsp:cNvSpPr/>
      </dsp:nvSpPr>
      <dsp:spPr>
        <a:xfrm>
          <a:off x="4421584" y="988199"/>
          <a:ext cx="804564" cy="1299372"/>
        </a:xfrm>
        <a:custGeom>
          <a:avLst/>
          <a:gdLst/>
          <a:ahLst/>
          <a:cxnLst/>
          <a:rect l="0" t="0" r="0" b="0"/>
          <a:pathLst>
            <a:path>
              <a:moveTo>
                <a:pt x="0" y="0"/>
              </a:moveTo>
              <a:lnTo>
                <a:pt x="0" y="1299372"/>
              </a:lnTo>
              <a:lnTo>
                <a:pt x="804564" y="129937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40E844-3EB5-4814-9225-35A44B79F4C8}">
      <dsp:nvSpPr>
        <dsp:cNvPr id="0" name=""/>
        <dsp:cNvSpPr/>
      </dsp:nvSpPr>
      <dsp:spPr>
        <a:xfrm>
          <a:off x="5226149" y="1393610"/>
          <a:ext cx="2860674" cy="1787921"/>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l" defTabSz="844550">
            <a:lnSpc>
              <a:spcPct val="90000"/>
            </a:lnSpc>
            <a:spcBef>
              <a:spcPct val="0"/>
            </a:spcBef>
            <a:spcAft>
              <a:spcPct val="35000"/>
            </a:spcAft>
            <a:buNone/>
          </a:pPr>
          <a:endParaRPr lang="es-VE" sz="1900" kern="1200" dirty="0">
            <a:effectLst/>
            <a:latin typeface="Calibri" panose="020F0502020204030204" pitchFamily="34" charset="0"/>
            <a:ea typeface="Calibri" panose="020F0502020204030204" pitchFamily="34" charset="0"/>
            <a:cs typeface="Times New Roman" panose="02020603050405020304" pitchFamily="18" charset="0"/>
          </a:endParaRPr>
        </a:p>
        <a:p>
          <a:pPr marL="171450" lvl="1" indent="-171450" algn="just" defTabSz="711200">
            <a:lnSpc>
              <a:spcPct val="90000"/>
            </a:lnSpc>
            <a:spcBef>
              <a:spcPct val="0"/>
            </a:spcBef>
            <a:spcAft>
              <a:spcPct val="15000"/>
            </a:spcAft>
            <a:buFont typeface="Times New Roman" panose="02020603050405020304" pitchFamily="18" charset="0"/>
            <a:buChar char="-"/>
          </a:pPr>
          <a:r>
            <a:rPr lang="es-ES" sz="1600" kern="1200" dirty="0">
              <a:effectLst/>
              <a:latin typeface="Times New Roman" panose="02020603050405020304" pitchFamily="18" charset="0"/>
              <a:ea typeface="Calibri" panose="020F0502020204030204" pitchFamily="34" charset="0"/>
              <a:cs typeface="Times New Roman" panose="02020603050405020304" pitchFamily="18" charset="0"/>
            </a:rPr>
            <a:t>Establecer las estrategias para agilizar la atención al cliente en Banesco Banco Universal, C.A. Gerencia de Red de Sucursales. </a:t>
          </a:r>
          <a:r>
            <a:rPr lang="es-E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Estado Bolivariano de Miranda.</a:t>
          </a:r>
          <a:endParaRPr lang="es-VE" sz="1600" kern="1200" dirty="0">
            <a:effectLst/>
            <a:latin typeface="Calibri" panose="020F0502020204030204" pitchFamily="34" charset="0"/>
            <a:ea typeface="Calibri" panose="020F0502020204030204" pitchFamily="34" charset="0"/>
            <a:cs typeface="Times New Roman" panose="02020603050405020304" pitchFamily="18" charset="0"/>
          </a:endParaRPr>
        </a:p>
      </dsp:txBody>
      <dsp:txXfrm>
        <a:off x="5278515" y="1445976"/>
        <a:ext cx="2755942" cy="1683189"/>
      </dsp:txXfrm>
    </dsp:sp>
    <dsp:sp modelId="{6B817049-4522-4FA7-BFC1-A97ACD0346BC}">
      <dsp:nvSpPr>
        <dsp:cNvPr id="0" name=""/>
        <dsp:cNvSpPr/>
      </dsp:nvSpPr>
      <dsp:spPr>
        <a:xfrm>
          <a:off x="4421584" y="988199"/>
          <a:ext cx="804564" cy="3534274"/>
        </a:xfrm>
        <a:custGeom>
          <a:avLst/>
          <a:gdLst/>
          <a:ahLst/>
          <a:cxnLst/>
          <a:rect l="0" t="0" r="0" b="0"/>
          <a:pathLst>
            <a:path>
              <a:moveTo>
                <a:pt x="0" y="0"/>
              </a:moveTo>
              <a:lnTo>
                <a:pt x="0" y="3534274"/>
              </a:lnTo>
              <a:lnTo>
                <a:pt x="804564" y="353427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F8483F-BF6E-4173-B814-4B559FAD0915}">
      <dsp:nvSpPr>
        <dsp:cNvPr id="0" name=""/>
        <dsp:cNvSpPr/>
      </dsp:nvSpPr>
      <dsp:spPr>
        <a:xfrm>
          <a:off x="5226149" y="3628513"/>
          <a:ext cx="2860674" cy="1787921"/>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just" defTabSz="800100">
            <a:lnSpc>
              <a:spcPct val="90000"/>
            </a:lnSpc>
            <a:spcBef>
              <a:spcPct val="0"/>
            </a:spcBef>
            <a:spcAft>
              <a:spcPct val="35000"/>
            </a:spcAft>
            <a:buFont typeface="Arial" panose="020B0604020202020204" pitchFamily="34" charset="0"/>
            <a:buNone/>
          </a:pPr>
          <a:r>
            <a:rPr lang="es-ES" sz="1800" kern="1200" dirty="0"/>
            <a:t>- </a:t>
          </a:r>
          <a:r>
            <a:rPr lang="es-ES" sz="1600" kern="1200" dirty="0">
              <a:latin typeface="Times New Roman" panose="02020603050405020304" pitchFamily="18" charset="0"/>
              <a:cs typeface="Times New Roman" panose="02020603050405020304" pitchFamily="18" charset="0"/>
            </a:rPr>
            <a:t>Sensibilizar, a la Gerencia y al personal de Banesco Banco Universal, C.A</a:t>
          </a:r>
          <a:r>
            <a:rPr lang="es-ES" sz="1600" kern="1200" dirty="0">
              <a:effectLst/>
              <a:latin typeface="Times New Roman" panose="02020603050405020304" pitchFamily="18" charset="0"/>
              <a:ea typeface="Calibri" panose="020F0502020204030204" pitchFamily="34" charset="0"/>
              <a:cs typeface="Times New Roman" panose="02020603050405020304" pitchFamily="18" charset="0"/>
            </a:rPr>
            <a:t>. Gerencia de Red de Sucursales </a:t>
          </a:r>
          <a:r>
            <a:rPr lang="es-ES" sz="1600" kern="1200" dirty="0">
              <a:latin typeface="Times New Roman" panose="02020603050405020304" pitchFamily="18" charset="0"/>
              <a:cs typeface="Times New Roman" panose="02020603050405020304" pitchFamily="18" charset="0"/>
            </a:rPr>
            <a:t>Estado Bolivariano de Miranda</a:t>
          </a:r>
          <a:r>
            <a:rPr lang="es-ES" sz="1800" kern="1200" dirty="0"/>
            <a:t>.</a:t>
          </a:r>
          <a:endParaRPr lang="es-VE" sz="1800" kern="1200" dirty="0"/>
        </a:p>
      </dsp:txBody>
      <dsp:txXfrm>
        <a:off x="5278515" y="3680879"/>
        <a:ext cx="2755942" cy="1683189"/>
      </dsp:txXfrm>
    </dsp:sp>
  </dsp:spTree>
</dsp:drawing>
</file>

<file path=ppt/diagrams/layout1.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smtClean="0"/>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54122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D6E9DEC-419B-4CC5-A080-3B06BD5A8291}" type="datetimeFigureOut">
              <a:rPr lang="en-US" smtClean="0"/>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57921978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0578ACC-22D6-47C1-A373-4FD133E34F3C}" type="datetimeFigureOut">
              <a:rPr lang="en-US" smtClean="0"/>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053850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D6E9DEC-419B-4CC5-A080-3B06BD5A8291}" type="datetimeFigureOut">
              <a:rPr lang="en-US" smtClean="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89971022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D6E9DEC-419B-4CC5-A080-3B06BD5A8291}" type="datetimeFigureOut">
              <a:rPr lang="en-US" smtClean="0"/>
              <a:t>4/16/2026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30112756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smtClean="0"/>
              <a:t>4/16/2026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438011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24A7AC-904D-4781-85BA-7D10C17ED021}" type="datetimeFigureOut">
              <a:rPr lang="en-US" smtClean="0"/>
              <a:t>4/16/2026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772050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D6E9DEC-419B-4CC5-A080-3B06BD5A8291}" type="datetimeFigureOut">
              <a:rPr lang="en-US" smtClean="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75975286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3EFA5E-FA76-400D-B3DC-F0BA90E6D107}" type="datetimeFigureOut">
              <a:rPr lang="en-US" smtClean="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51200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D6E9DEC-419B-4CC5-A080-3B06BD5A8291}" type="datetimeFigureOut">
              <a:rPr lang="en-US" smtClean="0"/>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8063977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D6E9DEC-419B-4CC5-A080-3B06BD5A8291}" type="datetimeFigureOut">
              <a:rPr lang="en-US" smtClean="0"/>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9631174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9D6E9DEC-419B-4CC5-A080-3B06BD5A8291}" type="datetimeFigureOut">
              <a:rPr lang="en-US" smtClean="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80186947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9D6E9DEC-419B-4CC5-A080-3B06BD5A8291}" type="datetimeFigureOut">
              <a:rPr lang="en-US" smtClean="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4820500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9D6E9DEC-419B-4CC5-A080-3B06BD5A8291}" type="datetimeFigureOut">
              <a:rPr lang="en-US" smtClean="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39429472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D6E9DEC-419B-4CC5-A080-3B06BD5A8291}" type="datetimeFigureOut">
              <a:rPr lang="en-US" smtClean="0"/>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747747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D6E9DEC-419B-4CC5-A080-3B06BD5A8291}" type="datetimeFigureOut">
              <a:rPr lang="en-US" smtClean="0"/>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17737337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D6E9DEC-419B-4CC5-A080-3B06BD5A8291}" type="datetimeFigureOut">
              <a:rPr lang="en-US" smtClean="0"/>
              <a:t>4/16/2026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95378819"/>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 id="2147483998" r:id="rId13"/>
    <p:sldLayoutId id="2147483999" r:id="rId14"/>
    <p:sldLayoutId id="2147484000" r:id="rId15"/>
    <p:sldLayoutId id="2147484001"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8.png"/><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9.pn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9.png"/><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4.xml"/><Relationship Id="rId4" Type="http://schemas.openxmlformats.org/officeDocument/2006/relationships/image" Target="../media/image25.jpeg"/></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78D0A8B4-6949-40B3-9A3D-144E066C1CD2}"/>
              </a:ext>
            </a:extLst>
          </p:cNvPr>
          <p:cNvSpPr txBox="1"/>
          <p:nvPr/>
        </p:nvSpPr>
        <p:spPr>
          <a:xfrm>
            <a:off x="2848708" y="1899138"/>
            <a:ext cx="6481024" cy="1384995"/>
          </a:xfrm>
          <a:prstGeom prst="rect">
            <a:avLst/>
          </a:prstGeom>
          <a:noFill/>
        </p:spPr>
        <p:txBody>
          <a:bodyPr wrap="square">
            <a:spAutoFit/>
          </a:bodyPr>
          <a:lstStyle/>
          <a:p>
            <a:pPr algn="ctr"/>
            <a:r>
              <a:rPr lang="es-ES" sz="2800" b="1" dirty="0">
                <a:effectLst/>
                <a:latin typeface="Times New Roman" panose="02020603050405020304" pitchFamily="18" charset="0"/>
                <a:ea typeface="Calibri" panose="020F0502020204030204" pitchFamily="34" charset="0"/>
                <a:cs typeface="Times New Roman" panose="02020603050405020304" pitchFamily="18" charset="0"/>
              </a:rPr>
              <a:t>Estrategias de Atención al Cliente en </a:t>
            </a:r>
            <a:endParaRPr lang="es-VE" sz="2800" dirty="0">
              <a:effectLst/>
              <a:latin typeface="Times New Roman" panose="02020603050405020304" pitchFamily="18" charset="0"/>
              <a:ea typeface="Calibri" panose="020F0502020204030204" pitchFamily="34" charset="0"/>
              <a:cs typeface="Times New Roman" panose="02020603050405020304" pitchFamily="18" charset="0"/>
            </a:endParaRPr>
          </a:p>
          <a:p>
            <a:pPr algn="r"/>
            <a:r>
              <a:rPr lang="es-ES" sz="2800" b="1" dirty="0">
                <a:effectLst/>
                <a:latin typeface="Times New Roman" panose="02020603050405020304" pitchFamily="18" charset="0"/>
                <a:ea typeface="Calibri" panose="020F0502020204030204" pitchFamily="34" charset="0"/>
                <a:cs typeface="Times New Roman" panose="02020603050405020304" pitchFamily="18" charset="0"/>
              </a:rPr>
              <a:t>Banesco Banco Universal, C.A, a la</a:t>
            </a:r>
          </a:p>
          <a:p>
            <a:pPr algn="r"/>
            <a:r>
              <a:rPr lang="es-ES" sz="2800" b="1" dirty="0">
                <a:latin typeface="Times New Roman" panose="02020603050405020304" pitchFamily="18" charset="0"/>
                <a:ea typeface="Calibri" panose="020F0502020204030204" pitchFamily="34" charset="0"/>
                <a:cs typeface="Times New Roman" panose="02020603050405020304" pitchFamily="18" charset="0"/>
              </a:rPr>
              <a:t>Gerencia de Red de Sucursales</a:t>
            </a:r>
            <a:endParaRPr lang="es-VE"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3004F9C0-F4D0-4933-9BE1-DDDB4E5F9000}"/>
              </a:ext>
            </a:extLst>
          </p:cNvPr>
          <p:cNvSpPr txBox="1"/>
          <p:nvPr/>
        </p:nvSpPr>
        <p:spPr>
          <a:xfrm>
            <a:off x="9846704" y="5901824"/>
            <a:ext cx="1515291" cy="646331"/>
          </a:xfrm>
          <a:prstGeom prst="rect">
            <a:avLst/>
          </a:prstGeom>
          <a:noFill/>
        </p:spPr>
        <p:txBody>
          <a:bodyPr wrap="square" rtlCol="0">
            <a:spAutoFit/>
          </a:bodyPr>
          <a:lstStyle/>
          <a:p>
            <a:r>
              <a:rPr lang="es-ES" b="1" dirty="0">
                <a:latin typeface="Times New Roman" panose="02020603050405020304" pitchFamily="18" charset="0"/>
                <a:cs typeface="Times New Roman" panose="02020603050405020304" pitchFamily="18" charset="0"/>
              </a:rPr>
              <a:t>Pedro Pérez</a:t>
            </a:r>
          </a:p>
          <a:p>
            <a:endParaRPr lang="es-VE" dirty="0"/>
          </a:p>
        </p:txBody>
      </p:sp>
      <p:sp>
        <p:nvSpPr>
          <p:cNvPr id="12" name="CuadroTexto 11">
            <a:extLst>
              <a:ext uri="{FF2B5EF4-FFF2-40B4-BE49-F238E27FC236}">
                <a16:creationId xmlns:a16="http://schemas.microsoft.com/office/drawing/2014/main" id="{5A7F8499-7EDB-4596-B2D5-BD5767AF191E}"/>
              </a:ext>
            </a:extLst>
          </p:cNvPr>
          <p:cNvSpPr txBox="1"/>
          <p:nvPr/>
        </p:nvSpPr>
        <p:spPr>
          <a:xfrm>
            <a:off x="3048000" y="3278970"/>
            <a:ext cx="6096000" cy="369332"/>
          </a:xfrm>
          <a:prstGeom prst="rect">
            <a:avLst/>
          </a:prstGeom>
          <a:noFill/>
        </p:spPr>
        <p:txBody>
          <a:bodyPr wrap="square">
            <a:spAutoFit/>
          </a:bodyPr>
          <a:lstStyle/>
          <a:p>
            <a:endParaRPr lang="es-VE" dirty="0"/>
          </a:p>
        </p:txBody>
      </p:sp>
    </p:spTree>
    <p:extLst>
      <p:ext uri="{BB962C8B-B14F-4D97-AF65-F5344CB8AC3E}">
        <p14:creationId xmlns:p14="http://schemas.microsoft.com/office/powerpoint/2010/main" val="161761867"/>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n a la intervención de Banesco">
            <a:extLst>
              <a:ext uri="{FF2B5EF4-FFF2-40B4-BE49-F238E27FC236}">
                <a16:creationId xmlns:a16="http://schemas.microsoft.com/office/drawing/2014/main" id="{1A0F02C2-D058-471C-89DC-14FD8C458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2091" y="42726"/>
            <a:ext cx="5799909" cy="6815274"/>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10496;p85">
            <a:extLst>
              <a:ext uri="{FF2B5EF4-FFF2-40B4-BE49-F238E27FC236}">
                <a16:creationId xmlns:a16="http://schemas.microsoft.com/office/drawing/2014/main" id="{04C209DC-3E1F-4751-B0DC-B8285F65F9D8}"/>
              </a:ext>
            </a:extLst>
          </p:cNvPr>
          <p:cNvSpPr/>
          <p:nvPr/>
        </p:nvSpPr>
        <p:spPr>
          <a:xfrm>
            <a:off x="5268000" y="3602040"/>
            <a:ext cx="828000" cy="720000"/>
          </a:xfrm>
          <a:custGeom>
            <a:avLst/>
            <a:gdLst/>
            <a:ahLst/>
            <a:cxnLst/>
            <a:rect l="l" t="t" r="r" b="b"/>
            <a:pathLst>
              <a:path w="12665" h="12698" extrusionOk="0">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chemeClr val="tx1">
              <a:lumMod val="85000"/>
              <a:lumOff val="15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ndParaRPr>
          </a:p>
        </p:txBody>
      </p:sp>
      <p:sp>
        <p:nvSpPr>
          <p:cNvPr id="11" name="Cuadro de texto 1">
            <a:extLst>
              <a:ext uri="{FF2B5EF4-FFF2-40B4-BE49-F238E27FC236}">
                <a16:creationId xmlns:a16="http://schemas.microsoft.com/office/drawing/2014/main" id="{A38B37F2-27DD-43B5-B8F2-3759192AB62D}"/>
              </a:ext>
            </a:extLst>
          </p:cNvPr>
          <p:cNvSpPr txBox="1"/>
          <p:nvPr/>
        </p:nvSpPr>
        <p:spPr>
          <a:xfrm>
            <a:off x="890101" y="2381827"/>
            <a:ext cx="5068570" cy="1908215"/>
          </a:xfrm>
          <a:prstGeom prst="rect">
            <a:avLst/>
          </a:prstGeom>
          <a:noFill/>
        </p:spPr>
        <p:txBody>
          <a:bodyPr wrap="square" rtlCol="0">
            <a:spAutoFit/>
          </a:bodyPr>
          <a:lstStyle/>
          <a:p>
            <a:pPr algn="just"/>
            <a:r>
              <a:rPr lang="es-ES" altLang="en-US" sz="2200" b="1" dirty="0">
                <a:latin typeface="Calibri Light" panose="020F0302020204030204" pitchFamily="34" charset="0"/>
                <a:cs typeface="Calibri Light" panose="020F0302020204030204" pitchFamily="34" charset="0"/>
              </a:rPr>
              <a:t>CAPÍTULO I </a:t>
            </a:r>
          </a:p>
          <a:p>
            <a:r>
              <a:rPr lang="es-ES" altLang="en-US" sz="4800" b="1" dirty="0">
                <a:latin typeface="Calibri Light" panose="020F0302020204030204" pitchFamily="34" charset="0"/>
                <a:cs typeface="Calibri Light" panose="020F0302020204030204" pitchFamily="34" charset="0"/>
              </a:rPr>
              <a:t>REALIDAD ORGANIZACIONAL</a:t>
            </a:r>
          </a:p>
        </p:txBody>
      </p:sp>
      <p:sp>
        <p:nvSpPr>
          <p:cNvPr id="14" name="CuadroTexto 13">
            <a:extLst>
              <a:ext uri="{FF2B5EF4-FFF2-40B4-BE49-F238E27FC236}">
                <a16:creationId xmlns:a16="http://schemas.microsoft.com/office/drawing/2014/main" id="{22899E97-5E3B-4FE4-BE72-7A1032A648B3}"/>
              </a:ext>
            </a:extLst>
          </p:cNvPr>
          <p:cNvSpPr txBox="1"/>
          <p:nvPr/>
        </p:nvSpPr>
        <p:spPr>
          <a:xfrm>
            <a:off x="1304101" y="6106020"/>
            <a:ext cx="5068570" cy="646331"/>
          </a:xfrm>
          <a:prstGeom prst="rect">
            <a:avLst/>
          </a:prstGeom>
          <a:noFill/>
        </p:spPr>
        <p:txBody>
          <a:bodyPr wrap="square">
            <a:spAutoFit/>
          </a:bodyPr>
          <a:lstStyle/>
          <a:p>
            <a:pPr algn="just"/>
            <a:r>
              <a:rPr lang="es-ES" altLang="en-US" sz="1800" b="1" dirty="0">
                <a:solidFill>
                  <a:schemeClr val="tx1">
                    <a:lumMod val="95000"/>
                  </a:schemeClr>
                </a:solidFill>
                <a:latin typeface="Calibri Light" panose="020F0302020204030204" pitchFamily="34" charset="0"/>
                <a:cs typeface="Calibri Light" panose="020F0302020204030204" pitchFamily="34" charset="0"/>
              </a:rPr>
              <a:t>Informe de Pasantías requerido para optar al Técnico Superior Universitario en Administración de Empresa.</a:t>
            </a:r>
          </a:p>
        </p:txBody>
      </p:sp>
      <p:pic>
        <p:nvPicPr>
          <p:cNvPr id="15" name="Imagen 14" descr="Logo of Banesco">
            <a:extLst>
              <a:ext uri="{FF2B5EF4-FFF2-40B4-BE49-F238E27FC236}">
                <a16:creationId xmlns:a16="http://schemas.microsoft.com/office/drawing/2014/main" id="{9028A424-EDDD-4F92-8B51-C99B9BE8ED8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745" t="13971" r="6102" b="13971"/>
          <a:stretch/>
        </p:blipFill>
        <p:spPr bwMode="auto">
          <a:xfrm>
            <a:off x="2234858" y="105649"/>
            <a:ext cx="2672792" cy="1716516"/>
          </a:xfrm>
          <a:prstGeom prst="ellipse">
            <a:avLst/>
          </a:prstGeom>
          <a:ln>
            <a:noFill/>
          </a:ln>
          <a:effectLst>
            <a:outerShdw blurRad="76200" dir="13500000" sy="23000" kx="1200000" algn="br" rotWithShape="0">
              <a:prstClr val="black">
                <a:alpha val="20000"/>
              </a:prstClr>
            </a:outerShdw>
            <a:softEdge rad="112500"/>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88503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Cuarteto de Trompetas de Venezuela se presentará en Ciudad Banesco - Blog  Banesco">
            <a:extLst>
              <a:ext uri="{FF2B5EF4-FFF2-40B4-BE49-F238E27FC236}">
                <a16:creationId xmlns:a16="http://schemas.microsoft.com/office/drawing/2014/main" id="{EC5DD039-DB1E-49D6-80ED-82117FE55D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832590"/>
            <a:ext cx="4343400" cy="2827655"/>
          </a:xfrm>
          <a:prstGeom prst="rect">
            <a:avLst/>
          </a:prstGeom>
          <a:ln>
            <a:noFill/>
          </a:ln>
          <a:effectLst>
            <a:softEdge rad="112500"/>
          </a:effectLst>
        </p:spPr>
      </p:pic>
      <p:sp>
        <p:nvSpPr>
          <p:cNvPr id="8" name="Cuadro de texto 8">
            <a:extLst>
              <a:ext uri="{FF2B5EF4-FFF2-40B4-BE49-F238E27FC236}">
                <a16:creationId xmlns:a16="http://schemas.microsoft.com/office/drawing/2014/main" id="{F6E18D81-228B-4D91-B7EB-2C5531E6ECBF}"/>
              </a:ext>
            </a:extLst>
          </p:cNvPr>
          <p:cNvSpPr txBox="1"/>
          <p:nvPr/>
        </p:nvSpPr>
        <p:spPr>
          <a:xfrm>
            <a:off x="3255818" y="626196"/>
            <a:ext cx="4489967" cy="646331"/>
          </a:xfrm>
          <a:prstGeom prst="rect">
            <a:avLst/>
          </a:prstGeom>
          <a:noFill/>
        </p:spPr>
        <p:txBody>
          <a:bodyPr wrap="square" rtlCol="0">
            <a:spAutoFit/>
          </a:bodyPr>
          <a:lstStyle/>
          <a:p>
            <a:pPr algn="ctr"/>
            <a:r>
              <a:rPr lang="es-ES" altLang="en-US" b="1" dirty="0">
                <a:latin typeface="Calibri Light" panose="020F0302020204030204" pitchFamily="34" charset="0"/>
                <a:cs typeface="Calibri Light" panose="020F0302020204030204" pitchFamily="34" charset="0"/>
              </a:rPr>
              <a:t>CAPÍTULO I </a:t>
            </a:r>
          </a:p>
          <a:p>
            <a:pPr algn="ctr"/>
            <a:r>
              <a:rPr lang="es-ES" altLang="en-US" b="1" dirty="0">
                <a:latin typeface="Calibri Light" panose="020F0302020204030204" pitchFamily="34" charset="0"/>
                <a:cs typeface="Calibri Light" panose="020F0302020204030204" pitchFamily="34" charset="0"/>
              </a:rPr>
              <a:t>IDENTFICACIÓN DE LA EMPRESA</a:t>
            </a:r>
          </a:p>
        </p:txBody>
      </p:sp>
      <p:pic>
        <p:nvPicPr>
          <p:cNvPr id="9" name="Imagen 8">
            <a:extLst>
              <a:ext uri="{FF2B5EF4-FFF2-40B4-BE49-F238E27FC236}">
                <a16:creationId xmlns:a16="http://schemas.microsoft.com/office/drawing/2014/main" id="{F1EF6323-BE61-4F7B-A860-C0F501F1DC8D}"/>
              </a:ext>
            </a:extLst>
          </p:cNvPr>
          <p:cNvPicPr>
            <a:picLocks noChangeAspect="1"/>
          </p:cNvPicPr>
          <p:nvPr/>
        </p:nvPicPr>
        <p:blipFill>
          <a:blip r:embed="rId3"/>
          <a:stretch>
            <a:fillRect/>
          </a:stretch>
        </p:blipFill>
        <p:spPr>
          <a:xfrm>
            <a:off x="8669209" y="204573"/>
            <a:ext cx="3097036" cy="1798476"/>
          </a:xfrm>
          <a:prstGeom prst="rect">
            <a:avLst/>
          </a:prstGeom>
        </p:spPr>
      </p:pic>
      <p:sp>
        <p:nvSpPr>
          <p:cNvPr id="2" name="Elipse 1">
            <a:extLst>
              <a:ext uri="{FF2B5EF4-FFF2-40B4-BE49-F238E27FC236}">
                <a16:creationId xmlns:a16="http://schemas.microsoft.com/office/drawing/2014/main" id="{7F8C1886-1ABB-4793-8701-64CE467D8B4B}"/>
              </a:ext>
            </a:extLst>
          </p:cNvPr>
          <p:cNvSpPr/>
          <p:nvPr/>
        </p:nvSpPr>
        <p:spPr>
          <a:xfrm>
            <a:off x="1596835" y="2337190"/>
            <a:ext cx="3526971" cy="1909227"/>
          </a:xfrm>
          <a:prstGeom prst="ellipse">
            <a:avLst/>
          </a:prstGeom>
          <a:effectLst>
            <a:reflection blurRad="6350" stA="50000" endA="300" endPos="55000" dir="5400000" sy="-100000" algn="bl" rotWithShape="0"/>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s-ES" sz="2400" b="1" dirty="0">
                <a:latin typeface="Times New Roman" panose="02020603050405020304" pitchFamily="18" charset="0"/>
                <a:cs typeface="Times New Roman" panose="02020603050405020304" pitchFamily="18" charset="0"/>
              </a:rPr>
              <a:t>Reseña Histórica </a:t>
            </a:r>
            <a:endParaRPr lang="es-VE"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1246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 de texto 8">
            <a:extLst>
              <a:ext uri="{FF2B5EF4-FFF2-40B4-BE49-F238E27FC236}">
                <a16:creationId xmlns:a16="http://schemas.microsoft.com/office/drawing/2014/main" id="{3033BBCE-7C3D-488A-8B93-3CF0D9406697}"/>
              </a:ext>
            </a:extLst>
          </p:cNvPr>
          <p:cNvSpPr txBox="1"/>
          <p:nvPr/>
        </p:nvSpPr>
        <p:spPr>
          <a:xfrm>
            <a:off x="317102" y="0"/>
            <a:ext cx="3336426" cy="584775"/>
          </a:xfrm>
          <a:prstGeom prst="rect">
            <a:avLst/>
          </a:prstGeom>
          <a:noFill/>
        </p:spPr>
        <p:txBody>
          <a:bodyPr wrap="square" rtlCol="0">
            <a:spAutoFit/>
          </a:bodyPr>
          <a:lstStyle/>
          <a:p>
            <a:pPr algn="ctr" defTabSz="914400"/>
            <a:r>
              <a:rPr lang="es-ES" altLang="en-US" sz="1600" b="1" dirty="0">
                <a:latin typeface="Calibri Light" panose="020F0302020204030204" pitchFamily="34" charset="0"/>
                <a:cs typeface="Calibri Light" panose="020F0302020204030204" pitchFamily="34" charset="0"/>
              </a:rPr>
              <a:t>CAPÍTULO I </a:t>
            </a:r>
          </a:p>
          <a:p>
            <a:pPr algn="ctr" defTabSz="914400"/>
            <a:r>
              <a:rPr lang="es-ES" altLang="en-US" sz="1600" b="1" dirty="0">
                <a:latin typeface="Calibri Light" panose="020F0302020204030204" pitchFamily="34" charset="0"/>
                <a:cs typeface="Calibri Light" panose="020F0302020204030204" pitchFamily="34" charset="0"/>
              </a:rPr>
              <a:t>IDENTFICACIÓN DE LA INSTITUCIÓN</a:t>
            </a:r>
          </a:p>
        </p:txBody>
      </p:sp>
      <p:graphicFrame>
        <p:nvGraphicFramePr>
          <p:cNvPr id="8" name="Diagrama 7">
            <a:extLst>
              <a:ext uri="{FF2B5EF4-FFF2-40B4-BE49-F238E27FC236}">
                <a16:creationId xmlns:a16="http://schemas.microsoft.com/office/drawing/2014/main" id="{01564DD4-8BFB-4871-8D7E-4897D23E5ECB}"/>
              </a:ext>
            </a:extLst>
          </p:cNvPr>
          <p:cNvGraphicFramePr/>
          <p:nvPr>
            <p:extLst>
              <p:ext uri="{D42A27DB-BD31-4B8C-83A1-F6EECF244321}">
                <p14:modId xmlns:p14="http://schemas.microsoft.com/office/powerpoint/2010/main" val="268676762"/>
              </p:ext>
            </p:extLst>
          </p:nvPr>
        </p:nvGraphicFramePr>
        <p:xfrm>
          <a:off x="2946400" y="2348345"/>
          <a:ext cx="8128000" cy="36021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Imagen 9">
            <a:extLst>
              <a:ext uri="{FF2B5EF4-FFF2-40B4-BE49-F238E27FC236}">
                <a16:creationId xmlns:a16="http://schemas.microsoft.com/office/drawing/2014/main" id="{FB9349BA-DFF1-40B4-A67A-E4EBA867EA58}"/>
              </a:ext>
            </a:extLst>
          </p:cNvPr>
          <p:cNvPicPr>
            <a:picLocks noChangeAspect="1"/>
          </p:cNvPicPr>
          <p:nvPr/>
        </p:nvPicPr>
        <p:blipFill>
          <a:blip r:embed="rId7"/>
          <a:stretch>
            <a:fillRect/>
          </a:stretch>
        </p:blipFill>
        <p:spPr>
          <a:xfrm>
            <a:off x="9096391" y="119071"/>
            <a:ext cx="3097036" cy="1798476"/>
          </a:xfrm>
          <a:prstGeom prst="rect">
            <a:avLst/>
          </a:prstGeom>
        </p:spPr>
      </p:pic>
    </p:spTree>
    <p:extLst>
      <p:ext uri="{BB962C8B-B14F-4D97-AF65-F5344CB8AC3E}">
        <p14:creationId xmlns:p14="http://schemas.microsoft.com/office/powerpoint/2010/main" val="1423925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 de texto 8">
            <a:extLst>
              <a:ext uri="{FF2B5EF4-FFF2-40B4-BE49-F238E27FC236}">
                <a16:creationId xmlns:a16="http://schemas.microsoft.com/office/drawing/2014/main" id="{F3E1C4B0-8B0F-466F-867F-E6C568FD8A7C}"/>
              </a:ext>
            </a:extLst>
          </p:cNvPr>
          <p:cNvSpPr txBox="1"/>
          <p:nvPr/>
        </p:nvSpPr>
        <p:spPr>
          <a:xfrm>
            <a:off x="0" y="139050"/>
            <a:ext cx="3336426" cy="584775"/>
          </a:xfrm>
          <a:prstGeom prst="rect">
            <a:avLst/>
          </a:prstGeom>
          <a:noFill/>
        </p:spPr>
        <p:txBody>
          <a:bodyPr wrap="square" rtlCol="0">
            <a:spAutoFit/>
          </a:bodyPr>
          <a:lstStyle/>
          <a:p>
            <a:pPr algn="ctr" defTabSz="914400"/>
            <a:r>
              <a:rPr lang="es-ES" altLang="en-US" sz="1600" b="1" dirty="0">
                <a:latin typeface="Calibri Light" panose="020F0302020204030204" pitchFamily="34" charset="0"/>
                <a:cs typeface="Calibri Light" panose="020F0302020204030204" pitchFamily="34" charset="0"/>
              </a:rPr>
              <a:t>CAPÍTULO I </a:t>
            </a:r>
          </a:p>
          <a:p>
            <a:pPr algn="ctr" defTabSz="914400"/>
            <a:r>
              <a:rPr lang="es-ES" altLang="en-US" sz="1600" b="1" dirty="0">
                <a:latin typeface="Calibri Light" panose="020F0302020204030204" pitchFamily="34" charset="0"/>
                <a:cs typeface="Calibri Light" panose="020F0302020204030204" pitchFamily="34" charset="0"/>
              </a:rPr>
              <a:t>IDENTFICACIÓN DE LA INSTITUCIÓN</a:t>
            </a:r>
          </a:p>
        </p:txBody>
      </p:sp>
      <p:graphicFrame>
        <p:nvGraphicFramePr>
          <p:cNvPr id="4" name="Diagrama 3">
            <a:extLst>
              <a:ext uri="{FF2B5EF4-FFF2-40B4-BE49-F238E27FC236}">
                <a16:creationId xmlns:a16="http://schemas.microsoft.com/office/drawing/2014/main" id="{3198BFFD-3327-483E-9DB2-38D538C95DDB}"/>
              </a:ext>
            </a:extLst>
          </p:cNvPr>
          <p:cNvGraphicFramePr/>
          <p:nvPr>
            <p:extLst>
              <p:ext uri="{D42A27DB-BD31-4B8C-83A1-F6EECF244321}">
                <p14:modId xmlns:p14="http://schemas.microsoft.com/office/powerpoint/2010/main" val="1036118457"/>
              </p:ext>
            </p:extLst>
          </p:nvPr>
        </p:nvGraphicFramePr>
        <p:xfrm>
          <a:off x="1108364" y="1439333"/>
          <a:ext cx="10224654" cy="52796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uadroTexto 6">
            <a:extLst>
              <a:ext uri="{FF2B5EF4-FFF2-40B4-BE49-F238E27FC236}">
                <a16:creationId xmlns:a16="http://schemas.microsoft.com/office/drawing/2014/main" id="{EC4C925F-22A9-453F-9E13-C95C9D23E245}"/>
              </a:ext>
            </a:extLst>
          </p:cNvPr>
          <p:cNvSpPr txBox="1"/>
          <p:nvPr/>
        </p:nvSpPr>
        <p:spPr>
          <a:xfrm>
            <a:off x="3678594" y="419087"/>
            <a:ext cx="4186003" cy="461665"/>
          </a:xfrm>
          <a:prstGeom prst="rect">
            <a:avLst/>
          </a:prstGeom>
          <a:noFill/>
        </p:spPr>
        <p:txBody>
          <a:bodyPr wrap="square" rtlCol="0">
            <a:spAutoFit/>
          </a:bodyPr>
          <a:lstStyle/>
          <a:p>
            <a:pPr algn="ctr"/>
            <a:r>
              <a:rPr lang="es-ES" sz="2400" b="1" i="1" u="sng" dirty="0"/>
              <a:t>Objetivos</a:t>
            </a:r>
            <a:endParaRPr lang="es-VE" sz="2400" b="1" i="1" u="sng" dirty="0"/>
          </a:p>
        </p:txBody>
      </p:sp>
      <p:pic>
        <p:nvPicPr>
          <p:cNvPr id="2" name="Imagen 1">
            <a:extLst>
              <a:ext uri="{FF2B5EF4-FFF2-40B4-BE49-F238E27FC236}">
                <a16:creationId xmlns:a16="http://schemas.microsoft.com/office/drawing/2014/main" id="{03C93596-A7DE-406D-A2EE-D8A63F343A7D}"/>
              </a:ext>
            </a:extLst>
          </p:cNvPr>
          <p:cNvPicPr>
            <a:picLocks noChangeAspect="1"/>
          </p:cNvPicPr>
          <p:nvPr/>
        </p:nvPicPr>
        <p:blipFill>
          <a:blip r:embed="rId7"/>
          <a:stretch>
            <a:fillRect/>
          </a:stretch>
        </p:blipFill>
        <p:spPr>
          <a:xfrm>
            <a:off x="9094964" y="0"/>
            <a:ext cx="3097036" cy="1798476"/>
          </a:xfrm>
          <a:prstGeom prst="rect">
            <a:avLst/>
          </a:prstGeom>
        </p:spPr>
      </p:pic>
    </p:spTree>
    <p:extLst>
      <p:ext uri="{BB962C8B-B14F-4D97-AF65-F5344CB8AC3E}">
        <p14:creationId xmlns:p14="http://schemas.microsoft.com/office/powerpoint/2010/main" val="2737201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Logo of Banesco">
            <a:extLst>
              <a:ext uri="{FF2B5EF4-FFF2-40B4-BE49-F238E27FC236}">
                <a16:creationId xmlns:a16="http://schemas.microsoft.com/office/drawing/2014/main" id="{95A798AB-4973-4956-AD23-DF2B16C37AA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745" t="13971" r="6102" b="13971"/>
          <a:stretch/>
        </p:blipFill>
        <p:spPr bwMode="auto">
          <a:xfrm>
            <a:off x="4157662" y="3706587"/>
            <a:ext cx="3544169" cy="1743596"/>
          </a:xfrm>
          <a:prstGeom prst="rect">
            <a:avLst/>
          </a:prstGeom>
          <a:noFill/>
          <a:ln>
            <a:noFill/>
          </a:ln>
          <a:effectLst>
            <a:outerShdw blurRad="152400" dist="317500" dir="5400000" sx="90000" sy="-19000" rotWithShape="0">
              <a:prstClr val="black">
                <a:alpha val="15000"/>
              </a:prstClr>
            </a:outerShdw>
          </a:effectLst>
          <a:extLst>
            <a:ext uri="{53640926-AAD7-44D8-BBD7-CCE9431645EC}">
              <a14:shadowObscured xmlns:a14="http://schemas.microsoft.com/office/drawing/2010/main"/>
            </a:ext>
          </a:extLst>
        </p:spPr>
      </p:pic>
      <p:sp>
        <p:nvSpPr>
          <p:cNvPr id="6" name="CuadroTexto 5">
            <a:extLst>
              <a:ext uri="{FF2B5EF4-FFF2-40B4-BE49-F238E27FC236}">
                <a16:creationId xmlns:a16="http://schemas.microsoft.com/office/drawing/2014/main" id="{C9D78BAE-6919-43A1-B3D3-ACD66023AD83}"/>
              </a:ext>
            </a:extLst>
          </p:cNvPr>
          <p:cNvSpPr txBox="1"/>
          <p:nvPr/>
        </p:nvSpPr>
        <p:spPr>
          <a:xfrm>
            <a:off x="3976255" y="858982"/>
            <a:ext cx="4281054" cy="523220"/>
          </a:xfrm>
          <a:prstGeom prst="rect">
            <a:avLst/>
          </a:prstGeom>
          <a:noFill/>
        </p:spPr>
        <p:txBody>
          <a:bodyPr wrap="square" rtlCol="0">
            <a:spAutoFit/>
          </a:bodyPr>
          <a:lstStyle/>
          <a:p>
            <a:r>
              <a:rPr lang="es-ES" sz="2800" b="1" u="sng" dirty="0"/>
              <a:t>Logotipo  y  Población </a:t>
            </a:r>
            <a:endParaRPr lang="es-VE" sz="2800" b="1" u="sng" dirty="0"/>
          </a:p>
        </p:txBody>
      </p:sp>
      <p:sp>
        <p:nvSpPr>
          <p:cNvPr id="8" name="CuadroTexto 7">
            <a:extLst>
              <a:ext uri="{FF2B5EF4-FFF2-40B4-BE49-F238E27FC236}">
                <a16:creationId xmlns:a16="http://schemas.microsoft.com/office/drawing/2014/main" id="{A3EA7E03-CB19-4BB2-8CCC-6D6D3812EEC4}"/>
              </a:ext>
            </a:extLst>
          </p:cNvPr>
          <p:cNvSpPr txBox="1"/>
          <p:nvPr/>
        </p:nvSpPr>
        <p:spPr>
          <a:xfrm>
            <a:off x="1842655" y="2120389"/>
            <a:ext cx="7356763" cy="584775"/>
          </a:xfrm>
          <a:prstGeom prst="rect">
            <a:avLst/>
          </a:prstGeom>
          <a:noFill/>
        </p:spPr>
        <p:txBody>
          <a:bodyPr wrap="square">
            <a:spAutoFit/>
          </a:bodyPr>
          <a:lstStyle/>
          <a:p>
            <a:pPr marL="171450" indent="-171450">
              <a:buFont typeface="Arial" panose="020B0604020202020204" pitchFamily="34" charset="0"/>
              <a:buChar char="•"/>
            </a:pPr>
            <a:r>
              <a:rPr lang="es-ES" sz="1600" dirty="0">
                <a:effectLst/>
                <a:latin typeface="Times New Roman" panose="02020603050405020304" pitchFamily="18" charset="0"/>
                <a:ea typeface="Microsoft Sans Serif" panose="020B0604020202020204" pitchFamily="34" charset="0"/>
              </a:rPr>
              <a:t> Es de hacer resaltar, </a:t>
            </a:r>
            <a:r>
              <a:rPr lang="es-ES" sz="1600" dirty="0">
                <a:latin typeface="Times New Roman" panose="02020603050405020304" pitchFamily="18" charset="0"/>
                <a:ea typeface="Microsoft Sans Serif" panose="020B0604020202020204" pitchFamily="34" charset="0"/>
              </a:rPr>
              <a:t>que </a:t>
            </a:r>
            <a:r>
              <a:rPr lang="es-ES" sz="1600" spc="5" dirty="0">
                <a:effectLst/>
                <a:latin typeface="Times New Roman" panose="02020603050405020304" pitchFamily="18" charset="0"/>
                <a:ea typeface="Microsoft Sans Serif" panose="020B0604020202020204" pitchFamily="34" charset="0"/>
              </a:rPr>
              <a:t> </a:t>
            </a:r>
            <a:r>
              <a:rPr lang="es-ES" sz="1600" dirty="0">
                <a:effectLst/>
                <a:latin typeface="Times New Roman" panose="02020603050405020304" pitchFamily="18" charset="0"/>
                <a:ea typeface="Microsoft Sans Serif" panose="020B0604020202020204" pitchFamily="34" charset="0"/>
              </a:rPr>
              <a:t>Banesco Banco Universal, C.A  cuenta con una  población</a:t>
            </a:r>
            <a:r>
              <a:rPr lang="es-ES" sz="1600" spc="5" dirty="0">
                <a:effectLst/>
                <a:latin typeface="Times New Roman" panose="02020603050405020304" pitchFamily="18" charset="0"/>
                <a:ea typeface="Microsoft Sans Serif" panose="020B0604020202020204" pitchFamily="34" charset="0"/>
              </a:rPr>
              <a:t> </a:t>
            </a:r>
            <a:r>
              <a:rPr lang="es-ES" sz="1600" dirty="0">
                <a:effectLst/>
                <a:latin typeface="Times New Roman" panose="02020603050405020304" pitchFamily="18" charset="0"/>
                <a:ea typeface="Microsoft Sans Serif" panose="020B0604020202020204" pitchFamily="34" charset="0"/>
              </a:rPr>
              <a:t>constituida</a:t>
            </a:r>
            <a:r>
              <a:rPr lang="es-ES" sz="1600" spc="5" dirty="0">
                <a:effectLst/>
                <a:latin typeface="Times New Roman" panose="02020603050405020304" pitchFamily="18" charset="0"/>
                <a:ea typeface="Microsoft Sans Serif" panose="020B0604020202020204" pitchFamily="34" charset="0"/>
              </a:rPr>
              <a:t> por</a:t>
            </a:r>
            <a:r>
              <a:rPr lang="es-ES" sz="1600" spc="5" dirty="0">
                <a:latin typeface="Times New Roman" panose="02020603050405020304" pitchFamily="18" charset="0"/>
                <a:ea typeface="Microsoft Sans Serif" panose="020B0604020202020204" pitchFamily="34" charset="0"/>
              </a:rPr>
              <a:t> </a:t>
            </a:r>
            <a:r>
              <a:rPr lang="es-ES" sz="1600" spc="5" dirty="0">
                <a:effectLst/>
                <a:latin typeface="Times New Roman" panose="02020603050405020304" pitchFamily="18" charset="0"/>
                <a:ea typeface="Microsoft Sans Serif" panose="020B0604020202020204" pitchFamily="34" charset="0"/>
              </a:rPr>
              <a:t>Ocho mil (8000) </a:t>
            </a:r>
            <a:r>
              <a:rPr lang="es-ES" sz="1600" dirty="0">
                <a:effectLst/>
                <a:latin typeface="Times New Roman" panose="02020603050405020304" pitchFamily="18" charset="0"/>
                <a:ea typeface="Microsoft Sans Serif" panose="020B0604020202020204" pitchFamily="34" charset="0"/>
              </a:rPr>
              <a:t>colaboradores en el resto del país.</a:t>
            </a:r>
            <a:endParaRPr lang="es-VE" sz="1600" dirty="0"/>
          </a:p>
        </p:txBody>
      </p:sp>
      <p:sp>
        <p:nvSpPr>
          <p:cNvPr id="10" name="Cuadro de texto 8">
            <a:extLst>
              <a:ext uri="{FF2B5EF4-FFF2-40B4-BE49-F238E27FC236}">
                <a16:creationId xmlns:a16="http://schemas.microsoft.com/office/drawing/2014/main" id="{C96A3E07-7ED8-4D6B-957C-BE6575CBC363}"/>
              </a:ext>
            </a:extLst>
          </p:cNvPr>
          <p:cNvSpPr txBox="1"/>
          <p:nvPr/>
        </p:nvSpPr>
        <p:spPr>
          <a:xfrm>
            <a:off x="0" y="139050"/>
            <a:ext cx="3336426" cy="830997"/>
          </a:xfrm>
          <a:prstGeom prst="rect">
            <a:avLst/>
          </a:prstGeom>
          <a:noFill/>
        </p:spPr>
        <p:txBody>
          <a:bodyPr wrap="square" rtlCol="0">
            <a:spAutoFit/>
          </a:bodyPr>
          <a:lstStyle/>
          <a:p>
            <a:pPr algn="ctr" defTabSz="914400"/>
            <a:r>
              <a:rPr lang="es-ES" altLang="en-US" sz="1600" b="1" dirty="0">
                <a:latin typeface="Calibri Light" panose="020F0302020204030204" pitchFamily="34" charset="0"/>
                <a:cs typeface="Calibri Light" panose="020F0302020204030204" pitchFamily="34" charset="0"/>
              </a:rPr>
              <a:t>CAPÍTULO I </a:t>
            </a:r>
          </a:p>
          <a:p>
            <a:pPr algn="ctr" defTabSz="914400"/>
            <a:r>
              <a:rPr lang="es-ES" altLang="en-US" sz="1600" b="1" dirty="0">
                <a:latin typeface="Calibri Light" panose="020F0302020204030204" pitchFamily="34" charset="0"/>
                <a:cs typeface="Calibri Light" panose="020F0302020204030204" pitchFamily="34" charset="0"/>
              </a:rPr>
              <a:t>IDENTFICACIÓN DE LA EMPRESA</a:t>
            </a:r>
          </a:p>
        </p:txBody>
      </p:sp>
      <p:pic>
        <p:nvPicPr>
          <p:cNvPr id="11" name="Imagen 10">
            <a:extLst>
              <a:ext uri="{FF2B5EF4-FFF2-40B4-BE49-F238E27FC236}">
                <a16:creationId xmlns:a16="http://schemas.microsoft.com/office/drawing/2014/main" id="{0246A400-E841-4960-AD70-FC0D7177293F}"/>
              </a:ext>
            </a:extLst>
          </p:cNvPr>
          <p:cNvPicPr>
            <a:picLocks noChangeAspect="1"/>
          </p:cNvPicPr>
          <p:nvPr/>
        </p:nvPicPr>
        <p:blipFill>
          <a:blip r:embed="rId3"/>
          <a:stretch>
            <a:fillRect/>
          </a:stretch>
        </p:blipFill>
        <p:spPr>
          <a:xfrm>
            <a:off x="8910994" y="314989"/>
            <a:ext cx="3103133" cy="1798476"/>
          </a:xfrm>
          <a:prstGeom prst="rect">
            <a:avLst/>
          </a:prstGeom>
        </p:spPr>
      </p:pic>
    </p:spTree>
    <p:extLst>
      <p:ext uri="{BB962C8B-B14F-4D97-AF65-F5344CB8AC3E}">
        <p14:creationId xmlns:p14="http://schemas.microsoft.com/office/powerpoint/2010/main" val="3086000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Banesco habilita servicio de recepción de remesas en Cuenta Verde">
            <a:extLst>
              <a:ext uri="{FF2B5EF4-FFF2-40B4-BE49-F238E27FC236}">
                <a16:creationId xmlns:a16="http://schemas.microsoft.com/office/drawing/2014/main" id="{089B3B20-A332-41BD-AEE2-CF2D0FAD9C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39715" y="31055"/>
            <a:ext cx="5612130" cy="6858000"/>
          </a:xfrm>
          <a:prstGeom prst="rect">
            <a:avLst/>
          </a:prstGeom>
          <a:noFill/>
          <a:ln>
            <a:noFill/>
          </a:ln>
        </p:spPr>
      </p:pic>
      <p:pic>
        <p:nvPicPr>
          <p:cNvPr id="6" name="Imagen 5" descr="Logo of Banesco">
            <a:extLst>
              <a:ext uri="{FF2B5EF4-FFF2-40B4-BE49-F238E27FC236}">
                <a16:creationId xmlns:a16="http://schemas.microsoft.com/office/drawing/2014/main" id="{4E9117C7-AB8E-4062-A2EA-0049F1A1116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745" t="13971" r="6102" b="13971"/>
          <a:stretch/>
        </p:blipFill>
        <p:spPr bwMode="auto">
          <a:xfrm>
            <a:off x="1944458" y="229636"/>
            <a:ext cx="2672792" cy="1716516"/>
          </a:xfrm>
          <a:prstGeom prst="ellipse">
            <a:avLst/>
          </a:prstGeom>
          <a:ln>
            <a:noFill/>
          </a:ln>
          <a:effectLst>
            <a:outerShdw blurRad="76200" dir="18900000" sy="23000" kx="-1200000" algn="bl" rotWithShape="0">
              <a:prstClr val="black">
                <a:alpha val="20000"/>
              </a:prstClr>
            </a:outerShdw>
            <a:softEdge rad="112500"/>
          </a:effectLst>
          <a:extLst>
            <a:ext uri="{53640926-AAD7-44D8-BBD7-CCE9431645EC}">
              <a14:shadowObscured xmlns:a14="http://schemas.microsoft.com/office/drawing/2010/main"/>
            </a:ext>
          </a:extLst>
        </p:spPr>
      </p:pic>
      <p:sp>
        <p:nvSpPr>
          <p:cNvPr id="28" name="Cuadro de texto 1">
            <a:extLst>
              <a:ext uri="{FF2B5EF4-FFF2-40B4-BE49-F238E27FC236}">
                <a16:creationId xmlns:a16="http://schemas.microsoft.com/office/drawing/2014/main" id="{FA20D6BB-4265-43B8-A002-BC5633A1C1D2}"/>
              </a:ext>
            </a:extLst>
          </p:cNvPr>
          <p:cNvSpPr txBox="1"/>
          <p:nvPr/>
        </p:nvSpPr>
        <p:spPr>
          <a:xfrm>
            <a:off x="853136" y="2757669"/>
            <a:ext cx="5055869" cy="1754326"/>
          </a:xfrm>
          <a:prstGeom prst="rect">
            <a:avLst/>
          </a:prstGeom>
          <a:noFill/>
        </p:spPr>
        <p:txBody>
          <a:bodyPr wrap="square" rtlCol="0">
            <a:spAutoFit/>
          </a:bodyPr>
          <a:lstStyle/>
          <a:p>
            <a:pPr algn="just" defTabSz="914400"/>
            <a:r>
              <a:rPr lang="es-ES" altLang="en-US" sz="2000" b="1" dirty="0">
                <a:latin typeface="Calibri Light" panose="020F0302020204030204" pitchFamily="34" charset="0"/>
                <a:cs typeface="Calibri Light" panose="020F0302020204030204" pitchFamily="34" charset="0"/>
              </a:rPr>
              <a:t>CAPÍTULO II</a:t>
            </a:r>
          </a:p>
          <a:p>
            <a:pPr algn="ctr" defTabSz="914400"/>
            <a:r>
              <a:rPr lang="es-ES" altLang="en-US" sz="4400" b="1" dirty="0">
                <a:latin typeface="Calibri Light" panose="020F0302020204030204" pitchFamily="34" charset="0"/>
                <a:cs typeface="Calibri Light" panose="020F0302020204030204" pitchFamily="34" charset="0"/>
              </a:rPr>
              <a:t>DIAGNÓSTICO SITUACIONAL</a:t>
            </a:r>
          </a:p>
        </p:txBody>
      </p:sp>
      <p:grpSp>
        <p:nvGrpSpPr>
          <p:cNvPr id="12" name="Google Shape;9938;p84">
            <a:extLst>
              <a:ext uri="{FF2B5EF4-FFF2-40B4-BE49-F238E27FC236}">
                <a16:creationId xmlns:a16="http://schemas.microsoft.com/office/drawing/2014/main" id="{5A78BE48-FCE0-49A8-9CFD-19141273A08F}"/>
              </a:ext>
            </a:extLst>
          </p:cNvPr>
          <p:cNvGrpSpPr/>
          <p:nvPr/>
        </p:nvGrpSpPr>
        <p:grpSpPr>
          <a:xfrm>
            <a:off x="5409273" y="2914832"/>
            <a:ext cx="756000" cy="720000"/>
            <a:chOff x="-61784125" y="1931250"/>
            <a:chExt cx="316650" cy="317050"/>
          </a:xfrm>
          <a:solidFill>
            <a:schemeClr val="tx1">
              <a:lumMod val="85000"/>
              <a:lumOff val="15000"/>
            </a:schemeClr>
          </a:solidFill>
        </p:grpSpPr>
        <p:sp>
          <p:nvSpPr>
            <p:cNvPr id="13" name="Google Shape;9939;p84">
              <a:extLst>
                <a:ext uri="{FF2B5EF4-FFF2-40B4-BE49-F238E27FC236}">
                  <a16:creationId xmlns:a16="http://schemas.microsoft.com/office/drawing/2014/main" id="{8DF2BA83-EEF8-41F8-8F23-1170AD29FC73}"/>
                </a:ext>
              </a:extLst>
            </p:cNvPr>
            <p:cNvSpPr/>
            <p:nvPr/>
          </p:nvSpPr>
          <p:spPr>
            <a:xfrm>
              <a:off x="-61688025" y="1931250"/>
              <a:ext cx="124450" cy="134300"/>
            </a:xfrm>
            <a:custGeom>
              <a:avLst/>
              <a:gdLst/>
              <a:ahLst/>
              <a:cxnLst/>
              <a:rect l="l" t="t" r="r" b="b"/>
              <a:pathLst>
                <a:path w="4978" h="5372" extrusionOk="0">
                  <a:moveTo>
                    <a:pt x="2497" y="845"/>
                  </a:moveTo>
                  <a:cubicBezTo>
                    <a:pt x="2709" y="845"/>
                    <a:pt x="2922" y="922"/>
                    <a:pt x="3088" y="1087"/>
                  </a:cubicBezTo>
                  <a:cubicBezTo>
                    <a:pt x="3277" y="1276"/>
                    <a:pt x="3340" y="1591"/>
                    <a:pt x="3277" y="1906"/>
                  </a:cubicBezTo>
                  <a:cubicBezTo>
                    <a:pt x="3182" y="2190"/>
                    <a:pt x="2993" y="2410"/>
                    <a:pt x="2709" y="2442"/>
                  </a:cubicBezTo>
                  <a:cubicBezTo>
                    <a:pt x="2625" y="2467"/>
                    <a:pt x="2545" y="2479"/>
                    <a:pt x="2469" y="2479"/>
                  </a:cubicBezTo>
                  <a:cubicBezTo>
                    <a:pt x="2259" y="2479"/>
                    <a:pt x="2075" y="2391"/>
                    <a:pt x="1890" y="2253"/>
                  </a:cubicBezTo>
                  <a:cubicBezTo>
                    <a:pt x="1701" y="2032"/>
                    <a:pt x="1607" y="1717"/>
                    <a:pt x="1701" y="1434"/>
                  </a:cubicBezTo>
                  <a:cubicBezTo>
                    <a:pt x="1800" y="1059"/>
                    <a:pt x="2145" y="845"/>
                    <a:pt x="2497" y="845"/>
                  </a:cubicBezTo>
                  <a:close/>
                  <a:moveTo>
                    <a:pt x="2520" y="3324"/>
                  </a:moveTo>
                  <a:cubicBezTo>
                    <a:pt x="3277" y="3324"/>
                    <a:pt x="3907" y="3828"/>
                    <a:pt x="4096" y="4553"/>
                  </a:cubicBezTo>
                  <a:lnTo>
                    <a:pt x="914" y="4553"/>
                  </a:lnTo>
                  <a:cubicBezTo>
                    <a:pt x="1103" y="3828"/>
                    <a:pt x="1733" y="3324"/>
                    <a:pt x="2520" y="3324"/>
                  </a:cubicBezTo>
                  <a:close/>
                  <a:moveTo>
                    <a:pt x="2510" y="1"/>
                  </a:moveTo>
                  <a:cubicBezTo>
                    <a:pt x="1805" y="1"/>
                    <a:pt x="1113" y="455"/>
                    <a:pt x="914" y="1213"/>
                  </a:cubicBezTo>
                  <a:cubicBezTo>
                    <a:pt x="756" y="1780"/>
                    <a:pt x="914" y="2347"/>
                    <a:pt x="1292" y="2789"/>
                  </a:cubicBezTo>
                  <a:cubicBezTo>
                    <a:pt x="567" y="3198"/>
                    <a:pt x="0" y="3986"/>
                    <a:pt x="0" y="4931"/>
                  </a:cubicBezTo>
                  <a:cubicBezTo>
                    <a:pt x="0" y="5183"/>
                    <a:pt x="189" y="5372"/>
                    <a:pt x="441" y="5372"/>
                  </a:cubicBezTo>
                  <a:lnTo>
                    <a:pt x="4568" y="5372"/>
                  </a:lnTo>
                  <a:cubicBezTo>
                    <a:pt x="4820" y="5372"/>
                    <a:pt x="4978" y="5183"/>
                    <a:pt x="4978" y="4931"/>
                  </a:cubicBezTo>
                  <a:cubicBezTo>
                    <a:pt x="4978" y="3986"/>
                    <a:pt x="4442" y="3198"/>
                    <a:pt x="3718" y="2789"/>
                  </a:cubicBezTo>
                  <a:cubicBezTo>
                    <a:pt x="3907" y="2568"/>
                    <a:pt x="4033" y="2347"/>
                    <a:pt x="4096" y="2064"/>
                  </a:cubicBezTo>
                  <a:cubicBezTo>
                    <a:pt x="4253" y="1528"/>
                    <a:pt x="4096" y="930"/>
                    <a:pt x="3655" y="489"/>
                  </a:cubicBezTo>
                  <a:cubicBezTo>
                    <a:pt x="3331" y="153"/>
                    <a:pt x="2918" y="1"/>
                    <a:pt x="25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940;p84">
              <a:extLst>
                <a:ext uri="{FF2B5EF4-FFF2-40B4-BE49-F238E27FC236}">
                  <a16:creationId xmlns:a16="http://schemas.microsoft.com/office/drawing/2014/main" id="{A9C833FC-2F7C-4349-9731-968F42411B03}"/>
                </a:ext>
              </a:extLst>
            </p:cNvPr>
            <p:cNvSpPr/>
            <p:nvPr/>
          </p:nvSpPr>
          <p:spPr>
            <a:xfrm>
              <a:off x="-61784125" y="2113325"/>
              <a:ext cx="124450" cy="134975"/>
            </a:xfrm>
            <a:custGeom>
              <a:avLst/>
              <a:gdLst/>
              <a:ahLst/>
              <a:cxnLst/>
              <a:rect l="l" t="t" r="r" b="b"/>
              <a:pathLst>
                <a:path w="4978" h="5399" extrusionOk="0">
                  <a:moveTo>
                    <a:pt x="2482" y="848"/>
                  </a:moveTo>
                  <a:cubicBezTo>
                    <a:pt x="2688" y="848"/>
                    <a:pt x="2895" y="921"/>
                    <a:pt x="3056" y="1082"/>
                  </a:cubicBezTo>
                  <a:cubicBezTo>
                    <a:pt x="3245" y="1271"/>
                    <a:pt x="3340" y="1586"/>
                    <a:pt x="3245" y="1901"/>
                  </a:cubicBezTo>
                  <a:cubicBezTo>
                    <a:pt x="3182" y="2185"/>
                    <a:pt x="2993" y="2437"/>
                    <a:pt x="2710" y="2468"/>
                  </a:cubicBezTo>
                  <a:cubicBezTo>
                    <a:pt x="2633" y="2483"/>
                    <a:pt x="2559" y="2491"/>
                    <a:pt x="2487" y="2491"/>
                  </a:cubicBezTo>
                  <a:cubicBezTo>
                    <a:pt x="2261" y="2491"/>
                    <a:pt x="2058" y="2415"/>
                    <a:pt x="1891" y="2248"/>
                  </a:cubicBezTo>
                  <a:cubicBezTo>
                    <a:pt x="1670" y="2059"/>
                    <a:pt x="1607" y="1743"/>
                    <a:pt x="1670" y="1428"/>
                  </a:cubicBezTo>
                  <a:cubicBezTo>
                    <a:pt x="1770" y="1068"/>
                    <a:pt x="2124" y="848"/>
                    <a:pt x="2482" y="848"/>
                  </a:cubicBezTo>
                  <a:close/>
                  <a:moveTo>
                    <a:pt x="2458" y="3319"/>
                  </a:moveTo>
                  <a:cubicBezTo>
                    <a:pt x="3245" y="3319"/>
                    <a:pt x="3907" y="3854"/>
                    <a:pt x="4096" y="4547"/>
                  </a:cubicBezTo>
                  <a:lnTo>
                    <a:pt x="883" y="4547"/>
                  </a:lnTo>
                  <a:cubicBezTo>
                    <a:pt x="1040" y="3886"/>
                    <a:pt x="1733" y="3319"/>
                    <a:pt x="2458" y="3319"/>
                  </a:cubicBezTo>
                  <a:close/>
                  <a:moveTo>
                    <a:pt x="2509" y="1"/>
                  </a:moveTo>
                  <a:cubicBezTo>
                    <a:pt x="1812" y="1"/>
                    <a:pt x="1143" y="437"/>
                    <a:pt x="946" y="1208"/>
                  </a:cubicBezTo>
                  <a:cubicBezTo>
                    <a:pt x="788" y="1806"/>
                    <a:pt x="946" y="2342"/>
                    <a:pt x="1324" y="2783"/>
                  </a:cubicBezTo>
                  <a:cubicBezTo>
                    <a:pt x="568" y="3224"/>
                    <a:pt x="32" y="4012"/>
                    <a:pt x="32" y="4957"/>
                  </a:cubicBezTo>
                  <a:cubicBezTo>
                    <a:pt x="0" y="5209"/>
                    <a:pt x="189" y="5398"/>
                    <a:pt x="410" y="5398"/>
                  </a:cubicBezTo>
                  <a:lnTo>
                    <a:pt x="4569" y="5398"/>
                  </a:lnTo>
                  <a:cubicBezTo>
                    <a:pt x="4789" y="5398"/>
                    <a:pt x="4978" y="5209"/>
                    <a:pt x="4978" y="4988"/>
                  </a:cubicBezTo>
                  <a:cubicBezTo>
                    <a:pt x="4978" y="4043"/>
                    <a:pt x="4474" y="3256"/>
                    <a:pt x="3718" y="2815"/>
                  </a:cubicBezTo>
                  <a:cubicBezTo>
                    <a:pt x="3939" y="2626"/>
                    <a:pt x="4033" y="2374"/>
                    <a:pt x="4128" y="2090"/>
                  </a:cubicBezTo>
                  <a:cubicBezTo>
                    <a:pt x="4285" y="1523"/>
                    <a:pt x="4128" y="924"/>
                    <a:pt x="3687" y="483"/>
                  </a:cubicBezTo>
                  <a:cubicBezTo>
                    <a:pt x="3346" y="155"/>
                    <a:pt x="2923" y="1"/>
                    <a:pt x="25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941;p84">
              <a:extLst>
                <a:ext uri="{FF2B5EF4-FFF2-40B4-BE49-F238E27FC236}">
                  <a16:creationId xmlns:a16="http://schemas.microsoft.com/office/drawing/2014/main" id="{58C7B66C-2A2E-48CA-B26E-75665C1832CC}"/>
                </a:ext>
              </a:extLst>
            </p:cNvPr>
            <p:cNvSpPr/>
            <p:nvPr/>
          </p:nvSpPr>
          <p:spPr>
            <a:xfrm>
              <a:off x="-61591150" y="2113325"/>
              <a:ext cx="123675" cy="134175"/>
            </a:xfrm>
            <a:custGeom>
              <a:avLst/>
              <a:gdLst/>
              <a:ahLst/>
              <a:cxnLst/>
              <a:rect l="l" t="t" r="r" b="b"/>
              <a:pathLst>
                <a:path w="4947" h="5367" extrusionOk="0">
                  <a:moveTo>
                    <a:pt x="2482" y="848"/>
                  </a:moveTo>
                  <a:cubicBezTo>
                    <a:pt x="2688" y="848"/>
                    <a:pt x="2895" y="921"/>
                    <a:pt x="3056" y="1082"/>
                  </a:cubicBezTo>
                  <a:cubicBezTo>
                    <a:pt x="3245" y="1271"/>
                    <a:pt x="3340" y="1586"/>
                    <a:pt x="3245" y="1901"/>
                  </a:cubicBezTo>
                  <a:cubicBezTo>
                    <a:pt x="3182" y="2185"/>
                    <a:pt x="2993" y="2437"/>
                    <a:pt x="2710" y="2468"/>
                  </a:cubicBezTo>
                  <a:cubicBezTo>
                    <a:pt x="2633" y="2483"/>
                    <a:pt x="2559" y="2491"/>
                    <a:pt x="2486" y="2491"/>
                  </a:cubicBezTo>
                  <a:cubicBezTo>
                    <a:pt x="2261" y="2491"/>
                    <a:pt x="2057" y="2415"/>
                    <a:pt x="1890" y="2248"/>
                  </a:cubicBezTo>
                  <a:cubicBezTo>
                    <a:pt x="1670" y="2059"/>
                    <a:pt x="1607" y="1743"/>
                    <a:pt x="1670" y="1428"/>
                  </a:cubicBezTo>
                  <a:cubicBezTo>
                    <a:pt x="1770" y="1068"/>
                    <a:pt x="2124" y="848"/>
                    <a:pt x="2482" y="848"/>
                  </a:cubicBezTo>
                  <a:close/>
                  <a:moveTo>
                    <a:pt x="2521" y="3382"/>
                  </a:moveTo>
                  <a:cubicBezTo>
                    <a:pt x="3308" y="3382"/>
                    <a:pt x="3938" y="3886"/>
                    <a:pt x="4127" y="4579"/>
                  </a:cubicBezTo>
                  <a:lnTo>
                    <a:pt x="882" y="4579"/>
                  </a:lnTo>
                  <a:cubicBezTo>
                    <a:pt x="1103" y="3886"/>
                    <a:pt x="1733" y="3382"/>
                    <a:pt x="2521" y="3382"/>
                  </a:cubicBezTo>
                  <a:close/>
                  <a:moveTo>
                    <a:pt x="2467" y="1"/>
                  </a:moveTo>
                  <a:cubicBezTo>
                    <a:pt x="1761" y="1"/>
                    <a:pt x="1080" y="437"/>
                    <a:pt x="882" y="1208"/>
                  </a:cubicBezTo>
                  <a:cubicBezTo>
                    <a:pt x="725" y="1806"/>
                    <a:pt x="882" y="2342"/>
                    <a:pt x="1292" y="2783"/>
                  </a:cubicBezTo>
                  <a:cubicBezTo>
                    <a:pt x="536" y="3224"/>
                    <a:pt x="0" y="4012"/>
                    <a:pt x="0" y="4957"/>
                  </a:cubicBezTo>
                  <a:cubicBezTo>
                    <a:pt x="0" y="5178"/>
                    <a:pt x="189" y="5367"/>
                    <a:pt x="378" y="5367"/>
                  </a:cubicBezTo>
                  <a:lnTo>
                    <a:pt x="4505" y="5367"/>
                  </a:lnTo>
                  <a:cubicBezTo>
                    <a:pt x="4757" y="5367"/>
                    <a:pt x="4946" y="5178"/>
                    <a:pt x="4946" y="4957"/>
                  </a:cubicBezTo>
                  <a:cubicBezTo>
                    <a:pt x="4946" y="4075"/>
                    <a:pt x="4442" y="3256"/>
                    <a:pt x="3686" y="2815"/>
                  </a:cubicBezTo>
                  <a:cubicBezTo>
                    <a:pt x="3875" y="2626"/>
                    <a:pt x="4001" y="2374"/>
                    <a:pt x="4096" y="2090"/>
                  </a:cubicBezTo>
                  <a:cubicBezTo>
                    <a:pt x="4253" y="1523"/>
                    <a:pt x="4096" y="924"/>
                    <a:pt x="3655" y="483"/>
                  </a:cubicBezTo>
                  <a:cubicBezTo>
                    <a:pt x="3314" y="155"/>
                    <a:pt x="2887" y="1"/>
                    <a:pt x="24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942;p84">
              <a:extLst>
                <a:ext uri="{FF2B5EF4-FFF2-40B4-BE49-F238E27FC236}">
                  <a16:creationId xmlns:a16="http://schemas.microsoft.com/office/drawing/2014/main" id="{E34C91DB-F6CA-4E7A-B147-4B7E3BC98EE0}"/>
                </a:ext>
              </a:extLst>
            </p:cNvPr>
            <p:cNvSpPr/>
            <p:nvPr/>
          </p:nvSpPr>
          <p:spPr>
            <a:xfrm>
              <a:off x="-61677800" y="2072225"/>
              <a:ext cx="106350" cy="62450"/>
            </a:xfrm>
            <a:custGeom>
              <a:avLst/>
              <a:gdLst/>
              <a:ahLst/>
              <a:cxnLst/>
              <a:rect l="l" t="t" r="r" b="b"/>
              <a:pathLst>
                <a:path w="4254" h="2498" extrusionOk="0">
                  <a:moveTo>
                    <a:pt x="2096" y="1"/>
                  </a:moveTo>
                  <a:cubicBezTo>
                    <a:pt x="1985" y="1"/>
                    <a:pt x="1875" y="48"/>
                    <a:pt x="1796" y="142"/>
                  </a:cubicBezTo>
                  <a:lnTo>
                    <a:pt x="158" y="1781"/>
                  </a:lnTo>
                  <a:cubicBezTo>
                    <a:pt x="1" y="1938"/>
                    <a:pt x="1" y="2222"/>
                    <a:pt x="158" y="2379"/>
                  </a:cubicBezTo>
                  <a:cubicBezTo>
                    <a:pt x="237" y="2458"/>
                    <a:pt x="339" y="2497"/>
                    <a:pt x="442" y="2497"/>
                  </a:cubicBezTo>
                  <a:cubicBezTo>
                    <a:pt x="544" y="2497"/>
                    <a:pt x="646" y="2458"/>
                    <a:pt x="725" y="2379"/>
                  </a:cubicBezTo>
                  <a:lnTo>
                    <a:pt x="2111" y="993"/>
                  </a:lnTo>
                  <a:lnTo>
                    <a:pt x="3498" y="2379"/>
                  </a:lnTo>
                  <a:cubicBezTo>
                    <a:pt x="3576" y="2458"/>
                    <a:pt x="3687" y="2497"/>
                    <a:pt x="3797" y="2497"/>
                  </a:cubicBezTo>
                  <a:cubicBezTo>
                    <a:pt x="3907" y="2497"/>
                    <a:pt x="4017" y="2458"/>
                    <a:pt x="4096" y="2379"/>
                  </a:cubicBezTo>
                  <a:cubicBezTo>
                    <a:pt x="4254" y="2222"/>
                    <a:pt x="4254" y="1938"/>
                    <a:pt x="4096" y="1781"/>
                  </a:cubicBezTo>
                  <a:lnTo>
                    <a:pt x="2395" y="142"/>
                  </a:lnTo>
                  <a:cubicBezTo>
                    <a:pt x="2316" y="48"/>
                    <a:pt x="2206" y="1"/>
                    <a:pt x="20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CuadroTexto 16">
            <a:extLst>
              <a:ext uri="{FF2B5EF4-FFF2-40B4-BE49-F238E27FC236}">
                <a16:creationId xmlns:a16="http://schemas.microsoft.com/office/drawing/2014/main" id="{31836531-615A-48B5-9DB9-A2E93A8CEB15}"/>
              </a:ext>
            </a:extLst>
          </p:cNvPr>
          <p:cNvSpPr txBox="1"/>
          <p:nvPr/>
        </p:nvSpPr>
        <p:spPr>
          <a:xfrm>
            <a:off x="1304101" y="6106020"/>
            <a:ext cx="5068570" cy="646331"/>
          </a:xfrm>
          <a:prstGeom prst="rect">
            <a:avLst/>
          </a:prstGeom>
          <a:noFill/>
        </p:spPr>
        <p:txBody>
          <a:bodyPr wrap="square">
            <a:spAutoFit/>
          </a:bodyPr>
          <a:lstStyle/>
          <a:p>
            <a:pPr algn="just"/>
            <a:r>
              <a:rPr lang="es-ES" altLang="en-US" sz="1800" b="1" dirty="0">
                <a:solidFill>
                  <a:schemeClr val="tx1">
                    <a:lumMod val="95000"/>
                  </a:schemeClr>
                </a:solidFill>
                <a:latin typeface="Calibri Light" panose="020F0302020204030204" pitchFamily="34" charset="0"/>
                <a:cs typeface="Calibri Light" panose="020F0302020204030204" pitchFamily="34" charset="0"/>
              </a:rPr>
              <a:t>Informe de Pasantías requerido para optar al Técnico Superior Universitario en Administración de Empresa.</a:t>
            </a:r>
          </a:p>
        </p:txBody>
      </p:sp>
    </p:spTree>
    <p:extLst>
      <p:ext uri="{BB962C8B-B14F-4D97-AF65-F5344CB8AC3E}">
        <p14:creationId xmlns:p14="http://schemas.microsoft.com/office/powerpoint/2010/main" val="4014448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lipse 13">
            <a:extLst>
              <a:ext uri="{FF2B5EF4-FFF2-40B4-BE49-F238E27FC236}">
                <a16:creationId xmlns:a16="http://schemas.microsoft.com/office/drawing/2014/main" id="{F5E0BE8A-45B4-4E64-BC7B-170238A0DF8A}"/>
              </a:ext>
            </a:extLst>
          </p:cNvPr>
          <p:cNvSpPr/>
          <p:nvPr/>
        </p:nvSpPr>
        <p:spPr>
          <a:xfrm>
            <a:off x="3012489" y="4697565"/>
            <a:ext cx="126440" cy="126440"/>
          </a:xfrm>
          <a:prstGeom prst="ellips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3" name="Elipse 12">
            <a:extLst>
              <a:ext uri="{FF2B5EF4-FFF2-40B4-BE49-F238E27FC236}">
                <a16:creationId xmlns:a16="http://schemas.microsoft.com/office/drawing/2014/main" id="{A10AC550-9094-42C7-8ED7-147667EDEDCA}"/>
              </a:ext>
            </a:extLst>
          </p:cNvPr>
          <p:cNvSpPr/>
          <p:nvPr/>
        </p:nvSpPr>
        <p:spPr>
          <a:xfrm>
            <a:off x="3344999" y="4571125"/>
            <a:ext cx="126440" cy="126440"/>
          </a:xfrm>
          <a:prstGeom prst="ellips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Elipse 11">
            <a:extLst>
              <a:ext uri="{FF2B5EF4-FFF2-40B4-BE49-F238E27FC236}">
                <a16:creationId xmlns:a16="http://schemas.microsoft.com/office/drawing/2014/main" id="{7842C397-3194-41AE-92F9-FD1E1A838D74}"/>
              </a:ext>
            </a:extLst>
          </p:cNvPr>
          <p:cNvSpPr/>
          <p:nvPr/>
        </p:nvSpPr>
        <p:spPr>
          <a:xfrm>
            <a:off x="3762541" y="4141634"/>
            <a:ext cx="126440" cy="126440"/>
          </a:xfrm>
          <a:prstGeom prst="ellips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aphicFrame>
        <p:nvGraphicFramePr>
          <p:cNvPr id="11" name="Diagrama 10">
            <a:extLst>
              <a:ext uri="{FF2B5EF4-FFF2-40B4-BE49-F238E27FC236}">
                <a16:creationId xmlns:a16="http://schemas.microsoft.com/office/drawing/2014/main" id="{96826C64-6E12-4F61-8DB5-A168C386EBCE}"/>
              </a:ext>
            </a:extLst>
          </p:cNvPr>
          <p:cNvGraphicFramePr/>
          <p:nvPr>
            <p:extLst>
              <p:ext uri="{D42A27DB-BD31-4B8C-83A1-F6EECF244321}">
                <p14:modId xmlns:p14="http://schemas.microsoft.com/office/powerpoint/2010/main" val="24166590"/>
              </p:ext>
            </p:extLst>
          </p:nvPr>
        </p:nvGraphicFramePr>
        <p:xfrm>
          <a:off x="1148493" y="960044"/>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Elipse 14">
            <a:extLst>
              <a:ext uri="{FF2B5EF4-FFF2-40B4-BE49-F238E27FC236}">
                <a16:creationId xmlns:a16="http://schemas.microsoft.com/office/drawing/2014/main" id="{9212F4D3-9303-4108-95D0-0776DA709D7A}"/>
              </a:ext>
            </a:extLst>
          </p:cNvPr>
          <p:cNvSpPr/>
          <p:nvPr/>
        </p:nvSpPr>
        <p:spPr>
          <a:xfrm>
            <a:off x="2607680" y="4742626"/>
            <a:ext cx="184884" cy="162757"/>
          </a:xfrm>
          <a:prstGeom prst="ellips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pic>
        <p:nvPicPr>
          <p:cNvPr id="16" name="Imagen 15">
            <a:extLst>
              <a:ext uri="{FF2B5EF4-FFF2-40B4-BE49-F238E27FC236}">
                <a16:creationId xmlns:a16="http://schemas.microsoft.com/office/drawing/2014/main" id="{D37E6AAE-BD92-4FC6-8E58-E21128BC1C9E}"/>
              </a:ext>
            </a:extLst>
          </p:cNvPr>
          <p:cNvPicPr>
            <a:picLocks noChangeAspect="1"/>
          </p:cNvPicPr>
          <p:nvPr/>
        </p:nvPicPr>
        <p:blipFill>
          <a:blip r:embed="rId7"/>
          <a:stretch>
            <a:fillRect/>
          </a:stretch>
        </p:blipFill>
        <p:spPr>
          <a:xfrm>
            <a:off x="8183184" y="472334"/>
            <a:ext cx="3103133" cy="1798476"/>
          </a:xfrm>
          <a:prstGeom prst="rect">
            <a:avLst/>
          </a:prstGeom>
        </p:spPr>
      </p:pic>
      <p:sp>
        <p:nvSpPr>
          <p:cNvPr id="17" name="CuadroTexto 16">
            <a:extLst>
              <a:ext uri="{FF2B5EF4-FFF2-40B4-BE49-F238E27FC236}">
                <a16:creationId xmlns:a16="http://schemas.microsoft.com/office/drawing/2014/main" id="{5B86BD73-432A-437F-AD89-7E077039DCA5}"/>
              </a:ext>
            </a:extLst>
          </p:cNvPr>
          <p:cNvSpPr txBox="1"/>
          <p:nvPr/>
        </p:nvSpPr>
        <p:spPr>
          <a:xfrm>
            <a:off x="2294003" y="2009200"/>
            <a:ext cx="1436972" cy="523220"/>
          </a:xfrm>
          <a:prstGeom prst="rect">
            <a:avLst/>
          </a:prstGeom>
          <a:noFill/>
        </p:spPr>
        <p:txBody>
          <a:bodyPr wrap="square" rtlCol="0">
            <a:spAutoFit/>
          </a:bodyPr>
          <a:lstStyle/>
          <a:p>
            <a:r>
              <a:rPr lang="es-ES" sz="2800" b="1" dirty="0"/>
              <a:t>Misión</a:t>
            </a:r>
            <a:r>
              <a:rPr lang="es-ES" sz="2800" dirty="0"/>
              <a:t> </a:t>
            </a:r>
            <a:endParaRPr lang="es-VE" sz="2800" dirty="0"/>
          </a:p>
        </p:txBody>
      </p:sp>
      <p:sp>
        <p:nvSpPr>
          <p:cNvPr id="18" name="CuadroTexto 17">
            <a:extLst>
              <a:ext uri="{FF2B5EF4-FFF2-40B4-BE49-F238E27FC236}">
                <a16:creationId xmlns:a16="http://schemas.microsoft.com/office/drawing/2014/main" id="{9A64FBA3-CBA6-47FB-B9D5-809D6DE51ED8}"/>
              </a:ext>
            </a:extLst>
          </p:cNvPr>
          <p:cNvSpPr txBox="1"/>
          <p:nvPr/>
        </p:nvSpPr>
        <p:spPr>
          <a:xfrm>
            <a:off x="1795442" y="3476268"/>
            <a:ext cx="1217047" cy="523220"/>
          </a:xfrm>
          <a:prstGeom prst="rect">
            <a:avLst/>
          </a:prstGeom>
          <a:noFill/>
        </p:spPr>
        <p:txBody>
          <a:bodyPr wrap="square" rtlCol="0">
            <a:spAutoFit/>
          </a:bodyPr>
          <a:lstStyle/>
          <a:p>
            <a:r>
              <a:rPr lang="es-ES" sz="2800" b="1" dirty="0"/>
              <a:t>Visión</a:t>
            </a:r>
            <a:r>
              <a:rPr lang="es-ES" dirty="0"/>
              <a:t> </a:t>
            </a:r>
            <a:endParaRPr lang="es-VE" dirty="0"/>
          </a:p>
        </p:txBody>
      </p:sp>
      <p:sp>
        <p:nvSpPr>
          <p:cNvPr id="20" name="Cuadro de texto 8">
            <a:extLst>
              <a:ext uri="{FF2B5EF4-FFF2-40B4-BE49-F238E27FC236}">
                <a16:creationId xmlns:a16="http://schemas.microsoft.com/office/drawing/2014/main" id="{BE7BAD08-8424-4BEA-B860-0BBB496DC784}"/>
              </a:ext>
            </a:extLst>
          </p:cNvPr>
          <p:cNvSpPr txBox="1"/>
          <p:nvPr/>
        </p:nvSpPr>
        <p:spPr>
          <a:xfrm>
            <a:off x="14233" y="-12439"/>
            <a:ext cx="3460068" cy="830997"/>
          </a:xfrm>
          <a:prstGeom prst="rect">
            <a:avLst/>
          </a:prstGeom>
          <a:noFill/>
        </p:spPr>
        <p:txBody>
          <a:bodyPr wrap="square" rtlCol="0">
            <a:spAutoFit/>
          </a:bodyPr>
          <a:lstStyle/>
          <a:p>
            <a:pPr algn="ctr"/>
            <a:r>
              <a:rPr lang="es-ES" altLang="en-US" sz="1600" b="1" dirty="0">
                <a:latin typeface="Calibri Light" panose="020F0302020204030204" pitchFamily="34" charset="0"/>
                <a:cs typeface="Calibri Light" panose="020F0302020204030204" pitchFamily="34" charset="0"/>
              </a:rPr>
              <a:t>CAPÍTULO II</a:t>
            </a:r>
          </a:p>
          <a:p>
            <a:pPr algn="ctr"/>
            <a:r>
              <a:rPr lang="es-ES" altLang="en-US" sz="1600" b="1" dirty="0">
                <a:latin typeface="Calibri Light" panose="020F0302020204030204" pitchFamily="34" charset="0"/>
                <a:cs typeface="Calibri Light" panose="020F0302020204030204" pitchFamily="34" charset="0"/>
              </a:rPr>
              <a:t>IDENTIFICACIÓN DEL DEPARTAMENTO</a:t>
            </a:r>
          </a:p>
          <a:p>
            <a:pPr algn="just"/>
            <a:endParaRPr lang="es-ES" altLang="en-US" sz="1600" b="1" dirty="0">
              <a:solidFill>
                <a:prstClr val="white"/>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606243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 de texto 8">
            <a:extLst>
              <a:ext uri="{FF2B5EF4-FFF2-40B4-BE49-F238E27FC236}">
                <a16:creationId xmlns:a16="http://schemas.microsoft.com/office/drawing/2014/main" id="{3CD69319-3C98-4F50-8383-FC3A70E7D938}"/>
              </a:ext>
            </a:extLst>
          </p:cNvPr>
          <p:cNvSpPr txBox="1"/>
          <p:nvPr/>
        </p:nvSpPr>
        <p:spPr>
          <a:xfrm>
            <a:off x="14233" y="-12439"/>
            <a:ext cx="3460068" cy="830997"/>
          </a:xfrm>
          <a:prstGeom prst="rect">
            <a:avLst/>
          </a:prstGeom>
          <a:noFill/>
        </p:spPr>
        <p:txBody>
          <a:bodyPr wrap="square" rtlCol="0">
            <a:spAutoFit/>
          </a:bodyPr>
          <a:lstStyle/>
          <a:p>
            <a:pPr algn="ctr"/>
            <a:r>
              <a:rPr lang="es-ES" altLang="en-US" sz="1600" b="1" dirty="0">
                <a:latin typeface="Calibri Light" panose="020F0302020204030204" pitchFamily="34" charset="0"/>
                <a:cs typeface="Calibri Light" panose="020F0302020204030204" pitchFamily="34" charset="0"/>
              </a:rPr>
              <a:t>CAPÍTULO II</a:t>
            </a:r>
          </a:p>
          <a:p>
            <a:pPr algn="ctr"/>
            <a:r>
              <a:rPr lang="es-ES" altLang="en-US" sz="1600" b="1" dirty="0">
                <a:latin typeface="Calibri Light" panose="020F0302020204030204" pitchFamily="34" charset="0"/>
                <a:cs typeface="Calibri Light" panose="020F0302020204030204" pitchFamily="34" charset="0"/>
              </a:rPr>
              <a:t>IDENTIFICACIÓN DEL DEPARTAMENTO</a:t>
            </a:r>
          </a:p>
          <a:p>
            <a:pPr algn="just"/>
            <a:endParaRPr lang="es-ES" altLang="en-US" sz="1600" b="1" dirty="0">
              <a:solidFill>
                <a:prstClr val="white"/>
              </a:solidFill>
              <a:latin typeface="Calibri Light" panose="020F0302020204030204" pitchFamily="34" charset="0"/>
              <a:cs typeface="Calibri Light" panose="020F0302020204030204" pitchFamily="34" charset="0"/>
            </a:endParaRPr>
          </a:p>
        </p:txBody>
      </p:sp>
      <p:pic>
        <p:nvPicPr>
          <p:cNvPr id="2" name="Imagen 1">
            <a:extLst>
              <a:ext uri="{FF2B5EF4-FFF2-40B4-BE49-F238E27FC236}">
                <a16:creationId xmlns:a16="http://schemas.microsoft.com/office/drawing/2014/main" id="{637908AD-BDB4-4210-93A2-A45193D9E486}"/>
              </a:ext>
            </a:extLst>
          </p:cNvPr>
          <p:cNvPicPr>
            <a:picLocks noChangeAspect="1"/>
          </p:cNvPicPr>
          <p:nvPr/>
        </p:nvPicPr>
        <p:blipFill>
          <a:blip r:embed="rId2"/>
          <a:stretch>
            <a:fillRect/>
          </a:stretch>
        </p:blipFill>
        <p:spPr>
          <a:xfrm>
            <a:off x="8717700" y="285326"/>
            <a:ext cx="3097036" cy="1798476"/>
          </a:xfrm>
          <a:prstGeom prst="rect">
            <a:avLst/>
          </a:prstGeom>
        </p:spPr>
      </p:pic>
      <p:graphicFrame>
        <p:nvGraphicFramePr>
          <p:cNvPr id="4" name="Diagrama 3">
            <a:extLst>
              <a:ext uri="{FF2B5EF4-FFF2-40B4-BE49-F238E27FC236}">
                <a16:creationId xmlns:a16="http://schemas.microsoft.com/office/drawing/2014/main" id="{4CCCACB6-5DAC-49B9-B2D8-1558BE534B2D}"/>
              </a:ext>
            </a:extLst>
          </p:cNvPr>
          <p:cNvGraphicFramePr/>
          <p:nvPr>
            <p:extLst>
              <p:ext uri="{D42A27DB-BD31-4B8C-83A1-F6EECF244321}">
                <p14:modId xmlns:p14="http://schemas.microsoft.com/office/powerpoint/2010/main" val="55886702"/>
              </p:ext>
            </p:extLst>
          </p:nvPr>
        </p:nvGraphicFramePr>
        <p:xfrm>
          <a:off x="1076037" y="1184564"/>
          <a:ext cx="8128000" cy="4891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13310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150+ Comite Organizador Fotografías de stock, fotos e imágenes libres de  derechos - iStock">
            <a:extLst>
              <a:ext uri="{FF2B5EF4-FFF2-40B4-BE49-F238E27FC236}">
                <a16:creationId xmlns:a16="http://schemas.microsoft.com/office/drawing/2014/main" id="{EC38C4C3-6732-426C-BC11-F64D69AA8F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4022" y="0"/>
            <a:ext cx="4147978"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F949E497-3F8D-481A-B3F2-A091B10E6C80}"/>
              </a:ext>
            </a:extLst>
          </p:cNvPr>
          <p:cNvSpPr txBox="1"/>
          <p:nvPr/>
        </p:nvSpPr>
        <p:spPr>
          <a:xfrm>
            <a:off x="0" y="235009"/>
            <a:ext cx="3730122" cy="5847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altLang="en-US" sz="1600" b="1" i="0" u="none" strike="noStrike" kern="1200" cap="none" spc="0" normalizeH="0" baseline="0" noProof="0" dirty="0">
                <a:ln>
                  <a:noFill/>
                </a:ln>
                <a:effectLst/>
                <a:uLnTx/>
                <a:uFillTx/>
                <a:latin typeface="Calibri Light" panose="020F0302020204030204" pitchFamily="34" charset="0"/>
                <a:ea typeface="+mn-ea"/>
                <a:cs typeface="Calibri Light" panose="020F0302020204030204" pitchFamily="34" charset="0"/>
              </a:rPr>
              <a:t>CAPÍTULO II</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altLang="en-US" sz="1600" b="1" i="0" u="none" strike="noStrike" kern="1200" cap="none" spc="0" normalizeH="0" baseline="0" noProof="0" dirty="0">
                <a:ln>
                  <a:noFill/>
                </a:ln>
                <a:effectLst/>
                <a:uLnTx/>
                <a:uFillTx/>
                <a:latin typeface="Calibri Light" panose="020F0302020204030204" pitchFamily="34" charset="0"/>
                <a:ea typeface="+mn-ea"/>
                <a:cs typeface="Calibri Light" panose="020F0302020204030204" pitchFamily="34" charset="0"/>
              </a:rPr>
              <a:t>IDENTIFICACIÓN DEL DEPARTAMENTO</a:t>
            </a:r>
          </a:p>
        </p:txBody>
      </p:sp>
      <p:sp>
        <p:nvSpPr>
          <p:cNvPr id="11" name="CuadroTexto 10">
            <a:extLst>
              <a:ext uri="{FF2B5EF4-FFF2-40B4-BE49-F238E27FC236}">
                <a16:creationId xmlns:a16="http://schemas.microsoft.com/office/drawing/2014/main" id="{173A0112-85B4-4D33-88F7-CB0CAB744831}"/>
              </a:ext>
            </a:extLst>
          </p:cNvPr>
          <p:cNvSpPr txBox="1"/>
          <p:nvPr/>
        </p:nvSpPr>
        <p:spPr>
          <a:xfrm>
            <a:off x="1191491" y="2352313"/>
            <a:ext cx="6691745" cy="1294393"/>
          </a:xfrm>
          <a:prstGeom prst="rect">
            <a:avLst/>
          </a:prstGeom>
          <a:noFill/>
        </p:spPr>
        <p:txBody>
          <a:bodyPr wrap="square">
            <a:spAutoFit/>
          </a:bodyPr>
          <a:lstStyle/>
          <a:p>
            <a:pPr marL="285750" indent="-285750" algn="just">
              <a:lnSpc>
                <a:spcPct val="150000"/>
              </a:lnSpc>
              <a:spcAft>
                <a:spcPts val="1000"/>
              </a:spcAft>
              <a:buFont typeface="Arial" panose="020B0604020202020204" pitchFamily="34" charset="0"/>
              <a:buChar char="•"/>
            </a:pPr>
            <a:r>
              <a:rPr lang="es-ES" sz="1800" dirty="0">
                <a:effectLst/>
                <a:latin typeface="Times New Roman" panose="02020603050405020304" pitchFamily="18" charset="0"/>
                <a:ea typeface="Microsoft Sans Serif" panose="020B0604020202020204" pitchFamily="34" charset="0"/>
                <a:cs typeface="Times New Roman" panose="02020603050405020304" pitchFamily="18" charset="0"/>
              </a:rPr>
              <a:t>La totalidad de</a:t>
            </a:r>
            <a:r>
              <a:rPr lang="es-ES" sz="1800" spc="-70"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800" dirty="0">
                <a:effectLst/>
                <a:latin typeface="Times New Roman" panose="02020603050405020304" pitchFamily="18" charset="0"/>
                <a:ea typeface="Microsoft Sans Serif" panose="020B0604020202020204" pitchFamily="34" charset="0"/>
                <a:cs typeface="Times New Roman" panose="02020603050405020304" pitchFamily="18" charset="0"/>
              </a:rPr>
              <a:t>la</a:t>
            </a:r>
            <a:r>
              <a:rPr lang="es-ES" sz="1800" spc="-7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800" dirty="0">
                <a:effectLst/>
                <a:latin typeface="Times New Roman" panose="02020603050405020304" pitchFamily="18" charset="0"/>
                <a:ea typeface="Microsoft Sans Serif" panose="020B0604020202020204" pitchFamily="34" charset="0"/>
                <a:cs typeface="Times New Roman" panose="02020603050405020304" pitchFamily="18" charset="0"/>
              </a:rPr>
              <a:t>población</a:t>
            </a:r>
            <a:r>
              <a:rPr lang="es-ES" sz="1800" spc="-40"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800" dirty="0">
                <a:effectLst/>
                <a:latin typeface="Times New Roman" panose="02020603050405020304" pitchFamily="18" charset="0"/>
                <a:ea typeface="Microsoft Sans Serif" panose="020B0604020202020204" pitchFamily="34" charset="0"/>
                <a:cs typeface="Times New Roman" panose="02020603050405020304" pitchFamily="18" charset="0"/>
              </a:rPr>
              <a:t>que</a:t>
            </a:r>
            <a:r>
              <a:rPr lang="es-ES" sz="1800" spc="-7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800" dirty="0">
                <a:effectLst/>
                <a:latin typeface="Times New Roman" panose="02020603050405020304" pitchFamily="18" charset="0"/>
                <a:ea typeface="Microsoft Sans Serif" panose="020B0604020202020204" pitchFamily="34" charset="0"/>
                <a:cs typeface="Times New Roman" panose="02020603050405020304" pitchFamily="18" charset="0"/>
              </a:rPr>
              <a:t>laboran</a:t>
            </a:r>
            <a:r>
              <a:rPr lang="es-ES" sz="1800" spc="-30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800" dirty="0">
                <a:effectLst/>
                <a:latin typeface="Times New Roman" panose="02020603050405020304" pitchFamily="18" charset="0"/>
                <a:ea typeface="Microsoft Sans Serif" panose="020B0604020202020204" pitchFamily="34" charset="0"/>
                <a:cs typeface="Times New Roman" panose="02020603050405020304" pitchFamily="18" charset="0"/>
              </a:rPr>
              <a:t>en</a:t>
            </a:r>
            <a:r>
              <a:rPr lang="es-ES" sz="1800" spc="1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800" dirty="0">
                <a:effectLst/>
                <a:latin typeface="Times New Roman" panose="02020603050405020304" pitchFamily="18" charset="0"/>
                <a:ea typeface="Microsoft Sans Serif" panose="020B0604020202020204" pitchFamily="34" charset="0"/>
                <a:cs typeface="Times New Roman" panose="02020603050405020304" pitchFamily="18" charset="0"/>
              </a:rPr>
              <a:t>la</a:t>
            </a:r>
            <a:r>
              <a:rPr lang="es-ES" sz="1800" spc="10"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800" dirty="0">
                <a:effectLst/>
                <a:latin typeface="Times New Roman" panose="02020603050405020304" pitchFamily="18" charset="0"/>
                <a:ea typeface="Calibri" panose="020F0502020204030204" pitchFamily="34" charset="0"/>
                <a:cs typeface="Times New Roman" panose="02020603050405020304" pitchFamily="18" charset="0"/>
              </a:rPr>
              <a:t>Gerencia Regional de red de sucursales </a:t>
            </a:r>
            <a:r>
              <a:rPr lang="es-ES" sz="1800" dirty="0">
                <a:effectLst/>
                <a:latin typeface="Times New Roman" panose="02020603050405020304" pitchFamily="18" charset="0"/>
                <a:ea typeface="Microsoft Sans Serif" panose="020B0604020202020204" pitchFamily="34" charset="0"/>
                <a:cs typeface="Times New Roman" panose="02020603050405020304" pitchFamily="18" charset="0"/>
              </a:rPr>
              <a:t>de</a:t>
            </a:r>
            <a:r>
              <a:rPr lang="es-ES" sz="1800" spc="10"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800" dirty="0">
                <a:effectLst/>
                <a:latin typeface="Times New Roman" panose="02020603050405020304" pitchFamily="18" charset="0"/>
                <a:ea typeface="Microsoft Sans Serif" panose="020B0604020202020204" pitchFamily="34" charset="0"/>
                <a:cs typeface="Times New Roman" panose="02020603050405020304" pitchFamily="18" charset="0"/>
              </a:rPr>
              <a:t>la Banesco Banco Universal, C.A. es de nueve (9) colaboradores</a:t>
            </a:r>
            <a:r>
              <a:rPr lang="es-ES" sz="1800" dirty="0">
                <a:solidFill>
                  <a:srgbClr val="000000"/>
                </a:solidFill>
                <a:effectLst/>
                <a:latin typeface="Times New Roman" panose="02020603050405020304" pitchFamily="18" charset="0"/>
                <a:ea typeface="Microsoft Sans Serif" panose="020B0604020202020204" pitchFamily="34" charset="0"/>
                <a:cs typeface="Times New Roman" panose="02020603050405020304" pitchFamily="18" charset="0"/>
              </a:rPr>
              <a:t>.</a:t>
            </a:r>
            <a:endParaRPr lang="es-VE"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CuadroTexto 12">
            <a:extLst>
              <a:ext uri="{FF2B5EF4-FFF2-40B4-BE49-F238E27FC236}">
                <a16:creationId xmlns:a16="http://schemas.microsoft.com/office/drawing/2014/main" id="{026F4D5C-72A7-47D0-AA7B-614E7B116AF0}"/>
              </a:ext>
            </a:extLst>
          </p:cNvPr>
          <p:cNvSpPr txBox="1"/>
          <p:nvPr/>
        </p:nvSpPr>
        <p:spPr>
          <a:xfrm>
            <a:off x="812222" y="1413755"/>
            <a:ext cx="7450281" cy="1138773"/>
          </a:xfrm>
          <a:prstGeom prst="rect">
            <a:avLst/>
          </a:prstGeom>
          <a:noFill/>
        </p:spPr>
        <p:txBody>
          <a:bodyPr wrap="square">
            <a:spAutoFit/>
          </a:bodyPr>
          <a:lstStyle/>
          <a:p>
            <a:pPr algn="ctr"/>
            <a:r>
              <a:rPr lang="es-ES" sz="2800" b="1" i="1" u="sng" dirty="0">
                <a:effectLst/>
                <a:latin typeface="Times New Roman" panose="02020603050405020304" pitchFamily="18" charset="0"/>
                <a:ea typeface="Arial" panose="020B0604020202020204" pitchFamily="34" charset="0"/>
                <a:cs typeface="Times New Roman" panose="02020603050405020304" pitchFamily="18" charset="0"/>
              </a:rPr>
              <a:t>Distribución</a:t>
            </a:r>
            <a:r>
              <a:rPr lang="es-ES" sz="2800" b="1" i="1" u="sng" spc="-5" dirty="0">
                <a:effectLst/>
                <a:latin typeface="Times New Roman" panose="02020603050405020304" pitchFamily="18" charset="0"/>
                <a:ea typeface="Arial" panose="020B0604020202020204" pitchFamily="34" charset="0"/>
                <a:cs typeface="Times New Roman" panose="02020603050405020304" pitchFamily="18" charset="0"/>
              </a:rPr>
              <a:t> </a:t>
            </a:r>
            <a:r>
              <a:rPr lang="es-ES" sz="2800" b="1" i="1" u="sng" dirty="0">
                <a:effectLst/>
                <a:latin typeface="Times New Roman" panose="02020603050405020304" pitchFamily="18" charset="0"/>
                <a:ea typeface="Arial" panose="020B0604020202020204" pitchFamily="34" charset="0"/>
                <a:cs typeface="Times New Roman" panose="02020603050405020304" pitchFamily="18" charset="0"/>
              </a:rPr>
              <a:t>del</a:t>
            </a:r>
            <a:r>
              <a:rPr lang="es-ES" sz="2800" b="1" i="1" u="sng" spc="-5" dirty="0">
                <a:effectLst/>
                <a:latin typeface="Times New Roman" panose="02020603050405020304" pitchFamily="18" charset="0"/>
                <a:ea typeface="Arial" panose="020B0604020202020204" pitchFamily="34" charset="0"/>
                <a:cs typeface="Times New Roman" panose="02020603050405020304" pitchFamily="18" charset="0"/>
              </a:rPr>
              <a:t> </a:t>
            </a:r>
            <a:r>
              <a:rPr lang="es-ES" sz="2800" b="1" i="1" u="sng" dirty="0">
                <a:effectLst/>
                <a:latin typeface="Times New Roman" panose="02020603050405020304" pitchFamily="18" charset="0"/>
                <a:ea typeface="Arial" panose="020B0604020202020204" pitchFamily="34" charset="0"/>
                <a:cs typeface="Times New Roman" panose="02020603050405020304" pitchFamily="18" charset="0"/>
              </a:rPr>
              <a:t>Personal</a:t>
            </a:r>
            <a:r>
              <a:rPr lang="es-ES" sz="2800" b="1" i="1" u="sng" spc="-15" dirty="0">
                <a:effectLst/>
                <a:latin typeface="Times New Roman" panose="02020603050405020304" pitchFamily="18" charset="0"/>
                <a:ea typeface="Arial" panose="020B0604020202020204" pitchFamily="34" charset="0"/>
                <a:cs typeface="Times New Roman" panose="02020603050405020304" pitchFamily="18" charset="0"/>
              </a:rPr>
              <a:t> </a:t>
            </a:r>
            <a:r>
              <a:rPr lang="es-ES" sz="2800" b="1" i="1" u="sng" dirty="0">
                <a:effectLst/>
                <a:latin typeface="Times New Roman" panose="02020603050405020304" pitchFamily="18" charset="0"/>
                <a:ea typeface="Arial" panose="020B0604020202020204" pitchFamily="34" charset="0"/>
                <a:cs typeface="Times New Roman" panose="02020603050405020304" pitchFamily="18" charset="0"/>
              </a:rPr>
              <a:t>del</a:t>
            </a:r>
            <a:r>
              <a:rPr lang="es-ES" sz="2800" b="1" i="1" u="sng" spc="-5" dirty="0">
                <a:effectLst/>
                <a:latin typeface="Times New Roman" panose="02020603050405020304" pitchFamily="18" charset="0"/>
                <a:ea typeface="Arial" panose="020B0604020202020204" pitchFamily="34" charset="0"/>
                <a:cs typeface="Times New Roman" panose="02020603050405020304" pitchFamily="18" charset="0"/>
              </a:rPr>
              <a:t> </a:t>
            </a:r>
            <a:r>
              <a:rPr lang="es-ES" sz="2800" b="1" i="1" u="sng" dirty="0">
                <a:effectLst/>
                <a:latin typeface="Times New Roman" panose="02020603050405020304" pitchFamily="18" charset="0"/>
                <a:ea typeface="Arial" panose="020B0604020202020204" pitchFamily="34" charset="0"/>
                <a:cs typeface="Times New Roman" panose="02020603050405020304" pitchFamily="18" charset="0"/>
              </a:rPr>
              <a:t>Departamento</a:t>
            </a:r>
            <a:endParaRPr lang="es-VE" sz="2800" u="sng"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VE" sz="4000" u="sng" dirty="0"/>
          </a:p>
        </p:txBody>
      </p:sp>
      <p:graphicFrame>
        <p:nvGraphicFramePr>
          <p:cNvPr id="16" name="Tabla 15">
            <a:extLst>
              <a:ext uri="{FF2B5EF4-FFF2-40B4-BE49-F238E27FC236}">
                <a16:creationId xmlns:a16="http://schemas.microsoft.com/office/drawing/2014/main" id="{4024D44E-04D9-4190-89DE-414B56AF29DE}"/>
              </a:ext>
            </a:extLst>
          </p:cNvPr>
          <p:cNvGraphicFramePr>
            <a:graphicFrameLocks noGrp="1"/>
          </p:cNvGraphicFramePr>
          <p:nvPr>
            <p:extLst>
              <p:ext uri="{D42A27DB-BD31-4B8C-83A1-F6EECF244321}">
                <p14:modId xmlns:p14="http://schemas.microsoft.com/office/powerpoint/2010/main" val="3652518141"/>
              </p:ext>
            </p:extLst>
          </p:nvPr>
        </p:nvGraphicFramePr>
        <p:xfrm>
          <a:off x="1543324" y="3783062"/>
          <a:ext cx="5993549" cy="2188250"/>
        </p:xfrm>
        <a:graphic>
          <a:graphicData uri="http://schemas.openxmlformats.org/drawingml/2006/table">
            <a:tbl>
              <a:tblPr firstRow="1" firstCol="1" lastRow="1" lastCol="1" bandRow="1" bandCol="1"/>
              <a:tblGrid>
                <a:gridCol w="4150319">
                  <a:extLst>
                    <a:ext uri="{9D8B030D-6E8A-4147-A177-3AD203B41FA5}">
                      <a16:colId xmlns:a16="http://schemas.microsoft.com/office/drawing/2014/main" val="2738030008"/>
                    </a:ext>
                  </a:extLst>
                </a:gridCol>
                <a:gridCol w="1843230">
                  <a:extLst>
                    <a:ext uri="{9D8B030D-6E8A-4147-A177-3AD203B41FA5}">
                      <a16:colId xmlns:a16="http://schemas.microsoft.com/office/drawing/2014/main" val="2421795237"/>
                    </a:ext>
                  </a:extLst>
                </a:gridCol>
              </a:tblGrid>
              <a:tr h="339543">
                <a:tc>
                  <a:txBody>
                    <a:bodyPr/>
                    <a:lstStyle/>
                    <a:p>
                      <a:pPr algn="ctr">
                        <a:lnSpc>
                          <a:spcPts val="1280"/>
                        </a:lnSpc>
                        <a:spcAft>
                          <a:spcPts val="1000"/>
                        </a:spcAft>
                      </a:pPr>
                      <a:r>
                        <a:rPr lang="es-ES" sz="1400" b="1"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Departamentos</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37185" algn="ctr">
                        <a:lnSpc>
                          <a:spcPts val="1280"/>
                        </a:lnSpc>
                        <a:spcAft>
                          <a:spcPts val="1000"/>
                        </a:spcAft>
                      </a:pPr>
                      <a:r>
                        <a:rPr lang="es-ES" sz="1400" b="1"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Población</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1405685"/>
                  </a:ext>
                </a:extLst>
              </a:tr>
              <a:tr h="289248">
                <a:tc>
                  <a:txBody>
                    <a:bodyPr/>
                    <a:lstStyle/>
                    <a:p>
                      <a:pPr algn="just">
                        <a:lnSpc>
                          <a:spcPts val="1280"/>
                        </a:lnSpc>
                        <a:spcBef>
                          <a:spcPts val="10"/>
                        </a:spcBef>
                        <a:spcAft>
                          <a:spcPts val="1000"/>
                        </a:spcAft>
                      </a:pPr>
                      <a:r>
                        <a:rPr lang="es-ES" sz="1400"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Gerente Regional</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80"/>
                        </a:lnSpc>
                        <a:spcBef>
                          <a:spcPts val="10"/>
                        </a:spcBef>
                        <a:spcAft>
                          <a:spcPts val="1000"/>
                        </a:spcAft>
                      </a:pPr>
                      <a:r>
                        <a:rPr lang="es-ES" sz="1400"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8494541"/>
                  </a:ext>
                </a:extLst>
              </a:tr>
              <a:tr h="286128">
                <a:tc>
                  <a:txBody>
                    <a:bodyPr/>
                    <a:lstStyle/>
                    <a:p>
                      <a:pPr algn="just">
                        <a:lnSpc>
                          <a:spcPts val="1280"/>
                        </a:lnSpc>
                        <a:spcAft>
                          <a:spcPts val="1000"/>
                        </a:spcAft>
                      </a:pPr>
                      <a:r>
                        <a:rPr lang="es-ES" sz="1400"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Gerente de Negocio</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80"/>
                        </a:lnSpc>
                        <a:spcAft>
                          <a:spcPts val="1000"/>
                        </a:spcAft>
                      </a:pPr>
                      <a:r>
                        <a:rPr lang="es-ES" sz="1400"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5221222"/>
                  </a:ext>
                </a:extLst>
              </a:tr>
              <a:tr h="286128">
                <a:tc>
                  <a:txBody>
                    <a:bodyPr/>
                    <a:lstStyle/>
                    <a:p>
                      <a:pPr algn="just">
                        <a:lnSpc>
                          <a:spcPts val="1280"/>
                        </a:lnSpc>
                        <a:spcAft>
                          <a:spcPts val="1000"/>
                        </a:spcAft>
                      </a:pPr>
                      <a:r>
                        <a:rPr lang="es-ES" sz="140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Representantes de Negocio</a:t>
                      </a:r>
                      <a:endParaRPr lang="es-VE"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80"/>
                        </a:lnSpc>
                        <a:spcAft>
                          <a:spcPts val="1000"/>
                        </a:spcAft>
                      </a:pPr>
                      <a:r>
                        <a:rPr lang="es-ES" sz="1400"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3652815"/>
                  </a:ext>
                </a:extLst>
              </a:tr>
              <a:tr h="286128">
                <a:tc>
                  <a:txBody>
                    <a:bodyPr/>
                    <a:lstStyle/>
                    <a:p>
                      <a:pPr algn="just">
                        <a:lnSpc>
                          <a:spcPts val="1280"/>
                        </a:lnSpc>
                        <a:spcAft>
                          <a:spcPts val="1000"/>
                        </a:spcAft>
                      </a:pPr>
                      <a:r>
                        <a:rPr lang="es-ES" sz="140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Representante de Operaciones</a:t>
                      </a:r>
                      <a:endParaRPr lang="es-VE"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80"/>
                        </a:lnSpc>
                        <a:spcAft>
                          <a:spcPts val="1000"/>
                        </a:spcAft>
                      </a:pPr>
                      <a:r>
                        <a:rPr lang="es-ES" sz="1400"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3426799"/>
                  </a:ext>
                </a:extLst>
              </a:tr>
              <a:tr h="227876">
                <a:tc>
                  <a:txBody>
                    <a:bodyPr/>
                    <a:lstStyle/>
                    <a:p>
                      <a:pPr algn="just">
                        <a:lnSpc>
                          <a:spcPts val="1280"/>
                        </a:lnSpc>
                        <a:spcAft>
                          <a:spcPts val="1000"/>
                        </a:spcAft>
                      </a:pPr>
                      <a:r>
                        <a:rPr lang="es-ES" sz="140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Administrador</a:t>
                      </a:r>
                      <a:endParaRPr lang="es-VE"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80"/>
                        </a:lnSpc>
                        <a:spcAft>
                          <a:spcPts val="1000"/>
                        </a:spcAft>
                      </a:pPr>
                      <a:r>
                        <a:rPr lang="es-ES" sz="1400"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2267335"/>
                  </a:ext>
                </a:extLst>
              </a:tr>
              <a:tr h="187071">
                <a:tc>
                  <a:txBody>
                    <a:bodyPr/>
                    <a:lstStyle/>
                    <a:p>
                      <a:pPr algn="l">
                        <a:lnSpc>
                          <a:spcPts val="1280"/>
                        </a:lnSpc>
                        <a:spcAft>
                          <a:spcPts val="1000"/>
                        </a:spcAft>
                      </a:pPr>
                      <a:r>
                        <a:rPr lang="es-ES" sz="140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Asesores Integrales</a:t>
                      </a:r>
                      <a:endParaRPr lang="es-VE"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80"/>
                        </a:lnSpc>
                        <a:spcAft>
                          <a:spcPts val="1000"/>
                        </a:spcAft>
                      </a:pPr>
                      <a:r>
                        <a:rPr lang="es-ES" sz="1400"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4</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4976401"/>
                  </a:ext>
                </a:extLst>
              </a:tr>
              <a:tr h="286128">
                <a:tc>
                  <a:txBody>
                    <a:bodyPr/>
                    <a:lstStyle/>
                    <a:p>
                      <a:pPr algn="l">
                        <a:lnSpc>
                          <a:spcPts val="1280"/>
                        </a:lnSpc>
                        <a:spcAft>
                          <a:spcPts val="1000"/>
                        </a:spcAft>
                      </a:pPr>
                      <a:r>
                        <a:rPr lang="es-ES" sz="1400"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Total</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35280" algn="ctr">
                        <a:lnSpc>
                          <a:spcPts val="1280"/>
                        </a:lnSpc>
                        <a:spcAft>
                          <a:spcPts val="1000"/>
                        </a:spcAft>
                      </a:pPr>
                      <a:r>
                        <a:rPr lang="es-ES" sz="1400" dirty="0">
                          <a:solidFill>
                            <a:schemeClr val="tx1"/>
                          </a:solidFill>
                          <a:effectLst/>
                          <a:latin typeface="Times New Roman" panose="02020603050405020304" pitchFamily="18" charset="0"/>
                          <a:ea typeface="Microsoft Sans Serif" panose="020B0604020202020204" pitchFamily="34" charset="0"/>
                          <a:cs typeface="Times New Roman" panose="02020603050405020304" pitchFamily="18" charset="0"/>
                        </a:rPr>
                        <a:t>        9</a:t>
                      </a:r>
                      <a:endParaRPr lang="es-V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970399"/>
                  </a:ext>
                </a:extLst>
              </a:tr>
            </a:tbl>
          </a:graphicData>
        </a:graphic>
      </p:graphicFrame>
    </p:spTree>
    <p:extLst>
      <p:ext uri="{BB962C8B-B14F-4D97-AF65-F5344CB8AC3E}">
        <p14:creationId xmlns:p14="http://schemas.microsoft.com/office/powerpoint/2010/main" val="735039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10022;p84">
            <a:extLst>
              <a:ext uri="{FF2B5EF4-FFF2-40B4-BE49-F238E27FC236}">
                <a16:creationId xmlns:a16="http://schemas.microsoft.com/office/drawing/2014/main" id="{46380E93-7511-4F65-91FC-3F72867818FE}"/>
              </a:ext>
            </a:extLst>
          </p:cNvPr>
          <p:cNvGrpSpPr/>
          <p:nvPr/>
        </p:nvGrpSpPr>
        <p:grpSpPr>
          <a:xfrm>
            <a:off x="4822394" y="3134066"/>
            <a:ext cx="720000" cy="720000"/>
            <a:chOff x="1413250" y="2680675"/>
            <a:chExt cx="297750" cy="297525"/>
          </a:xfrm>
          <a:solidFill>
            <a:schemeClr val="tx1"/>
          </a:solidFill>
        </p:grpSpPr>
        <p:sp>
          <p:nvSpPr>
            <p:cNvPr id="6" name="Google Shape;10023;p84">
              <a:extLst>
                <a:ext uri="{FF2B5EF4-FFF2-40B4-BE49-F238E27FC236}">
                  <a16:creationId xmlns:a16="http://schemas.microsoft.com/office/drawing/2014/main" id="{512A286A-70BE-4564-AC21-2F9B862DA37A}"/>
                </a:ext>
              </a:extLst>
            </p:cNvPr>
            <p:cNvSpPr/>
            <p:nvPr/>
          </p:nvSpPr>
          <p:spPr>
            <a:xfrm>
              <a:off x="1413250" y="2680675"/>
              <a:ext cx="297750" cy="297525"/>
            </a:xfrm>
            <a:custGeom>
              <a:avLst/>
              <a:gdLst/>
              <a:ahLst/>
              <a:cxnLst/>
              <a:rect l="l" t="t" r="r" b="b"/>
              <a:pathLst>
                <a:path w="11910" h="11901" extrusionOk="0">
                  <a:moveTo>
                    <a:pt x="10460" y="1418"/>
                  </a:moveTo>
                  <a:lnTo>
                    <a:pt x="10460" y="7719"/>
                  </a:lnTo>
                  <a:lnTo>
                    <a:pt x="1387" y="7719"/>
                  </a:lnTo>
                  <a:lnTo>
                    <a:pt x="1387" y="1418"/>
                  </a:lnTo>
                  <a:close/>
                  <a:moveTo>
                    <a:pt x="5577" y="8380"/>
                  </a:moveTo>
                  <a:lnTo>
                    <a:pt x="5577" y="9105"/>
                  </a:lnTo>
                  <a:lnTo>
                    <a:pt x="5167" y="9105"/>
                  </a:lnTo>
                  <a:lnTo>
                    <a:pt x="5451" y="8380"/>
                  </a:lnTo>
                  <a:close/>
                  <a:moveTo>
                    <a:pt x="6396" y="8380"/>
                  </a:moveTo>
                  <a:lnTo>
                    <a:pt x="6679" y="9105"/>
                  </a:lnTo>
                  <a:lnTo>
                    <a:pt x="6270" y="9105"/>
                  </a:lnTo>
                  <a:lnTo>
                    <a:pt x="6270" y="8380"/>
                  </a:lnTo>
                  <a:close/>
                  <a:moveTo>
                    <a:pt x="5955" y="0"/>
                  </a:moveTo>
                  <a:cubicBezTo>
                    <a:pt x="5766" y="0"/>
                    <a:pt x="5608" y="158"/>
                    <a:pt x="5608" y="347"/>
                  </a:cubicBezTo>
                  <a:lnTo>
                    <a:pt x="5608" y="725"/>
                  </a:lnTo>
                  <a:lnTo>
                    <a:pt x="378" y="725"/>
                  </a:lnTo>
                  <a:cubicBezTo>
                    <a:pt x="158" y="725"/>
                    <a:pt x="0" y="882"/>
                    <a:pt x="0" y="1071"/>
                  </a:cubicBezTo>
                  <a:cubicBezTo>
                    <a:pt x="0" y="1260"/>
                    <a:pt x="158" y="1418"/>
                    <a:pt x="378" y="1418"/>
                  </a:cubicBezTo>
                  <a:lnTo>
                    <a:pt x="725" y="1418"/>
                  </a:lnTo>
                  <a:lnTo>
                    <a:pt x="725" y="7719"/>
                  </a:lnTo>
                  <a:lnTo>
                    <a:pt x="378" y="7719"/>
                  </a:lnTo>
                  <a:cubicBezTo>
                    <a:pt x="189" y="7719"/>
                    <a:pt x="32" y="7876"/>
                    <a:pt x="32" y="8097"/>
                  </a:cubicBezTo>
                  <a:cubicBezTo>
                    <a:pt x="32" y="8286"/>
                    <a:pt x="189" y="8443"/>
                    <a:pt x="378" y="8443"/>
                  </a:cubicBezTo>
                  <a:lnTo>
                    <a:pt x="4758" y="8443"/>
                  </a:lnTo>
                  <a:lnTo>
                    <a:pt x="3560" y="11436"/>
                  </a:lnTo>
                  <a:cubicBezTo>
                    <a:pt x="3497" y="11625"/>
                    <a:pt x="3560" y="11814"/>
                    <a:pt x="3749" y="11877"/>
                  </a:cubicBezTo>
                  <a:cubicBezTo>
                    <a:pt x="3803" y="11893"/>
                    <a:pt x="3855" y="11901"/>
                    <a:pt x="3903" y="11901"/>
                  </a:cubicBezTo>
                  <a:cubicBezTo>
                    <a:pt x="4052" y="11901"/>
                    <a:pt x="4167" y="11824"/>
                    <a:pt x="4191" y="11657"/>
                  </a:cubicBezTo>
                  <a:lnTo>
                    <a:pt x="4947" y="9830"/>
                  </a:lnTo>
                  <a:lnTo>
                    <a:pt x="5608" y="9830"/>
                  </a:lnTo>
                  <a:lnTo>
                    <a:pt x="5608" y="10838"/>
                  </a:lnTo>
                  <a:cubicBezTo>
                    <a:pt x="5608" y="11027"/>
                    <a:pt x="5766" y="11184"/>
                    <a:pt x="5955" y="11184"/>
                  </a:cubicBezTo>
                  <a:cubicBezTo>
                    <a:pt x="6175" y="11184"/>
                    <a:pt x="6333" y="11027"/>
                    <a:pt x="6333" y="10838"/>
                  </a:cubicBezTo>
                  <a:lnTo>
                    <a:pt x="6333" y="9830"/>
                  </a:lnTo>
                  <a:lnTo>
                    <a:pt x="6995" y="9830"/>
                  </a:lnTo>
                  <a:lnTo>
                    <a:pt x="7751" y="11657"/>
                  </a:lnTo>
                  <a:cubicBezTo>
                    <a:pt x="7798" y="11824"/>
                    <a:pt x="7918" y="11901"/>
                    <a:pt x="8042" y="11901"/>
                  </a:cubicBezTo>
                  <a:cubicBezTo>
                    <a:pt x="8082" y="11901"/>
                    <a:pt x="8122" y="11893"/>
                    <a:pt x="8160" y="11877"/>
                  </a:cubicBezTo>
                  <a:cubicBezTo>
                    <a:pt x="8381" y="11783"/>
                    <a:pt x="8444" y="11594"/>
                    <a:pt x="8381" y="11436"/>
                  </a:cubicBezTo>
                  <a:lnTo>
                    <a:pt x="7184" y="8443"/>
                  </a:lnTo>
                  <a:lnTo>
                    <a:pt x="11563" y="8443"/>
                  </a:lnTo>
                  <a:cubicBezTo>
                    <a:pt x="11752" y="8443"/>
                    <a:pt x="11909" y="8286"/>
                    <a:pt x="11909" y="8097"/>
                  </a:cubicBezTo>
                  <a:cubicBezTo>
                    <a:pt x="11909" y="7876"/>
                    <a:pt x="11752" y="7719"/>
                    <a:pt x="11563" y="7719"/>
                  </a:cubicBezTo>
                  <a:lnTo>
                    <a:pt x="11185" y="7719"/>
                  </a:lnTo>
                  <a:lnTo>
                    <a:pt x="11185" y="1418"/>
                  </a:lnTo>
                  <a:lnTo>
                    <a:pt x="11563" y="1418"/>
                  </a:lnTo>
                  <a:cubicBezTo>
                    <a:pt x="11752" y="1418"/>
                    <a:pt x="11909" y="1260"/>
                    <a:pt x="11909" y="1071"/>
                  </a:cubicBezTo>
                  <a:cubicBezTo>
                    <a:pt x="11909" y="882"/>
                    <a:pt x="11752" y="725"/>
                    <a:pt x="11563" y="725"/>
                  </a:cubicBezTo>
                  <a:lnTo>
                    <a:pt x="6301" y="725"/>
                  </a:lnTo>
                  <a:lnTo>
                    <a:pt x="6301" y="347"/>
                  </a:lnTo>
                  <a:cubicBezTo>
                    <a:pt x="6301" y="158"/>
                    <a:pt x="6144" y="0"/>
                    <a:pt x="5955"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ndParaRPr>
            </a:p>
          </p:txBody>
        </p:sp>
        <p:sp>
          <p:nvSpPr>
            <p:cNvPr id="7" name="Google Shape;10024;p84">
              <a:extLst>
                <a:ext uri="{FF2B5EF4-FFF2-40B4-BE49-F238E27FC236}">
                  <a16:creationId xmlns:a16="http://schemas.microsoft.com/office/drawing/2014/main" id="{8B7AA00B-F0C0-41DE-A138-FE22FCBEB8D3}"/>
                </a:ext>
              </a:extLst>
            </p:cNvPr>
            <p:cNvSpPr/>
            <p:nvPr/>
          </p:nvSpPr>
          <p:spPr>
            <a:xfrm>
              <a:off x="1465225" y="2805100"/>
              <a:ext cx="52800" cy="52025"/>
            </a:xfrm>
            <a:custGeom>
              <a:avLst/>
              <a:gdLst/>
              <a:ahLst/>
              <a:cxnLst/>
              <a:rect l="l" t="t" r="r" b="b"/>
              <a:pathLst>
                <a:path w="2112" h="2081" extrusionOk="0">
                  <a:moveTo>
                    <a:pt x="1387" y="663"/>
                  </a:moveTo>
                  <a:lnTo>
                    <a:pt x="1387" y="1387"/>
                  </a:lnTo>
                  <a:lnTo>
                    <a:pt x="694" y="1387"/>
                  </a:lnTo>
                  <a:lnTo>
                    <a:pt x="694" y="663"/>
                  </a:lnTo>
                  <a:close/>
                  <a:moveTo>
                    <a:pt x="347" y="1"/>
                  </a:moveTo>
                  <a:cubicBezTo>
                    <a:pt x="158" y="1"/>
                    <a:pt x="1" y="158"/>
                    <a:pt x="1" y="347"/>
                  </a:cubicBezTo>
                  <a:lnTo>
                    <a:pt x="1" y="1734"/>
                  </a:lnTo>
                  <a:cubicBezTo>
                    <a:pt x="1" y="1923"/>
                    <a:pt x="158" y="2080"/>
                    <a:pt x="347" y="2080"/>
                  </a:cubicBezTo>
                  <a:lnTo>
                    <a:pt x="1765" y="2080"/>
                  </a:lnTo>
                  <a:cubicBezTo>
                    <a:pt x="1954" y="2080"/>
                    <a:pt x="2112" y="1923"/>
                    <a:pt x="2112" y="1734"/>
                  </a:cubicBezTo>
                  <a:lnTo>
                    <a:pt x="2112" y="347"/>
                  </a:lnTo>
                  <a:cubicBezTo>
                    <a:pt x="2112" y="158"/>
                    <a:pt x="1954" y="1"/>
                    <a:pt x="1765"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ndParaRPr>
            </a:p>
          </p:txBody>
        </p:sp>
        <p:sp>
          <p:nvSpPr>
            <p:cNvPr id="8" name="Google Shape;10025;p84">
              <a:extLst>
                <a:ext uri="{FF2B5EF4-FFF2-40B4-BE49-F238E27FC236}">
                  <a16:creationId xmlns:a16="http://schemas.microsoft.com/office/drawing/2014/main" id="{51B4E617-5D70-482B-A3CD-C11C29ECE886}"/>
                </a:ext>
              </a:extLst>
            </p:cNvPr>
            <p:cNvSpPr/>
            <p:nvPr/>
          </p:nvSpPr>
          <p:spPr>
            <a:xfrm>
              <a:off x="1535325" y="2769675"/>
              <a:ext cx="52800" cy="87450"/>
            </a:xfrm>
            <a:custGeom>
              <a:avLst/>
              <a:gdLst/>
              <a:ahLst/>
              <a:cxnLst/>
              <a:rect l="l" t="t" r="r" b="b"/>
              <a:pathLst>
                <a:path w="2112" h="3498" extrusionOk="0">
                  <a:moveTo>
                    <a:pt x="1387" y="662"/>
                  </a:moveTo>
                  <a:lnTo>
                    <a:pt x="1387" y="2741"/>
                  </a:lnTo>
                  <a:lnTo>
                    <a:pt x="694" y="2741"/>
                  </a:lnTo>
                  <a:lnTo>
                    <a:pt x="694" y="662"/>
                  </a:lnTo>
                  <a:close/>
                  <a:moveTo>
                    <a:pt x="379" y="0"/>
                  </a:moveTo>
                  <a:cubicBezTo>
                    <a:pt x="158" y="0"/>
                    <a:pt x="1" y="158"/>
                    <a:pt x="1" y="347"/>
                  </a:cubicBezTo>
                  <a:lnTo>
                    <a:pt x="1" y="3151"/>
                  </a:lnTo>
                  <a:cubicBezTo>
                    <a:pt x="1" y="3340"/>
                    <a:pt x="158" y="3497"/>
                    <a:pt x="379" y="3497"/>
                  </a:cubicBezTo>
                  <a:lnTo>
                    <a:pt x="1733" y="3497"/>
                  </a:lnTo>
                  <a:lnTo>
                    <a:pt x="1733" y="3466"/>
                  </a:lnTo>
                  <a:cubicBezTo>
                    <a:pt x="1954" y="3466"/>
                    <a:pt x="2112" y="3308"/>
                    <a:pt x="2112" y="3119"/>
                  </a:cubicBezTo>
                  <a:lnTo>
                    <a:pt x="2112" y="347"/>
                  </a:lnTo>
                  <a:cubicBezTo>
                    <a:pt x="2112" y="158"/>
                    <a:pt x="1954" y="0"/>
                    <a:pt x="1733"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ndParaRPr>
            </a:p>
          </p:txBody>
        </p:sp>
        <p:sp>
          <p:nvSpPr>
            <p:cNvPr id="9" name="Google Shape;10026;p84">
              <a:extLst>
                <a:ext uri="{FF2B5EF4-FFF2-40B4-BE49-F238E27FC236}">
                  <a16:creationId xmlns:a16="http://schemas.microsoft.com/office/drawing/2014/main" id="{A3E267F9-5222-455A-8A4D-55DA2D56B251}"/>
                </a:ext>
              </a:extLst>
            </p:cNvPr>
            <p:cNvSpPr/>
            <p:nvPr/>
          </p:nvSpPr>
          <p:spPr>
            <a:xfrm>
              <a:off x="1604650" y="2733425"/>
              <a:ext cx="52775" cy="122900"/>
            </a:xfrm>
            <a:custGeom>
              <a:avLst/>
              <a:gdLst/>
              <a:ahLst/>
              <a:cxnLst/>
              <a:rect l="l" t="t" r="r" b="b"/>
              <a:pathLst>
                <a:path w="2111" h="4916" extrusionOk="0">
                  <a:moveTo>
                    <a:pt x="1418" y="726"/>
                  </a:moveTo>
                  <a:lnTo>
                    <a:pt x="1418" y="4254"/>
                  </a:lnTo>
                  <a:lnTo>
                    <a:pt x="725" y="4254"/>
                  </a:lnTo>
                  <a:lnTo>
                    <a:pt x="725" y="726"/>
                  </a:lnTo>
                  <a:close/>
                  <a:moveTo>
                    <a:pt x="347" y="1"/>
                  </a:moveTo>
                  <a:cubicBezTo>
                    <a:pt x="158" y="1"/>
                    <a:pt x="0" y="159"/>
                    <a:pt x="0" y="348"/>
                  </a:cubicBezTo>
                  <a:lnTo>
                    <a:pt x="0" y="4569"/>
                  </a:lnTo>
                  <a:cubicBezTo>
                    <a:pt x="0" y="4758"/>
                    <a:pt x="158" y="4916"/>
                    <a:pt x="347" y="4916"/>
                  </a:cubicBezTo>
                  <a:lnTo>
                    <a:pt x="1764" y="4916"/>
                  </a:lnTo>
                  <a:cubicBezTo>
                    <a:pt x="1953" y="4916"/>
                    <a:pt x="2111" y="4758"/>
                    <a:pt x="2111" y="4569"/>
                  </a:cubicBezTo>
                  <a:lnTo>
                    <a:pt x="2111" y="348"/>
                  </a:lnTo>
                  <a:cubicBezTo>
                    <a:pt x="2111" y="159"/>
                    <a:pt x="1953" y="1"/>
                    <a:pt x="1764"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ndParaRPr>
            </a:p>
          </p:txBody>
        </p:sp>
      </p:grpSp>
      <p:sp>
        <p:nvSpPr>
          <p:cNvPr id="10" name="Cuadro de texto 1">
            <a:extLst>
              <a:ext uri="{FF2B5EF4-FFF2-40B4-BE49-F238E27FC236}">
                <a16:creationId xmlns:a16="http://schemas.microsoft.com/office/drawing/2014/main" id="{0B499276-667E-46CC-A5F7-019E2A94D4A4}"/>
              </a:ext>
            </a:extLst>
          </p:cNvPr>
          <p:cNvSpPr txBox="1"/>
          <p:nvPr/>
        </p:nvSpPr>
        <p:spPr>
          <a:xfrm>
            <a:off x="846299" y="2539959"/>
            <a:ext cx="4488444" cy="1908215"/>
          </a:xfrm>
          <a:prstGeom prst="rect">
            <a:avLst/>
          </a:prstGeom>
          <a:noFill/>
        </p:spPr>
        <p:txBody>
          <a:bodyPr wrap="square" rtlCol="0">
            <a:spAutoFit/>
          </a:bodyPr>
          <a:lstStyle/>
          <a:p>
            <a:pPr defTabSz="914400"/>
            <a:r>
              <a:rPr lang="es-ES" altLang="en-US" sz="2200" b="1" dirty="0">
                <a:latin typeface="Calibri Light" panose="020F0302020204030204" pitchFamily="34" charset="0"/>
                <a:cs typeface="Calibri Light" panose="020F0302020204030204" pitchFamily="34" charset="0"/>
              </a:rPr>
              <a:t>CAPÍTULO II</a:t>
            </a:r>
          </a:p>
          <a:p>
            <a:pPr defTabSz="914400"/>
            <a:r>
              <a:rPr lang="es-ES" altLang="en-US" sz="4800" b="1" dirty="0">
                <a:latin typeface="Calibri Light" panose="020F0302020204030204" pitchFamily="34" charset="0"/>
                <a:cs typeface="Calibri Light" panose="020F0302020204030204" pitchFamily="34" charset="0"/>
              </a:rPr>
              <a:t>DIAGNÓSTICO</a:t>
            </a:r>
            <a:r>
              <a:rPr lang="es-ES" altLang="en-US" sz="4800" b="1" dirty="0">
                <a:solidFill>
                  <a:prstClr val="white"/>
                </a:solidFill>
                <a:latin typeface="Calibri Light" panose="020F0302020204030204" pitchFamily="34" charset="0"/>
                <a:cs typeface="Calibri Light" panose="020F0302020204030204" pitchFamily="34" charset="0"/>
              </a:rPr>
              <a:t> </a:t>
            </a:r>
            <a:r>
              <a:rPr lang="es-ES" altLang="en-US" sz="4800" b="1" dirty="0">
                <a:latin typeface="Calibri Light" panose="020F0302020204030204" pitchFamily="34" charset="0"/>
                <a:cs typeface="Calibri Light" panose="020F0302020204030204" pitchFamily="34" charset="0"/>
              </a:rPr>
              <a:t>SITUACIONAL</a:t>
            </a:r>
          </a:p>
        </p:txBody>
      </p:sp>
      <p:pic>
        <p:nvPicPr>
          <p:cNvPr id="2" name="Imagen 1">
            <a:extLst>
              <a:ext uri="{FF2B5EF4-FFF2-40B4-BE49-F238E27FC236}">
                <a16:creationId xmlns:a16="http://schemas.microsoft.com/office/drawing/2014/main" id="{6FC53CD7-974C-44ED-AFDB-24CD2B5EF498}"/>
              </a:ext>
            </a:extLst>
          </p:cNvPr>
          <p:cNvPicPr>
            <a:picLocks noChangeAspect="1"/>
          </p:cNvPicPr>
          <p:nvPr/>
        </p:nvPicPr>
        <p:blipFill>
          <a:blip r:embed="rId2"/>
          <a:stretch>
            <a:fillRect/>
          </a:stretch>
        </p:blipFill>
        <p:spPr>
          <a:xfrm>
            <a:off x="1069991" y="0"/>
            <a:ext cx="3097036" cy="1798476"/>
          </a:xfrm>
          <a:prstGeom prst="rect">
            <a:avLst/>
          </a:prstGeom>
        </p:spPr>
      </p:pic>
      <p:sp>
        <p:nvSpPr>
          <p:cNvPr id="11" name="Cuadro de texto 8">
            <a:extLst>
              <a:ext uri="{FF2B5EF4-FFF2-40B4-BE49-F238E27FC236}">
                <a16:creationId xmlns:a16="http://schemas.microsoft.com/office/drawing/2014/main" id="{1740A57D-4B90-4B0D-B553-AB5E4008AC17}"/>
              </a:ext>
            </a:extLst>
          </p:cNvPr>
          <p:cNvSpPr txBox="1"/>
          <p:nvPr/>
        </p:nvSpPr>
        <p:spPr>
          <a:xfrm>
            <a:off x="1461856" y="6273225"/>
            <a:ext cx="4634144" cy="584775"/>
          </a:xfrm>
          <a:prstGeom prst="rect">
            <a:avLst/>
          </a:prstGeom>
          <a:noFill/>
        </p:spPr>
        <p:txBody>
          <a:bodyPr wrap="square" rtlCol="0">
            <a:spAutoFit/>
          </a:bodyPr>
          <a:lstStyle/>
          <a:p>
            <a:pPr algn="just" defTabSz="914400"/>
            <a:r>
              <a:rPr lang="es-ES" altLang="en-US" sz="1600" b="1" dirty="0">
                <a:latin typeface="Calibri Light" panose="020F0302020204030204" pitchFamily="34" charset="0"/>
                <a:cs typeface="Calibri Light" panose="020F0302020204030204" pitchFamily="34" charset="0"/>
              </a:rPr>
              <a:t>Informe de Pasantías requerido para optar al Técnico Superior Universitario en Administración de  Empresa.</a:t>
            </a:r>
          </a:p>
        </p:txBody>
      </p:sp>
      <p:pic>
        <p:nvPicPr>
          <p:cNvPr id="2052" name="Picture 4" descr="ARCHIVOSAGIL: Diagnóstico Situacional del Archivo">
            <a:extLst>
              <a:ext uri="{FF2B5EF4-FFF2-40B4-BE49-F238E27FC236}">
                <a16:creationId xmlns:a16="http://schemas.microsoft.com/office/drawing/2014/main" id="{8BF84C30-FC0B-404D-847B-882AB1C01C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1194" y="0"/>
            <a:ext cx="580080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104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762FF5E-1563-438D-AF6F-8E3DF3B573D3}"/>
              </a:ext>
            </a:extLst>
          </p:cNvPr>
          <p:cNvSpPr txBox="1"/>
          <p:nvPr/>
        </p:nvSpPr>
        <p:spPr>
          <a:xfrm>
            <a:off x="3432736" y="357658"/>
            <a:ext cx="4218709" cy="1002647"/>
          </a:xfrm>
          <a:prstGeom prst="rect">
            <a:avLst/>
          </a:prstGeom>
          <a:noFill/>
        </p:spPr>
        <p:txBody>
          <a:bodyPr wrap="square">
            <a:spAutoFit/>
          </a:bodyPr>
          <a:lstStyle/>
          <a:p>
            <a:pPr indent="180340" algn="ctr">
              <a:lnSpc>
                <a:spcPct val="300000"/>
              </a:lnSpc>
              <a:spcAft>
                <a:spcPts val="1000"/>
              </a:spcAft>
            </a:pPr>
            <a:r>
              <a:rPr lang="es-ES" sz="2400" b="1" u="sng" dirty="0">
                <a:effectLst/>
                <a:latin typeface="Times New Roman" panose="02020603050405020304" pitchFamily="18" charset="0"/>
                <a:ea typeface="Calibri" panose="020F0502020204030204" pitchFamily="34" charset="0"/>
                <a:cs typeface="Times New Roman" panose="02020603050405020304" pitchFamily="18" charset="0"/>
              </a:rPr>
              <a:t>Planteamiento del Problema</a:t>
            </a:r>
            <a:endParaRPr lang="es-VE" sz="2000" u="sng"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 de texto 8">
            <a:extLst>
              <a:ext uri="{FF2B5EF4-FFF2-40B4-BE49-F238E27FC236}">
                <a16:creationId xmlns:a16="http://schemas.microsoft.com/office/drawing/2014/main" id="{C5AE5A68-06CE-445B-A5AE-0897691A1426}"/>
              </a:ext>
            </a:extLst>
          </p:cNvPr>
          <p:cNvSpPr txBox="1"/>
          <p:nvPr/>
        </p:nvSpPr>
        <p:spPr>
          <a:xfrm>
            <a:off x="-288478" y="27985"/>
            <a:ext cx="3336426" cy="830997"/>
          </a:xfrm>
          <a:prstGeom prst="rect">
            <a:avLst/>
          </a:prstGeom>
          <a:noFill/>
        </p:spPr>
        <p:txBody>
          <a:bodyPr wrap="square" rtlCol="0">
            <a:spAutoFit/>
          </a:bodyPr>
          <a:lstStyle/>
          <a:p>
            <a:pPr algn="ctr" defTabSz="914400"/>
            <a:r>
              <a:rPr lang="es-ES" altLang="en-US" sz="1600" b="1" dirty="0">
                <a:latin typeface="Calibri Light" panose="020F0302020204030204" pitchFamily="34" charset="0"/>
                <a:cs typeface="Calibri Light" panose="020F0302020204030204" pitchFamily="34" charset="0"/>
              </a:rPr>
              <a:t>CAPÍTULO II</a:t>
            </a:r>
          </a:p>
          <a:p>
            <a:pPr algn="ctr" defTabSz="914400"/>
            <a:r>
              <a:rPr lang="es-ES" altLang="en-US" sz="1600" b="1" dirty="0">
                <a:latin typeface="Calibri Light" panose="020F0302020204030204" pitchFamily="34" charset="0"/>
                <a:cs typeface="Calibri Light" panose="020F0302020204030204" pitchFamily="34" charset="0"/>
              </a:rPr>
              <a:t>DIAGNÓSTICO SITUACIONAL</a:t>
            </a:r>
          </a:p>
          <a:p>
            <a:pPr algn="ctr" defTabSz="914400"/>
            <a:endParaRPr lang="es-ES" altLang="en-US" sz="1600" b="1" dirty="0">
              <a:solidFill>
                <a:prstClr val="white"/>
              </a:solidFill>
              <a:latin typeface="Calibri Light" panose="020F0302020204030204" pitchFamily="34" charset="0"/>
              <a:cs typeface="Calibri Light" panose="020F0302020204030204" pitchFamily="34" charset="0"/>
            </a:endParaRPr>
          </a:p>
        </p:txBody>
      </p:sp>
      <p:pic>
        <p:nvPicPr>
          <p:cNvPr id="10" name="Imagen 9">
            <a:extLst>
              <a:ext uri="{FF2B5EF4-FFF2-40B4-BE49-F238E27FC236}">
                <a16:creationId xmlns:a16="http://schemas.microsoft.com/office/drawing/2014/main" id="{5945F04F-98FD-455F-AB3D-B8B284BB9A8A}"/>
              </a:ext>
            </a:extLst>
          </p:cNvPr>
          <p:cNvPicPr>
            <a:picLocks noChangeAspect="1"/>
          </p:cNvPicPr>
          <p:nvPr/>
        </p:nvPicPr>
        <p:blipFill>
          <a:blip r:embed="rId2"/>
          <a:stretch>
            <a:fillRect/>
          </a:stretch>
        </p:blipFill>
        <p:spPr>
          <a:xfrm>
            <a:off x="8759265" y="218075"/>
            <a:ext cx="3097036" cy="1798476"/>
          </a:xfrm>
          <a:prstGeom prst="rect">
            <a:avLst/>
          </a:prstGeom>
        </p:spPr>
      </p:pic>
      <p:sp>
        <p:nvSpPr>
          <p:cNvPr id="11" name="Rectángulo: esquinas redondeadas 10">
            <a:extLst>
              <a:ext uri="{FF2B5EF4-FFF2-40B4-BE49-F238E27FC236}">
                <a16:creationId xmlns:a16="http://schemas.microsoft.com/office/drawing/2014/main" id="{ECE0FED1-B2B0-4521-A0D6-A9A542696FF8}"/>
              </a:ext>
            </a:extLst>
          </p:cNvPr>
          <p:cNvSpPr/>
          <p:nvPr/>
        </p:nvSpPr>
        <p:spPr>
          <a:xfrm>
            <a:off x="1379735" y="1689979"/>
            <a:ext cx="8672945" cy="514003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indent="180340" algn="just">
              <a:lnSpc>
                <a:spcPct val="150000"/>
              </a:lnSpc>
              <a:tabLst>
                <a:tab pos="3921125" algn="l"/>
              </a:tabLst>
            </a:pPr>
            <a:r>
              <a:rPr lang="es-E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Banesco Banco Universal C.A, es una institución financiera de capital venezolano, dedicada </a:t>
            </a:r>
            <a:r>
              <a:rPr lang="es-ES" sz="16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 </a:t>
            </a:r>
            <a:r>
              <a:rPr lang="es-E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conocer las necesidades de los clientes y satisfacerlas a través de relaciones basadas en confianza mutua, acceso fácil, seguro y excelencia en calidad de servicio. </a:t>
            </a:r>
          </a:p>
          <a:p>
            <a:pPr indent="180340" algn="just">
              <a:lnSpc>
                <a:spcPct val="150000"/>
              </a:lnSpc>
              <a:spcAft>
                <a:spcPts val="1000"/>
              </a:spcAft>
              <a:tabLst>
                <a:tab pos="3921125" algn="l"/>
              </a:tabLst>
            </a:pPr>
            <a:r>
              <a:rPr lang="es-E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Se presenta </a:t>
            </a:r>
            <a:r>
              <a:rPr lang="es-E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en agencia 0331 Parque Cristal, en los últimos meses se  han incrementado quejas de los clientes por el tiempo de espera en el área de promoción, esto ocurre debido a que  en los últimos años, hubo cierres de agencia Bancarias, trayendo como consecuencia la reducción del personal  y reubicación  de los  clientes asignados a las agencias cerradas a las más cercanas de su localidad, en este caso fueron reasignadas  dos (2) agencias  que son la 060 Altamira Sur y 420 Plaza Altamira, elevando la afluencia de los mismos,  la  cual  solo cuenta con un Asesor de Negocio, en la actualidad , encargado de la atención  y de los trabajos internos de la misma.</a:t>
            </a:r>
            <a:endParaRPr lang="es-VE"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indent="180340" algn="just">
              <a:lnSpc>
                <a:spcPct val="150000"/>
              </a:lnSpc>
              <a:spcAft>
                <a:spcPts val="1000"/>
              </a:spcAft>
            </a:pPr>
            <a:r>
              <a:rPr lang="es-E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a:t>
            </a:r>
            <a:r>
              <a:rPr lang="es-E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or lo tanto, hay retraso en la ejecución de las operaciones, ya que son la primera herramienta para facilitar y brindar la solución a los requerimientos de los clientes. En conclusión, no se esta ofreciendo una atenció</a:t>
            </a:r>
            <a:r>
              <a:rPr lang="es-E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 al cliente de calidad</a:t>
            </a:r>
            <a:r>
              <a:rPr lang="es-E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endParaRPr lang="es-VE"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08824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DA89690F-54D3-47A1-8174-9AC14CAD4750}"/>
              </a:ext>
            </a:extLst>
          </p:cNvPr>
          <p:cNvGrpSpPr/>
          <p:nvPr/>
        </p:nvGrpSpPr>
        <p:grpSpPr>
          <a:xfrm>
            <a:off x="973891" y="2391523"/>
            <a:ext cx="9870947" cy="4466477"/>
            <a:chOff x="-42970" y="241631"/>
            <a:chExt cx="9025595" cy="3145685"/>
          </a:xfrm>
          <a:effectLst>
            <a:glow rad="139700">
              <a:schemeClr val="accent3">
                <a:lumMod val="60000"/>
                <a:lumOff val="40000"/>
                <a:alpha val="40000"/>
              </a:schemeClr>
            </a:glow>
          </a:effectLst>
        </p:grpSpPr>
        <p:cxnSp>
          <p:nvCxnSpPr>
            <p:cNvPr id="8" name="Conector recto 7">
              <a:extLst>
                <a:ext uri="{FF2B5EF4-FFF2-40B4-BE49-F238E27FC236}">
                  <a16:creationId xmlns:a16="http://schemas.microsoft.com/office/drawing/2014/main" id="{77CC2E5E-6F2B-4106-9F12-A6CB8A8A30EC}"/>
                </a:ext>
              </a:extLst>
            </p:cNvPr>
            <p:cNvCxnSpPr/>
            <p:nvPr/>
          </p:nvCxnSpPr>
          <p:spPr>
            <a:xfrm flipH="1">
              <a:off x="7647709" y="2695699"/>
              <a:ext cx="0" cy="359410"/>
            </a:xfrm>
            <a:prstGeom prst="line">
              <a:avLst/>
            </a:prstGeom>
            <a:ln w="6350" cap="flat" cmpd="sng">
              <a:solidFill>
                <a:srgbClr val="000000"/>
              </a:solidFill>
              <a:prstDash val="solid"/>
              <a:miter/>
              <a:headEnd type="none" w="med" len="med"/>
              <a:tailEnd type="none" w="med" len="med"/>
            </a:ln>
          </p:spPr>
        </p:cxnSp>
        <p:cxnSp>
          <p:nvCxnSpPr>
            <p:cNvPr id="9" name="Conector recto 8">
              <a:extLst>
                <a:ext uri="{FF2B5EF4-FFF2-40B4-BE49-F238E27FC236}">
                  <a16:creationId xmlns:a16="http://schemas.microsoft.com/office/drawing/2014/main" id="{28C1AA02-35EE-4086-AB3C-11A011147156}"/>
                </a:ext>
              </a:extLst>
            </p:cNvPr>
            <p:cNvCxnSpPr/>
            <p:nvPr/>
          </p:nvCxnSpPr>
          <p:spPr>
            <a:xfrm flipH="1">
              <a:off x="2600696" y="2695699"/>
              <a:ext cx="0" cy="359410"/>
            </a:xfrm>
            <a:prstGeom prst="line">
              <a:avLst/>
            </a:prstGeom>
            <a:ln w="6350" cap="flat" cmpd="sng">
              <a:solidFill>
                <a:srgbClr val="000000"/>
              </a:solidFill>
              <a:prstDash val="solid"/>
              <a:miter/>
              <a:headEnd type="none" w="med" len="med"/>
              <a:tailEnd type="none" w="med" len="med"/>
            </a:ln>
          </p:spPr>
        </p:cxnSp>
        <p:sp>
          <p:nvSpPr>
            <p:cNvPr id="10" name="Rectángulo redondeado 13">
              <a:extLst>
                <a:ext uri="{FF2B5EF4-FFF2-40B4-BE49-F238E27FC236}">
                  <a16:creationId xmlns:a16="http://schemas.microsoft.com/office/drawing/2014/main" id="{9B98BAD8-B951-4751-9F36-E84C22D3FB44}"/>
                </a:ext>
              </a:extLst>
            </p:cNvPr>
            <p:cNvSpPr/>
            <p:nvPr/>
          </p:nvSpPr>
          <p:spPr>
            <a:xfrm>
              <a:off x="-42970" y="1750675"/>
              <a:ext cx="1710047" cy="299085"/>
            </a:xfrm>
            <a:prstGeom prst="roundRect">
              <a:avLst>
                <a:gd name="adj" fmla="val 1666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square" upright="1"/>
            <a:lstStyle/>
            <a:p>
              <a:pPr algn="ctr" defTabSz="914400">
                <a:lnSpc>
                  <a:spcPct val="120000"/>
                </a:lnSpc>
                <a:spcAft>
                  <a:spcPts val="1000"/>
                </a:spcAft>
              </a:pPr>
              <a:r>
                <a:rPr lang="en-US" sz="1400" b="1" dirty="0">
                  <a:solidFill>
                    <a:srgbClr val="000000"/>
                  </a:solidFill>
                  <a:latin typeface="Calibri Light"/>
                  <a:ea typeface="SimSun" panose="02010600030101010101" pitchFamily="2" charset="-122"/>
                  <a:cs typeface="Times New Roman" panose="02020603050405020304" pitchFamily="18" charset="0"/>
                </a:rPr>
                <a:t>PROBLEMA CENTRAL</a:t>
              </a:r>
              <a:endParaRPr lang="es-VE" sz="1400" b="1" dirty="0">
                <a:solidFill>
                  <a:prstClr val="black"/>
                </a:solidFill>
                <a:latin typeface="Calibri Light"/>
                <a:ea typeface="SimSun" panose="02010600030101010101" pitchFamily="2" charset="-122"/>
                <a:cs typeface="Times New Roman" panose="02020603050405020304" pitchFamily="18" charset="0"/>
              </a:endParaRPr>
            </a:p>
          </p:txBody>
        </p:sp>
        <p:sp>
          <p:nvSpPr>
            <p:cNvPr id="11" name="Rectángulo redondeado 14">
              <a:extLst>
                <a:ext uri="{FF2B5EF4-FFF2-40B4-BE49-F238E27FC236}">
                  <a16:creationId xmlns:a16="http://schemas.microsoft.com/office/drawing/2014/main" id="{95FF6081-4412-45AE-8D42-E019A790260E}"/>
                </a:ext>
              </a:extLst>
            </p:cNvPr>
            <p:cNvSpPr/>
            <p:nvPr/>
          </p:nvSpPr>
          <p:spPr>
            <a:xfrm>
              <a:off x="298334" y="2957970"/>
              <a:ext cx="879676" cy="299085"/>
            </a:xfrm>
            <a:prstGeom prst="roundRect">
              <a:avLst>
                <a:gd name="adj" fmla="val 1666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square" upright="1"/>
            <a:lstStyle/>
            <a:p>
              <a:pPr algn="ctr" defTabSz="914400">
                <a:lnSpc>
                  <a:spcPct val="120000"/>
                </a:lnSpc>
                <a:spcAft>
                  <a:spcPts val="1000"/>
                </a:spcAft>
              </a:pPr>
              <a:r>
                <a:rPr lang="en-US" sz="1400" b="1" dirty="0">
                  <a:solidFill>
                    <a:srgbClr val="000000"/>
                  </a:solidFill>
                  <a:latin typeface="Calibri Light"/>
                  <a:ea typeface="SimSun" panose="02010600030101010101" pitchFamily="2" charset="-122"/>
                  <a:cs typeface="Times New Roman" panose="02020603050405020304" pitchFamily="18" charset="0"/>
                </a:rPr>
                <a:t>CAUSAS</a:t>
              </a:r>
              <a:endParaRPr lang="es-VE" sz="1400" b="1" dirty="0">
                <a:solidFill>
                  <a:prstClr val="black"/>
                </a:solidFill>
                <a:latin typeface="Calibri Light"/>
                <a:ea typeface="SimSun" panose="02010600030101010101" pitchFamily="2" charset="-122"/>
                <a:cs typeface="Times New Roman" panose="02020603050405020304" pitchFamily="18" charset="0"/>
              </a:endParaRPr>
            </a:p>
          </p:txBody>
        </p:sp>
        <p:sp>
          <p:nvSpPr>
            <p:cNvPr id="12" name="Rectángulo redondeado 15">
              <a:extLst>
                <a:ext uri="{FF2B5EF4-FFF2-40B4-BE49-F238E27FC236}">
                  <a16:creationId xmlns:a16="http://schemas.microsoft.com/office/drawing/2014/main" id="{0A6A6650-8457-4E01-B22A-B50265B0CD9D}"/>
                </a:ext>
              </a:extLst>
            </p:cNvPr>
            <p:cNvSpPr/>
            <p:nvPr/>
          </p:nvSpPr>
          <p:spPr>
            <a:xfrm>
              <a:off x="1667077" y="2945658"/>
              <a:ext cx="1765300" cy="299085"/>
            </a:xfrm>
            <a:prstGeom prst="roundRect">
              <a:avLst>
                <a:gd name="adj" fmla="val 1666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square" upright="1"/>
            <a:lstStyle/>
            <a:p>
              <a:pPr algn="ctr" defTabSz="914400">
                <a:lnSpc>
                  <a:spcPct val="120000"/>
                </a:lnSpc>
                <a:spcAft>
                  <a:spcPts val="1000"/>
                </a:spcAft>
              </a:pPr>
              <a:r>
                <a:rPr lang="es-ES" sz="16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Poco Personal </a:t>
              </a:r>
              <a:endParaRPr lang="es-VE" sz="16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3" name="Rectángulo redondeado 16">
              <a:extLst>
                <a:ext uri="{FF2B5EF4-FFF2-40B4-BE49-F238E27FC236}">
                  <a16:creationId xmlns:a16="http://schemas.microsoft.com/office/drawing/2014/main" id="{7B1AA7F4-8C6D-4A10-B34A-3561D766E06B}"/>
                </a:ext>
              </a:extLst>
            </p:cNvPr>
            <p:cNvSpPr/>
            <p:nvPr/>
          </p:nvSpPr>
          <p:spPr>
            <a:xfrm>
              <a:off x="43283" y="241631"/>
              <a:ext cx="1386231" cy="299085"/>
            </a:xfrm>
            <a:prstGeom prst="roundRect">
              <a:avLst>
                <a:gd name="adj" fmla="val 1666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square" upright="1"/>
            <a:lstStyle/>
            <a:p>
              <a:pPr algn="ctr" defTabSz="914400">
                <a:lnSpc>
                  <a:spcPct val="120000"/>
                </a:lnSpc>
                <a:spcAft>
                  <a:spcPts val="1000"/>
                </a:spcAft>
              </a:pPr>
              <a:r>
                <a:rPr lang="es-ES" sz="1400" b="1" dirty="0">
                  <a:solidFill>
                    <a:prstClr val="black"/>
                  </a:solidFill>
                  <a:latin typeface="Calibri Light"/>
                  <a:ea typeface="SimSun" panose="02010600030101010101" pitchFamily="2" charset="-122"/>
                  <a:cs typeface="Times New Roman" panose="02020603050405020304" pitchFamily="18" charset="0"/>
                </a:rPr>
                <a:t>EFECTOS</a:t>
              </a:r>
              <a:endParaRPr lang="es-VE" sz="1400" b="1" dirty="0">
                <a:solidFill>
                  <a:prstClr val="black"/>
                </a:solidFill>
                <a:latin typeface="Calibri Light"/>
                <a:ea typeface="SimSun" panose="02010600030101010101" pitchFamily="2" charset="-122"/>
                <a:cs typeface="Times New Roman" panose="02020603050405020304" pitchFamily="18" charset="0"/>
              </a:endParaRPr>
            </a:p>
          </p:txBody>
        </p:sp>
        <p:sp>
          <p:nvSpPr>
            <p:cNvPr id="14" name="Rectángulo redondeado 17">
              <a:extLst>
                <a:ext uri="{FF2B5EF4-FFF2-40B4-BE49-F238E27FC236}">
                  <a16:creationId xmlns:a16="http://schemas.microsoft.com/office/drawing/2014/main" id="{675B4501-2603-4D3D-8E86-E0F44A4F0B0B}"/>
                </a:ext>
              </a:extLst>
            </p:cNvPr>
            <p:cNvSpPr/>
            <p:nvPr/>
          </p:nvSpPr>
          <p:spPr>
            <a:xfrm>
              <a:off x="1683318" y="540716"/>
              <a:ext cx="2118620" cy="532290"/>
            </a:xfrm>
            <a:prstGeom prst="roundRect">
              <a:avLst>
                <a:gd name="adj" fmla="val 1666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square" upright="1"/>
            <a:lstStyle/>
            <a:p>
              <a:pPr algn="ctr" defTabSz="914400">
                <a:lnSpc>
                  <a:spcPct val="120000"/>
                </a:lnSpc>
                <a:spcAft>
                  <a:spcPts val="1000"/>
                </a:spcAft>
              </a:pPr>
              <a:endParaRPr lang="es-VE" sz="1400" dirty="0">
                <a:solidFill>
                  <a:prstClr val="black"/>
                </a:solidFill>
                <a:latin typeface="Calibri Light"/>
                <a:ea typeface="SimSun" panose="02010600030101010101" pitchFamily="2" charset="-122"/>
                <a:cs typeface="Times New Roman" panose="02020603050405020304" pitchFamily="18" charset="0"/>
              </a:endParaRPr>
            </a:p>
          </p:txBody>
        </p:sp>
        <p:sp>
          <p:nvSpPr>
            <p:cNvPr id="15" name="Rectángulo redondeado 18">
              <a:extLst>
                <a:ext uri="{FF2B5EF4-FFF2-40B4-BE49-F238E27FC236}">
                  <a16:creationId xmlns:a16="http://schemas.microsoft.com/office/drawing/2014/main" id="{FC55ECE5-D469-49EA-A35D-156CA0DD7897}"/>
                </a:ext>
              </a:extLst>
            </p:cNvPr>
            <p:cNvSpPr/>
            <p:nvPr/>
          </p:nvSpPr>
          <p:spPr>
            <a:xfrm>
              <a:off x="4104129" y="561017"/>
              <a:ext cx="2096770" cy="383257"/>
            </a:xfrm>
            <a:prstGeom prst="roundRect">
              <a:avLst>
                <a:gd name="adj" fmla="val 1666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square" upright="1"/>
            <a:lstStyle/>
            <a:p>
              <a:pPr algn="ctr" defTabSz="914400">
                <a:lnSpc>
                  <a:spcPct val="120000"/>
                </a:lnSpc>
                <a:spcAft>
                  <a:spcPts val="1000"/>
                </a:spcAft>
              </a:pPr>
              <a:endParaRPr lang="es-VE" sz="1400" dirty="0">
                <a:solidFill>
                  <a:prstClr val="black"/>
                </a:solidFill>
                <a:highlight>
                  <a:srgbClr val="CCFF33"/>
                </a:highlight>
                <a:latin typeface="Calibri Light"/>
                <a:ea typeface="SimSun" panose="02010600030101010101" pitchFamily="2" charset="-122"/>
                <a:cs typeface="Times New Roman" panose="02020603050405020304" pitchFamily="18" charset="0"/>
              </a:endParaRPr>
            </a:p>
          </p:txBody>
        </p:sp>
        <p:sp>
          <p:nvSpPr>
            <p:cNvPr id="16" name="Rectángulo redondeado 19">
              <a:extLst>
                <a:ext uri="{FF2B5EF4-FFF2-40B4-BE49-F238E27FC236}">
                  <a16:creationId xmlns:a16="http://schemas.microsoft.com/office/drawing/2014/main" id="{1A46FB2D-1DDF-4CF1-835B-7DA2C16AC49F}"/>
                </a:ext>
              </a:extLst>
            </p:cNvPr>
            <p:cNvSpPr/>
            <p:nvPr/>
          </p:nvSpPr>
          <p:spPr>
            <a:xfrm>
              <a:off x="6512092" y="692710"/>
              <a:ext cx="2308405" cy="254697"/>
            </a:xfrm>
            <a:prstGeom prst="roundRect">
              <a:avLst>
                <a:gd name="adj" fmla="val 1666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square" upright="1"/>
            <a:lstStyle/>
            <a:p>
              <a:pPr algn="ctr" defTabSz="914400">
                <a:lnSpc>
                  <a:spcPct val="120000"/>
                </a:lnSpc>
                <a:spcAft>
                  <a:spcPts val="1000"/>
                </a:spcAft>
              </a:pPr>
              <a:endParaRPr lang="es-VE" sz="1400" dirty="0">
                <a:solidFill>
                  <a:prstClr val="black"/>
                </a:solidFill>
                <a:latin typeface="Calibri Light"/>
                <a:ea typeface="SimSun" panose="02010600030101010101" pitchFamily="2" charset="-122"/>
                <a:cs typeface="Times New Roman" panose="02020603050405020304" pitchFamily="18" charset="0"/>
              </a:endParaRPr>
            </a:p>
          </p:txBody>
        </p:sp>
        <p:sp>
          <p:nvSpPr>
            <p:cNvPr id="17" name="Rectángulo redondeado 20">
              <a:extLst>
                <a:ext uri="{FF2B5EF4-FFF2-40B4-BE49-F238E27FC236}">
                  <a16:creationId xmlns:a16="http://schemas.microsoft.com/office/drawing/2014/main" id="{0AA54B6B-9C49-4D8E-BE3D-18C0C1C26660}"/>
                </a:ext>
              </a:extLst>
            </p:cNvPr>
            <p:cNvSpPr/>
            <p:nvPr/>
          </p:nvSpPr>
          <p:spPr>
            <a:xfrm>
              <a:off x="6425962" y="2897645"/>
              <a:ext cx="2556663" cy="359410"/>
            </a:xfrm>
            <a:prstGeom prst="roundRect">
              <a:avLst>
                <a:gd name="adj" fmla="val 1666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square" upright="1"/>
            <a:lstStyle/>
            <a:p>
              <a:pPr algn="ctr" defTabSz="914400">
                <a:lnSpc>
                  <a:spcPct val="120000"/>
                </a:lnSpc>
                <a:spcAft>
                  <a:spcPts val="1000"/>
                </a:spcAft>
              </a:pPr>
              <a:r>
                <a:rPr lang="es-E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Inconveniente con el Sistema</a:t>
              </a:r>
              <a:endParaRPr lang="es-VE"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defTabSz="914400">
                <a:lnSpc>
                  <a:spcPct val="120000"/>
                </a:lnSpc>
                <a:spcAft>
                  <a:spcPts val="1000"/>
                </a:spcAft>
              </a:pPr>
              <a:endParaRPr lang="es-VE" sz="1400" dirty="0">
                <a:solidFill>
                  <a:prstClr val="black"/>
                </a:solidFill>
                <a:latin typeface="Calibri Light"/>
                <a:ea typeface="SimSun" panose="02010600030101010101" pitchFamily="2" charset="-122"/>
                <a:cs typeface="Times New Roman" panose="02020603050405020304" pitchFamily="18" charset="0"/>
              </a:endParaRPr>
            </a:p>
          </p:txBody>
        </p:sp>
        <p:sp>
          <p:nvSpPr>
            <p:cNvPr id="18" name="Rectángulo redondeado 21">
              <a:extLst>
                <a:ext uri="{FF2B5EF4-FFF2-40B4-BE49-F238E27FC236}">
                  <a16:creationId xmlns:a16="http://schemas.microsoft.com/office/drawing/2014/main" id="{F9835247-BCD0-42BB-8A70-87BCF1880B44}"/>
                </a:ext>
              </a:extLst>
            </p:cNvPr>
            <p:cNvSpPr/>
            <p:nvPr/>
          </p:nvSpPr>
          <p:spPr>
            <a:xfrm>
              <a:off x="2764559" y="1669778"/>
              <a:ext cx="4883150" cy="608681"/>
            </a:xfrm>
            <a:prstGeom prst="roundRect">
              <a:avLst>
                <a:gd name="adj" fmla="val 1666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square" upright="1"/>
            <a:lstStyle/>
            <a:p>
              <a:pPr algn="ctr" defTabSz="914400">
                <a:lnSpc>
                  <a:spcPct val="120000"/>
                </a:lnSpc>
                <a:spcAft>
                  <a:spcPts val="1000"/>
                </a:spcAft>
              </a:pPr>
              <a:endParaRPr lang="es-VE" sz="1400" dirty="0">
                <a:solidFill>
                  <a:prstClr val="black"/>
                </a:solidFill>
                <a:latin typeface="Calibri Light"/>
                <a:ea typeface="SimSun" panose="02010600030101010101" pitchFamily="2" charset="-122"/>
                <a:cs typeface="Times New Roman" panose="02020603050405020304" pitchFamily="18" charset="0"/>
              </a:endParaRPr>
            </a:p>
          </p:txBody>
        </p:sp>
        <p:sp>
          <p:nvSpPr>
            <p:cNvPr id="19" name="Rectángulo redondeado 22">
              <a:extLst>
                <a:ext uri="{FF2B5EF4-FFF2-40B4-BE49-F238E27FC236}">
                  <a16:creationId xmlns:a16="http://schemas.microsoft.com/office/drawing/2014/main" id="{F68FDE40-81C0-457F-B87A-19AFE35C55BE}"/>
                </a:ext>
              </a:extLst>
            </p:cNvPr>
            <p:cNvSpPr/>
            <p:nvPr/>
          </p:nvSpPr>
          <p:spPr>
            <a:xfrm>
              <a:off x="3931500" y="2880757"/>
              <a:ext cx="2156078" cy="506559"/>
            </a:xfrm>
            <a:prstGeom prst="roundRect">
              <a:avLst>
                <a:gd name="adj" fmla="val 1666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square" upright="1"/>
            <a:lstStyle/>
            <a:p>
              <a:pPr algn="ctr" defTabSz="914400">
                <a:lnSpc>
                  <a:spcPct val="120000"/>
                </a:lnSpc>
                <a:spcAft>
                  <a:spcPts val="1000"/>
                </a:spcAft>
              </a:pPr>
              <a:r>
                <a:rPr lang="es-E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Problema con la Impresora</a:t>
              </a:r>
              <a:endParaRPr lang="es-VE"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defTabSz="914400">
                <a:lnSpc>
                  <a:spcPct val="120000"/>
                </a:lnSpc>
                <a:spcAft>
                  <a:spcPts val="1000"/>
                </a:spcAft>
              </a:pPr>
              <a:endParaRPr lang="es-VE" sz="1400" dirty="0">
                <a:solidFill>
                  <a:prstClr val="black"/>
                </a:solidFill>
                <a:latin typeface="Calibri Light"/>
                <a:ea typeface="SimSun" panose="02010600030101010101" pitchFamily="2" charset="-122"/>
                <a:cs typeface="Times New Roman" panose="02020603050405020304" pitchFamily="18" charset="0"/>
              </a:endParaRPr>
            </a:p>
          </p:txBody>
        </p:sp>
        <p:cxnSp>
          <p:nvCxnSpPr>
            <p:cNvPr id="20" name="Conector recto 19">
              <a:extLst>
                <a:ext uri="{FF2B5EF4-FFF2-40B4-BE49-F238E27FC236}">
                  <a16:creationId xmlns:a16="http://schemas.microsoft.com/office/drawing/2014/main" id="{70DB048C-ADB7-4124-8982-2C061C7C2AC0}"/>
                </a:ext>
              </a:extLst>
            </p:cNvPr>
            <p:cNvCxnSpPr/>
            <p:nvPr/>
          </p:nvCxnSpPr>
          <p:spPr>
            <a:xfrm>
              <a:off x="2719449" y="1330036"/>
              <a:ext cx="4883150" cy="0"/>
            </a:xfrm>
            <a:prstGeom prst="line">
              <a:avLst/>
            </a:prstGeom>
            <a:ln w="6350" cap="flat" cmpd="sng">
              <a:solidFill>
                <a:srgbClr val="000000"/>
              </a:solidFill>
              <a:prstDash val="solid"/>
              <a:miter/>
              <a:headEnd type="none" w="med" len="med"/>
              <a:tailEnd type="none" w="med" len="med"/>
            </a:ln>
          </p:spPr>
        </p:cxnSp>
        <p:cxnSp>
          <p:nvCxnSpPr>
            <p:cNvPr id="21" name="Conector recto de flecha 20">
              <a:extLst>
                <a:ext uri="{FF2B5EF4-FFF2-40B4-BE49-F238E27FC236}">
                  <a16:creationId xmlns:a16="http://schemas.microsoft.com/office/drawing/2014/main" id="{5E117317-4AC6-4812-A2D0-10DC578B0C21}"/>
                </a:ext>
              </a:extLst>
            </p:cNvPr>
            <p:cNvCxnSpPr>
              <a:cxnSpLocks/>
            </p:cNvCxnSpPr>
            <p:nvPr/>
          </p:nvCxnSpPr>
          <p:spPr>
            <a:xfrm flipV="1">
              <a:off x="2719449" y="1071174"/>
              <a:ext cx="0" cy="258640"/>
            </a:xfrm>
            <a:prstGeom prst="straightConnector1">
              <a:avLst/>
            </a:prstGeom>
            <a:ln w="6350" cap="flat" cmpd="sng">
              <a:solidFill>
                <a:srgbClr val="000000"/>
              </a:solidFill>
              <a:prstDash val="solid"/>
              <a:miter/>
              <a:headEnd type="none" w="med" len="med"/>
              <a:tailEnd type="triangle" w="med" len="med"/>
            </a:ln>
          </p:spPr>
        </p:cxnSp>
        <p:cxnSp>
          <p:nvCxnSpPr>
            <p:cNvPr id="22" name="Conector recto 21">
              <a:extLst>
                <a:ext uri="{FF2B5EF4-FFF2-40B4-BE49-F238E27FC236}">
                  <a16:creationId xmlns:a16="http://schemas.microsoft.com/office/drawing/2014/main" id="{B74606CD-5364-4580-85DC-246827A379B6}"/>
                </a:ext>
              </a:extLst>
            </p:cNvPr>
            <p:cNvCxnSpPr>
              <a:cxnSpLocks/>
            </p:cNvCxnSpPr>
            <p:nvPr/>
          </p:nvCxnSpPr>
          <p:spPr>
            <a:xfrm flipH="1" flipV="1">
              <a:off x="5132568" y="978428"/>
              <a:ext cx="9446" cy="698017"/>
            </a:xfrm>
            <a:prstGeom prst="line">
              <a:avLst/>
            </a:prstGeom>
            <a:ln w="12700" cap="flat" cmpd="sng">
              <a:solidFill>
                <a:srgbClr val="000000"/>
              </a:solidFill>
              <a:prstDash val="solid"/>
              <a:miter/>
              <a:headEnd type="none" w="med" len="med"/>
              <a:tailEnd type="triangle" w="med" len="med"/>
            </a:ln>
          </p:spPr>
        </p:cxnSp>
        <p:cxnSp>
          <p:nvCxnSpPr>
            <p:cNvPr id="23" name="Conector recto de flecha 22">
              <a:extLst>
                <a:ext uri="{FF2B5EF4-FFF2-40B4-BE49-F238E27FC236}">
                  <a16:creationId xmlns:a16="http://schemas.microsoft.com/office/drawing/2014/main" id="{3DAF43AF-9C06-40CD-AAAD-29B2D92601FF}"/>
                </a:ext>
              </a:extLst>
            </p:cNvPr>
            <p:cNvCxnSpPr>
              <a:cxnSpLocks/>
            </p:cNvCxnSpPr>
            <p:nvPr/>
          </p:nvCxnSpPr>
          <p:spPr>
            <a:xfrm flipV="1">
              <a:off x="7600208" y="978428"/>
              <a:ext cx="2391" cy="344525"/>
            </a:xfrm>
            <a:prstGeom prst="straightConnector1">
              <a:avLst/>
            </a:prstGeom>
            <a:ln w="6350" cap="flat" cmpd="sng">
              <a:solidFill>
                <a:srgbClr val="000000"/>
              </a:solidFill>
              <a:prstDash val="solid"/>
              <a:miter/>
              <a:headEnd type="none" w="med" len="med"/>
              <a:tailEnd type="triangle" w="med" len="med"/>
            </a:ln>
          </p:spPr>
        </p:cxnSp>
        <p:cxnSp>
          <p:nvCxnSpPr>
            <p:cNvPr id="24" name="Conector recto 23">
              <a:extLst>
                <a:ext uri="{FF2B5EF4-FFF2-40B4-BE49-F238E27FC236}">
                  <a16:creationId xmlns:a16="http://schemas.microsoft.com/office/drawing/2014/main" id="{E01ACB2C-041B-4E3F-A4CB-2D569F08AB7D}"/>
                </a:ext>
              </a:extLst>
            </p:cNvPr>
            <p:cNvCxnSpPr/>
            <p:nvPr/>
          </p:nvCxnSpPr>
          <p:spPr>
            <a:xfrm>
              <a:off x="2612572" y="2695699"/>
              <a:ext cx="5039995" cy="0"/>
            </a:xfrm>
            <a:prstGeom prst="line">
              <a:avLst/>
            </a:prstGeom>
            <a:ln w="6350" cap="flat" cmpd="sng">
              <a:solidFill>
                <a:srgbClr val="000000"/>
              </a:solidFill>
              <a:prstDash val="solid"/>
              <a:miter/>
              <a:headEnd type="none" w="med" len="med"/>
              <a:tailEnd type="none" w="med" len="med"/>
            </a:ln>
          </p:spPr>
        </p:cxnSp>
      </p:grpSp>
      <p:pic>
        <p:nvPicPr>
          <p:cNvPr id="25" name="Imagen 24">
            <a:extLst>
              <a:ext uri="{FF2B5EF4-FFF2-40B4-BE49-F238E27FC236}">
                <a16:creationId xmlns:a16="http://schemas.microsoft.com/office/drawing/2014/main" id="{A339249A-ED5B-4AD0-9F74-2F6CBC82A88C}"/>
              </a:ext>
            </a:extLst>
          </p:cNvPr>
          <p:cNvPicPr>
            <a:picLocks noChangeAspect="1"/>
          </p:cNvPicPr>
          <p:nvPr/>
        </p:nvPicPr>
        <p:blipFill>
          <a:blip r:embed="rId2"/>
          <a:stretch>
            <a:fillRect/>
          </a:stretch>
        </p:blipFill>
        <p:spPr>
          <a:xfrm>
            <a:off x="8705736" y="53607"/>
            <a:ext cx="2867629" cy="1537855"/>
          </a:xfrm>
          <a:prstGeom prst="rect">
            <a:avLst/>
          </a:prstGeom>
        </p:spPr>
      </p:pic>
      <p:sp>
        <p:nvSpPr>
          <p:cNvPr id="27" name="Cuadro de texto 8">
            <a:extLst>
              <a:ext uri="{FF2B5EF4-FFF2-40B4-BE49-F238E27FC236}">
                <a16:creationId xmlns:a16="http://schemas.microsoft.com/office/drawing/2014/main" id="{14FF5F7A-D7C2-42F7-8219-7DB44F897DBD}"/>
              </a:ext>
            </a:extLst>
          </p:cNvPr>
          <p:cNvSpPr txBox="1"/>
          <p:nvPr/>
        </p:nvSpPr>
        <p:spPr>
          <a:xfrm>
            <a:off x="0" y="0"/>
            <a:ext cx="2867629" cy="830997"/>
          </a:xfrm>
          <a:prstGeom prst="rect">
            <a:avLst/>
          </a:prstGeom>
          <a:noFill/>
        </p:spPr>
        <p:txBody>
          <a:bodyPr wrap="square" rtlCol="0">
            <a:spAutoFit/>
          </a:bodyPr>
          <a:lstStyle/>
          <a:p>
            <a:pPr algn="ctr" defTabSz="914400"/>
            <a:r>
              <a:rPr lang="es-ES" altLang="en-US" sz="1600" b="1" dirty="0">
                <a:latin typeface="Calibri Light" panose="020F0302020204030204" pitchFamily="34" charset="0"/>
                <a:cs typeface="Calibri Light" panose="020F0302020204030204" pitchFamily="34" charset="0"/>
              </a:rPr>
              <a:t>CAPÍTULO II</a:t>
            </a:r>
          </a:p>
          <a:p>
            <a:pPr algn="ctr" defTabSz="914400"/>
            <a:r>
              <a:rPr lang="es-ES" altLang="en-US" sz="1600" b="1" dirty="0">
                <a:latin typeface="Calibri Light" panose="020F0302020204030204" pitchFamily="34" charset="0"/>
                <a:cs typeface="Calibri Light" panose="020F0302020204030204" pitchFamily="34" charset="0"/>
              </a:rPr>
              <a:t>DIAGNÓSTICO SITUACIONAL</a:t>
            </a:r>
          </a:p>
          <a:p>
            <a:pPr algn="ctr" defTabSz="914400"/>
            <a:endParaRPr lang="es-ES" altLang="en-US" sz="1600" b="1" dirty="0">
              <a:solidFill>
                <a:prstClr val="white"/>
              </a:solidFill>
              <a:latin typeface="Calibri Light" panose="020F0302020204030204" pitchFamily="34" charset="0"/>
              <a:cs typeface="Calibri Light" panose="020F0302020204030204" pitchFamily="34" charset="0"/>
            </a:endParaRPr>
          </a:p>
        </p:txBody>
      </p:sp>
      <p:sp>
        <p:nvSpPr>
          <p:cNvPr id="29" name="CuadroTexto 28">
            <a:extLst>
              <a:ext uri="{FF2B5EF4-FFF2-40B4-BE49-F238E27FC236}">
                <a16:creationId xmlns:a16="http://schemas.microsoft.com/office/drawing/2014/main" id="{5CE86334-257B-4D2E-B109-5D4E3390CFEF}"/>
              </a:ext>
            </a:extLst>
          </p:cNvPr>
          <p:cNvSpPr txBox="1"/>
          <p:nvPr/>
        </p:nvSpPr>
        <p:spPr>
          <a:xfrm>
            <a:off x="4365757" y="4432678"/>
            <a:ext cx="4649556" cy="640688"/>
          </a:xfrm>
          <a:prstGeom prst="rect">
            <a:avLst/>
          </a:prstGeom>
          <a:noFill/>
          <a:effectLst>
            <a:glow rad="228600">
              <a:schemeClr val="accent4">
                <a:satMod val="175000"/>
                <a:alpha val="40000"/>
              </a:schemeClr>
            </a:glow>
          </a:effectLst>
        </p:spPr>
        <p:txBody>
          <a:bodyPr wrap="square">
            <a:spAutoFit/>
          </a:bodyPr>
          <a:lstStyle/>
          <a:p>
            <a:pPr algn="ctr">
              <a:lnSpc>
                <a:spcPct val="115000"/>
              </a:lnSpc>
              <a:spcAft>
                <a:spcPts val="1000"/>
              </a:spcAft>
            </a:pP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Aumento de quejas de los clientes por el tiempo de espera en agencia para la atención al cliente.</a:t>
            </a:r>
            <a:endParaRPr lang="es-VE"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5" name="CuadroTexto 34">
            <a:extLst>
              <a:ext uri="{FF2B5EF4-FFF2-40B4-BE49-F238E27FC236}">
                <a16:creationId xmlns:a16="http://schemas.microsoft.com/office/drawing/2014/main" id="{6D8AAF44-2FE7-4382-B667-3F8D4CC4F205}"/>
              </a:ext>
            </a:extLst>
          </p:cNvPr>
          <p:cNvSpPr txBox="1"/>
          <p:nvPr/>
        </p:nvSpPr>
        <p:spPr>
          <a:xfrm>
            <a:off x="8106429" y="3012799"/>
            <a:ext cx="2299593" cy="331694"/>
          </a:xfrm>
          <a:prstGeom prst="rect">
            <a:avLst/>
          </a:prstGeom>
          <a:noFill/>
        </p:spPr>
        <p:txBody>
          <a:bodyPr wrap="square">
            <a:spAutoFit/>
          </a:bodyPr>
          <a:lstStyle/>
          <a:p>
            <a:pPr marL="117475" marR="112395" indent="208280">
              <a:lnSpc>
                <a:spcPct val="101000"/>
              </a:lnSpc>
              <a:spcBef>
                <a:spcPts val="500"/>
              </a:spcBef>
              <a:spcAft>
                <a:spcPts val="1000"/>
              </a:spcAft>
            </a:pP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Perdida de Ventas</a:t>
            </a:r>
            <a:endParaRPr lang="es-VE"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CuadroTexto 36">
            <a:extLst>
              <a:ext uri="{FF2B5EF4-FFF2-40B4-BE49-F238E27FC236}">
                <a16:creationId xmlns:a16="http://schemas.microsoft.com/office/drawing/2014/main" id="{D7F21279-6700-44F9-B597-BB8816130A72}"/>
              </a:ext>
            </a:extLst>
          </p:cNvPr>
          <p:cNvSpPr txBox="1"/>
          <p:nvPr/>
        </p:nvSpPr>
        <p:spPr>
          <a:xfrm>
            <a:off x="5242661" y="2912091"/>
            <a:ext cx="2783319" cy="331694"/>
          </a:xfrm>
          <a:prstGeom prst="rect">
            <a:avLst/>
          </a:prstGeom>
          <a:noFill/>
        </p:spPr>
        <p:txBody>
          <a:bodyPr wrap="square">
            <a:spAutoFit/>
          </a:bodyPr>
          <a:lstStyle/>
          <a:p>
            <a:pPr marL="114935" marR="114300" indent="1270" algn="ctr">
              <a:lnSpc>
                <a:spcPct val="101000"/>
              </a:lnSpc>
              <a:spcBef>
                <a:spcPts val="365"/>
              </a:spcBef>
              <a:spcAft>
                <a:spcPts val="1000"/>
              </a:spcAft>
            </a:pP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Pérdida de Clientes </a:t>
            </a:r>
            <a:endParaRPr lang="es-VE"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 name="CuadroTexto 38">
            <a:extLst>
              <a:ext uri="{FF2B5EF4-FFF2-40B4-BE49-F238E27FC236}">
                <a16:creationId xmlns:a16="http://schemas.microsoft.com/office/drawing/2014/main" id="{6A90722C-4D34-4C7D-AD12-45996352D425}"/>
              </a:ext>
            </a:extLst>
          </p:cNvPr>
          <p:cNvSpPr txBox="1"/>
          <p:nvPr/>
        </p:nvSpPr>
        <p:spPr>
          <a:xfrm>
            <a:off x="2515474" y="2872390"/>
            <a:ext cx="2853781" cy="584775"/>
          </a:xfrm>
          <a:prstGeom prst="rect">
            <a:avLst/>
          </a:prstGeom>
          <a:noFill/>
        </p:spPr>
        <p:txBody>
          <a:bodyPr wrap="square">
            <a:spAutoFit/>
          </a:bodyPr>
          <a:lstStyle/>
          <a:p>
            <a:pPr marL="236220" marR="236220" algn="ctr">
              <a:lnSpc>
                <a:spcPct val="100000"/>
              </a:lnSpc>
              <a:spcBef>
                <a:spcPts val="620"/>
              </a:spcBef>
              <a:spcAft>
                <a:spcPts val="1000"/>
              </a:spcAft>
            </a:pP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Perdida de la Imagen del Banco</a:t>
            </a:r>
            <a:endParaRPr lang="es-VE"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0" name="Rectángulo 39">
            <a:extLst>
              <a:ext uri="{FF2B5EF4-FFF2-40B4-BE49-F238E27FC236}">
                <a16:creationId xmlns:a16="http://schemas.microsoft.com/office/drawing/2014/main" id="{650CE65B-0612-407D-9193-3FC934320CA6}"/>
              </a:ext>
            </a:extLst>
          </p:cNvPr>
          <p:cNvSpPr/>
          <p:nvPr/>
        </p:nvSpPr>
        <p:spPr>
          <a:xfrm>
            <a:off x="4221189" y="612210"/>
            <a:ext cx="2993128" cy="492764"/>
          </a:xfrm>
          <a:prstGeom prst="rect">
            <a:avLst/>
          </a:prstGeom>
        </p:spPr>
        <p:txBody>
          <a:bodyPr wrap="none">
            <a:spAutoFit/>
          </a:bodyPr>
          <a:lstStyle/>
          <a:p>
            <a:pPr algn="ctr">
              <a:lnSpc>
                <a:spcPct val="120000"/>
              </a:lnSpc>
              <a:spcAft>
                <a:spcPts val="0"/>
              </a:spcAft>
            </a:pPr>
            <a:r>
              <a:rPr lang="es-VE" sz="2400" b="1" u="sng" dirty="0">
                <a:latin typeface="+mj-lt"/>
                <a:ea typeface="SimSun" panose="02010600030101010101" pitchFamily="2" charset="-122"/>
                <a:cs typeface="Times New Roman" panose="02020603050405020304" pitchFamily="18" charset="0"/>
              </a:rPr>
              <a:t>Árbol de Problema</a:t>
            </a:r>
            <a:endParaRPr lang="es-VE" sz="2400" u="sng" dirty="0">
              <a:effectLst/>
              <a:latin typeface="+mj-lt"/>
              <a:ea typeface="SimSun" panose="02010600030101010101" pitchFamily="2" charset="-122"/>
              <a:cs typeface="Times New Roman" panose="02020603050405020304" pitchFamily="18" charset="0"/>
            </a:endParaRPr>
          </a:p>
        </p:txBody>
      </p:sp>
      <p:pic>
        <p:nvPicPr>
          <p:cNvPr id="45" name="Imagen 44">
            <a:extLst>
              <a:ext uri="{FF2B5EF4-FFF2-40B4-BE49-F238E27FC236}">
                <a16:creationId xmlns:a16="http://schemas.microsoft.com/office/drawing/2014/main" id="{83DB6E2D-468C-4EC3-B921-9A80196D6379}"/>
              </a:ext>
            </a:extLst>
          </p:cNvPr>
          <p:cNvPicPr>
            <a:picLocks noChangeAspect="1"/>
          </p:cNvPicPr>
          <p:nvPr/>
        </p:nvPicPr>
        <p:blipFill>
          <a:blip r:embed="rId3"/>
          <a:stretch>
            <a:fillRect/>
          </a:stretch>
        </p:blipFill>
        <p:spPr>
          <a:xfrm>
            <a:off x="2832739" y="1527180"/>
            <a:ext cx="2597121" cy="1030313"/>
          </a:xfrm>
          <a:prstGeom prst="rect">
            <a:avLst/>
          </a:prstGeom>
        </p:spPr>
      </p:pic>
      <p:sp>
        <p:nvSpPr>
          <p:cNvPr id="47" name="CuadroTexto 46">
            <a:extLst>
              <a:ext uri="{FF2B5EF4-FFF2-40B4-BE49-F238E27FC236}">
                <a16:creationId xmlns:a16="http://schemas.microsoft.com/office/drawing/2014/main" id="{7D2D13F3-A403-407C-86B4-A0B461BB7384}"/>
              </a:ext>
            </a:extLst>
          </p:cNvPr>
          <p:cNvSpPr txBox="1"/>
          <p:nvPr/>
        </p:nvSpPr>
        <p:spPr>
          <a:xfrm>
            <a:off x="3096247" y="1654661"/>
            <a:ext cx="2070104" cy="635430"/>
          </a:xfrm>
          <a:prstGeom prst="rect">
            <a:avLst/>
          </a:prstGeom>
          <a:noFill/>
        </p:spPr>
        <p:txBody>
          <a:bodyPr wrap="square">
            <a:spAutoFit/>
          </a:bodyPr>
          <a:lstStyle/>
          <a:p>
            <a:pPr algn="ctr">
              <a:lnSpc>
                <a:spcPct val="115000"/>
              </a:lnSpc>
              <a:spcAft>
                <a:spcPts val="1000"/>
              </a:spcAft>
            </a:pP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Fortalecimiento de la Competencia</a:t>
            </a:r>
            <a:endParaRPr lang="es-VE" sz="1600" dirty="0">
              <a:effectLst/>
              <a:ea typeface="Calibri" panose="020F0502020204030204" pitchFamily="34" charset="0"/>
              <a:cs typeface="Times New Roman" panose="02020603050405020304" pitchFamily="18" charset="0"/>
            </a:endParaRPr>
          </a:p>
        </p:txBody>
      </p:sp>
      <p:pic>
        <p:nvPicPr>
          <p:cNvPr id="53" name="Imagen 52">
            <a:extLst>
              <a:ext uri="{FF2B5EF4-FFF2-40B4-BE49-F238E27FC236}">
                <a16:creationId xmlns:a16="http://schemas.microsoft.com/office/drawing/2014/main" id="{F2970C83-2835-424B-860B-FE3B54AA1F27}"/>
              </a:ext>
            </a:extLst>
          </p:cNvPr>
          <p:cNvPicPr>
            <a:picLocks noChangeAspect="1"/>
          </p:cNvPicPr>
          <p:nvPr/>
        </p:nvPicPr>
        <p:blipFill>
          <a:blip r:embed="rId4"/>
          <a:stretch>
            <a:fillRect/>
          </a:stretch>
        </p:blipFill>
        <p:spPr>
          <a:xfrm>
            <a:off x="5374508" y="1510597"/>
            <a:ext cx="2783319" cy="1142334"/>
          </a:xfrm>
          <a:prstGeom prst="rect">
            <a:avLst/>
          </a:prstGeom>
        </p:spPr>
      </p:pic>
      <p:pic>
        <p:nvPicPr>
          <p:cNvPr id="54" name="Imagen 53">
            <a:extLst>
              <a:ext uri="{FF2B5EF4-FFF2-40B4-BE49-F238E27FC236}">
                <a16:creationId xmlns:a16="http://schemas.microsoft.com/office/drawing/2014/main" id="{22945CB8-E454-49E8-B8E5-CB70AD8C5FB0}"/>
              </a:ext>
            </a:extLst>
          </p:cNvPr>
          <p:cNvPicPr>
            <a:picLocks noChangeAspect="1"/>
          </p:cNvPicPr>
          <p:nvPr/>
        </p:nvPicPr>
        <p:blipFill>
          <a:blip r:embed="rId3"/>
          <a:stretch>
            <a:fillRect/>
          </a:stretch>
        </p:blipFill>
        <p:spPr>
          <a:xfrm>
            <a:off x="8142911" y="1610661"/>
            <a:ext cx="2597121" cy="1030313"/>
          </a:xfrm>
          <a:prstGeom prst="rect">
            <a:avLst/>
          </a:prstGeom>
        </p:spPr>
      </p:pic>
      <p:sp>
        <p:nvSpPr>
          <p:cNvPr id="58" name="CuadroTexto 57">
            <a:extLst>
              <a:ext uri="{FF2B5EF4-FFF2-40B4-BE49-F238E27FC236}">
                <a16:creationId xmlns:a16="http://schemas.microsoft.com/office/drawing/2014/main" id="{6A44917C-72A2-4465-93A3-A6F847C8400B}"/>
              </a:ext>
            </a:extLst>
          </p:cNvPr>
          <p:cNvSpPr txBox="1"/>
          <p:nvPr/>
        </p:nvSpPr>
        <p:spPr>
          <a:xfrm>
            <a:off x="5432094" y="1768167"/>
            <a:ext cx="2370477" cy="610295"/>
          </a:xfrm>
          <a:prstGeom prst="rect">
            <a:avLst/>
          </a:prstGeom>
          <a:noFill/>
        </p:spPr>
        <p:txBody>
          <a:bodyPr wrap="square">
            <a:spAutoFit/>
          </a:bodyPr>
          <a:lstStyle/>
          <a:p>
            <a:pPr marL="234950" indent="114300" algn="just">
              <a:lnSpc>
                <a:spcPct val="101000"/>
              </a:lnSpc>
              <a:spcBef>
                <a:spcPts val="500"/>
              </a:spcBef>
              <a:spcAft>
                <a:spcPts val="1000"/>
              </a:spcAft>
            </a:pP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Pérdida</a:t>
            </a:r>
            <a:r>
              <a:rPr lang="es-ES" sz="16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de</a:t>
            </a:r>
            <a:r>
              <a:rPr lang="es-ES" sz="16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la lealtad de los clientes</a:t>
            </a:r>
            <a:r>
              <a:rPr lang="es-E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s-V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0" name="CuadroTexto 59">
            <a:extLst>
              <a:ext uri="{FF2B5EF4-FFF2-40B4-BE49-F238E27FC236}">
                <a16:creationId xmlns:a16="http://schemas.microsoft.com/office/drawing/2014/main" id="{BCC79793-E0F4-4B9E-A4C9-110EF72D66F3}"/>
              </a:ext>
            </a:extLst>
          </p:cNvPr>
          <p:cNvSpPr txBox="1"/>
          <p:nvPr/>
        </p:nvSpPr>
        <p:spPr>
          <a:xfrm>
            <a:off x="8220078" y="1805804"/>
            <a:ext cx="2326508" cy="640688"/>
          </a:xfrm>
          <a:prstGeom prst="rect">
            <a:avLst/>
          </a:prstGeom>
          <a:noFill/>
        </p:spPr>
        <p:txBody>
          <a:bodyPr wrap="square">
            <a:spAutoFit/>
          </a:bodyPr>
          <a:lstStyle/>
          <a:p>
            <a:pPr algn="ctr">
              <a:lnSpc>
                <a:spcPct val="115000"/>
              </a:lnSpc>
              <a:spcAft>
                <a:spcPts val="1000"/>
              </a:spcAft>
            </a:pP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No se Cumplen las Metas asignadas para la Agencia</a:t>
            </a:r>
            <a:endParaRPr lang="es-VE" sz="16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4" name="Conector recto de flecha 63">
            <a:extLst>
              <a:ext uri="{FF2B5EF4-FFF2-40B4-BE49-F238E27FC236}">
                <a16:creationId xmlns:a16="http://schemas.microsoft.com/office/drawing/2014/main" id="{015B18C2-C3D5-4D52-9DA1-1A182363C44C}"/>
              </a:ext>
            </a:extLst>
          </p:cNvPr>
          <p:cNvCxnSpPr/>
          <p:nvPr/>
        </p:nvCxnSpPr>
        <p:spPr>
          <a:xfrm flipV="1">
            <a:off x="6617332" y="5310001"/>
            <a:ext cx="0" cy="8287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Conector recto 65">
            <a:extLst>
              <a:ext uri="{FF2B5EF4-FFF2-40B4-BE49-F238E27FC236}">
                <a16:creationId xmlns:a16="http://schemas.microsoft.com/office/drawing/2014/main" id="{5E558830-7723-48A0-8CC2-D5ACB4E48F66}"/>
              </a:ext>
            </a:extLst>
          </p:cNvPr>
          <p:cNvCxnSpPr>
            <a:cxnSpLocks/>
          </p:cNvCxnSpPr>
          <p:nvPr/>
        </p:nvCxnSpPr>
        <p:spPr>
          <a:xfrm flipH="1" flipV="1">
            <a:off x="9373888" y="2557176"/>
            <a:ext cx="1" cy="455306"/>
          </a:xfrm>
          <a:prstGeom prst="line">
            <a:avLst/>
          </a:prstGeom>
        </p:spPr>
        <p:style>
          <a:lnRef idx="1">
            <a:schemeClr val="dk1"/>
          </a:lnRef>
          <a:fillRef idx="0">
            <a:schemeClr val="dk1"/>
          </a:fillRef>
          <a:effectRef idx="0">
            <a:schemeClr val="dk1"/>
          </a:effectRef>
          <a:fontRef idx="minor">
            <a:schemeClr val="tx1"/>
          </a:fontRef>
        </p:style>
      </p:cxnSp>
      <p:cxnSp>
        <p:nvCxnSpPr>
          <p:cNvPr id="68" name="Conector recto 67">
            <a:extLst>
              <a:ext uri="{FF2B5EF4-FFF2-40B4-BE49-F238E27FC236}">
                <a16:creationId xmlns:a16="http://schemas.microsoft.com/office/drawing/2014/main" id="{FA3DDB0B-C07D-4F9A-A087-9A26A15C505F}"/>
              </a:ext>
            </a:extLst>
          </p:cNvPr>
          <p:cNvCxnSpPr>
            <a:stCxn id="14" idx="0"/>
          </p:cNvCxnSpPr>
          <p:nvPr/>
        </p:nvCxnSpPr>
        <p:spPr>
          <a:xfrm flipH="1" flipV="1">
            <a:off x="4017982" y="2403033"/>
            <a:ext cx="2411" cy="413153"/>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87995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 de texto 1">
            <a:extLst>
              <a:ext uri="{FF2B5EF4-FFF2-40B4-BE49-F238E27FC236}">
                <a16:creationId xmlns:a16="http://schemas.microsoft.com/office/drawing/2014/main" id="{B7FBD53C-D54A-49D2-A148-468DEC433105}"/>
              </a:ext>
            </a:extLst>
          </p:cNvPr>
          <p:cNvSpPr txBox="1"/>
          <p:nvPr/>
        </p:nvSpPr>
        <p:spPr>
          <a:xfrm>
            <a:off x="969819" y="3204442"/>
            <a:ext cx="4530436" cy="1169551"/>
          </a:xfrm>
          <a:prstGeom prst="rect">
            <a:avLst/>
          </a:prstGeom>
          <a:noFill/>
        </p:spPr>
        <p:txBody>
          <a:bodyPr wrap="square" rtlCol="0">
            <a:spAutoFit/>
          </a:bodyPr>
          <a:lstStyle/>
          <a:p>
            <a:pPr algn="just" defTabSz="914400"/>
            <a:r>
              <a:rPr lang="es-ES" altLang="en-US" sz="2200" b="1" dirty="0">
                <a:latin typeface="Calibri Light" panose="020F0302020204030204" pitchFamily="34" charset="0"/>
                <a:cs typeface="Calibri Light" panose="020F0302020204030204" pitchFamily="34" charset="0"/>
              </a:rPr>
              <a:t>CAPÍTULO III</a:t>
            </a:r>
          </a:p>
          <a:p>
            <a:pPr algn="just" defTabSz="914400"/>
            <a:r>
              <a:rPr lang="es-ES" altLang="en-US" sz="4800" b="1" dirty="0">
                <a:latin typeface="Calibri Light" panose="020F0302020204030204" pitchFamily="34" charset="0"/>
                <a:cs typeface="Calibri Light" panose="020F0302020204030204" pitchFamily="34" charset="0"/>
              </a:rPr>
              <a:t>MARCO TEÓRICO</a:t>
            </a:r>
          </a:p>
        </p:txBody>
      </p:sp>
      <p:sp>
        <p:nvSpPr>
          <p:cNvPr id="6" name="Google Shape;9988;p84">
            <a:extLst>
              <a:ext uri="{FF2B5EF4-FFF2-40B4-BE49-F238E27FC236}">
                <a16:creationId xmlns:a16="http://schemas.microsoft.com/office/drawing/2014/main" id="{8CC9C073-FEF2-40FD-903F-2762E26A9A07}"/>
              </a:ext>
            </a:extLst>
          </p:cNvPr>
          <p:cNvSpPr/>
          <p:nvPr/>
        </p:nvSpPr>
        <p:spPr>
          <a:xfrm>
            <a:off x="4959001" y="2955152"/>
            <a:ext cx="756000" cy="720000"/>
          </a:xfrm>
          <a:custGeom>
            <a:avLst/>
            <a:gdLst/>
            <a:ahLst/>
            <a:cxnLst/>
            <a:rect l="l" t="t" r="r" b="b"/>
            <a:pathLst>
              <a:path w="11909" h="11847" extrusionOk="0">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solidFill>
            <a:schemeClr val="tx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ndParaRPr>
          </a:p>
        </p:txBody>
      </p:sp>
      <p:pic>
        <p:nvPicPr>
          <p:cNvPr id="2" name="Imagen 1">
            <a:extLst>
              <a:ext uri="{FF2B5EF4-FFF2-40B4-BE49-F238E27FC236}">
                <a16:creationId xmlns:a16="http://schemas.microsoft.com/office/drawing/2014/main" id="{47CAC318-C9C4-404C-88B0-A2FF4D1BF14D}"/>
              </a:ext>
            </a:extLst>
          </p:cNvPr>
          <p:cNvPicPr>
            <a:picLocks noChangeAspect="1"/>
          </p:cNvPicPr>
          <p:nvPr/>
        </p:nvPicPr>
        <p:blipFill>
          <a:blip r:embed="rId2"/>
          <a:stretch>
            <a:fillRect/>
          </a:stretch>
        </p:blipFill>
        <p:spPr>
          <a:xfrm>
            <a:off x="1686519" y="387927"/>
            <a:ext cx="3097036" cy="1798476"/>
          </a:xfrm>
          <a:prstGeom prst="rect">
            <a:avLst/>
          </a:prstGeom>
        </p:spPr>
      </p:pic>
      <p:sp>
        <p:nvSpPr>
          <p:cNvPr id="8" name="Cuadro de texto 8">
            <a:extLst>
              <a:ext uri="{FF2B5EF4-FFF2-40B4-BE49-F238E27FC236}">
                <a16:creationId xmlns:a16="http://schemas.microsoft.com/office/drawing/2014/main" id="{BAE25CC9-C6A9-4BF2-A258-3FE5A43E81B6}"/>
              </a:ext>
            </a:extLst>
          </p:cNvPr>
          <p:cNvSpPr txBox="1"/>
          <p:nvPr/>
        </p:nvSpPr>
        <p:spPr>
          <a:xfrm>
            <a:off x="1420292" y="6159562"/>
            <a:ext cx="4509454" cy="584775"/>
          </a:xfrm>
          <a:prstGeom prst="rect">
            <a:avLst/>
          </a:prstGeom>
          <a:noFill/>
        </p:spPr>
        <p:txBody>
          <a:bodyPr wrap="square" rtlCol="0">
            <a:spAutoFit/>
          </a:bodyPr>
          <a:lstStyle/>
          <a:p>
            <a:pPr algn="just" defTabSz="914400"/>
            <a:r>
              <a:rPr lang="es-ES" altLang="en-US" sz="1600" b="1" dirty="0">
                <a:latin typeface="Calibri Light" panose="020F0302020204030204" pitchFamily="34" charset="0"/>
                <a:cs typeface="Calibri Light" panose="020F0302020204030204" pitchFamily="34" charset="0"/>
              </a:rPr>
              <a:t>Informe de Pasantías requerido para optar al Técnico Superior Universitario en Administración de  Empresa.</a:t>
            </a:r>
          </a:p>
        </p:txBody>
      </p:sp>
      <p:pic>
        <p:nvPicPr>
          <p:cNvPr id="3074" name="Picture 2" descr="El marco teórico de un trabajo - Aula TFG">
            <a:extLst>
              <a:ext uri="{FF2B5EF4-FFF2-40B4-BE49-F238E27FC236}">
                <a16:creationId xmlns:a16="http://schemas.microsoft.com/office/drawing/2014/main" id="{7E9F76E6-9E98-46FF-AAAB-FC571F125C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9746" y="0"/>
            <a:ext cx="626225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1526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 de texto 8">
            <a:extLst>
              <a:ext uri="{FF2B5EF4-FFF2-40B4-BE49-F238E27FC236}">
                <a16:creationId xmlns:a16="http://schemas.microsoft.com/office/drawing/2014/main" id="{68240549-E42D-4D74-8A86-72BD524E3C13}"/>
              </a:ext>
            </a:extLst>
          </p:cNvPr>
          <p:cNvSpPr txBox="1"/>
          <p:nvPr/>
        </p:nvSpPr>
        <p:spPr>
          <a:xfrm>
            <a:off x="410158" y="127944"/>
            <a:ext cx="2057524" cy="523220"/>
          </a:xfrm>
          <a:prstGeom prst="rect">
            <a:avLst/>
          </a:prstGeom>
          <a:noFill/>
        </p:spPr>
        <p:txBody>
          <a:bodyPr wrap="square" rtlCol="0">
            <a:spAutoFit/>
          </a:bodyPr>
          <a:lstStyle/>
          <a:p>
            <a:pPr algn="ctr" defTabSz="914400"/>
            <a:r>
              <a:rPr lang="es-ES" altLang="en-US" sz="1400" b="1" dirty="0">
                <a:latin typeface="Times New Roman" panose="02020603050405020304" pitchFamily="18" charset="0"/>
                <a:cs typeface="Times New Roman" panose="02020603050405020304" pitchFamily="18" charset="0"/>
              </a:rPr>
              <a:t>CAPÍTULO III</a:t>
            </a:r>
          </a:p>
          <a:p>
            <a:pPr algn="ctr" defTabSz="914400"/>
            <a:r>
              <a:rPr lang="es-ES" altLang="en-US" sz="1400" b="1" dirty="0">
                <a:latin typeface="Times New Roman" panose="02020603050405020304" pitchFamily="18" charset="0"/>
                <a:cs typeface="Times New Roman" panose="02020603050405020304" pitchFamily="18" charset="0"/>
              </a:rPr>
              <a:t>MARCO TEÓRICO</a:t>
            </a:r>
          </a:p>
        </p:txBody>
      </p:sp>
      <p:pic>
        <p:nvPicPr>
          <p:cNvPr id="2" name="Imagen 1">
            <a:extLst>
              <a:ext uri="{FF2B5EF4-FFF2-40B4-BE49-F238E27FC236}">
                <a16:creationId xmlns:a16="http://schemas.microsoft.com/office/drawing/2014/main" id="{8809E52B-1E78-4F3E-A2DA-369A96F05D9E}"/>
              </a:ext>
            </a:extLst>
          </p:cNvPr>
          <p:cNvPicPr>
            <a:picLocks noChangeAspect="1"/>
          </p:cNvPicPr>
          <p:nvPr/>
        </p:nvPicPr>
        <p:blipFill>
          <a:blip r:embed="rId2"/>
          <a:stretch>
            <a:fillRect/>
          </a:stretch>
        </p:blipFill>
        <p:spPr>
          <a:xfrm>
            <a:off x="8967082" y="228605"/>
            <a:ext cx="3097036" cy="1798476"/>
          </a:xfrm>
          <a:prstGeom prst="rect">
            <a:avLst/>
          </a:prstGeom>
        </p:spPr>
      </p:pic>
      <p:sp>
        <p:nvSpPr>
          <p:cNvPr id="6" name="Cuadro de texto 99">
            <a:extLst>
              <a:ext uri="{FF2B5EF4-FFF2-40B4-BE49-F238E27FC236}">
                <a16:creationId xmlns:a16="http://schemas.microsoft.com/office/drawing/2014/main" id="{93302F4B-FA5F-475A-AB2D-C83EFEE22392}"/>
              </a:ext>
            </a:extLst>
          </p:cNvPr>
          <p:cNvSpPr txBox="1"/>
          <p:nvPr/>
        </p:nvSpPr>
        <p:spPr>
          <a:xfrm>
            <a:off x="1791267" y="1364670"/>
            <a:ext cx="7175815" cy="892552"/>
          </a:xfrm>
          <a:prstGeom prst="rect">
            <a:avLst/>
          </a:prstGeom>
          <a:noFill/>
          <a:ln w="9525">
            <a:noFill/>
          </a:ln>
        </p:spPr>
        <p:txBody>
          <a:bodyPr wrap="square">
            <a:spAutoFit/>
          </a:bodyPr>
          <a:lstStyle/>
          <a:p>
            <a:pPr algn="just"/>
            <a:r>
              <a:rPr lang="es-ES" sz="2000" b="1" dirty="0">
                <a:latin typeface="Times New Roman" panose="02020603050405020304" pitchFamily="18" charset="0"/>
                <a:ea typeface="SimSun" panose="02010600030101010101" pitchFamily="2" charset="-122"/>
                <a:cs typeface="Times New Roman" panose="02020603050405020304" pitchFamily="18" charset="0"/>
                <a:sym typeface="+mn-ea"/>
              </a:rPr>
              <a:t>Marco teórico</a:t>
            </a:r>
          </a:p>
          <a:p>
            <a:pPr algn="just"/>
            <a:r>
              <a:rPr lang="es-ES" sz="1600" dirty="0">
                <a:latin typeface="Times New Roman" panose="02020603050405020304" pitchFamily="18" charset="0"/>
                <a:ea typeface="SimSun" panose="02010600030101010101" pitchFamily="2" charset="-122"/>
                <a:cs typeface="Times New Roman" panose="02020603050405020304" pitchFamily="18" charset="0"/>
                <a:sym typeface="+mn-ea"/>
              </a:rPr>
              <a:t>Consiste en conceptos junto con sus definiciones y/o referencias a la literatura académica pertinente.</a:t>
            </a:r>
            <a:endParaRPr lang="es-ES" altLang="en-US" sz="1600" dirty="0">
              <a:latin typeface="Times New Roman" panose="02020603050405020304" pitchFamily="18" charset="0"/>
              <a:cs typeface="Times New Roman" panose="02020603050405020304" pitchFamily="18" charset="0"/>
            </a:endParaRPr>
          </a:p>
        </p:txBody>
      </p:sp>
      <p:sp>
        <p:nvSpPr>
          <p:cNvPr id="7" name="CuadroTexto 6">
            <a:extLst>
              <a:ext uri="{FF2B5EF4-FFF2-40B4-BE49-F238E27FC236}">
                <a16:creationId xmlns:a16="http://schemas.microsoft.com/office/drawing/2014/main" id="{BCF245C4-D0C3-4C7A-AB01-1B0A7C9E4A35}"/>
              </a:ext>
            </a:extLst>
          </p:cNvPr>
          <p:cNvSpPr txBox="1"/>
          <p:nvPr/>
        </p:nvSpPr>
        <p:spPr>
          <a:xfrm>
            <a:off x="3048000" y="2625228"/>
            <a:ext cx="6096000" cy="113877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mn-ea"/>
              </a:rPr>
              <a:t>Bases teóricas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mn-ea"/>
              </a:rPr>
              <a:t>Son el sustento de las investigaciones, son</a:t>
            </a:r>
            <a:r>
              <a:rPr lang="es-ES" sz="1600" dirty="0">
                <a:solidFill>
                  <a:srgbClr val="202124"/>
                </a:solidFill>
                <a:effectLst/>
                <a:latin typeface="Times New Roman" panose="02020603050405020304" pitchFamily="18" charset="0"/>
                <a:ea typeface="Calibri" panose="020F0502020204030204" pitchFamily="34" charset="0"/>
              </a:rPr>
              <a:t> </a:t>
            </a:r>
            <a:r>
              <a:rPr lang="es-ES" sz="1600" dirty="0">
                <a:solidFill>
                  <a:srgbClr val="040C28"/>
                </a:solidFill>
                <a:effectLst/>
                <a:latin typeface="Times New Roman" panose="02020603050405020304" pitchFamily="18" charset="0"/>
                <a:ea typeface="Calibri" panose="020F0502020204030204" pitchFamily="34" charset="0"/>
              </a:rPr>
              <a:t>todas aquellas teorías, conceptos, características, funciones que están relacionadas con el tema de estudio.</a:t>
            </a:r>
            <a:endParaRPr lang="es-VE" sz="1600" dirty="0">
              <a:latin typeface="Times New Roman" panose="02020603050405020304" pitchFamily="18" charset="0"/>
              <a:cs typeface="Times New Roman" panose="02020603050405020304" pitchFamily="18" charset="0"/>
            </a:endParaRPr>
          </a:p>
        </p:txBody>
      </p:sp>
      <p:graphicFrame>
        <p:nvGraphicFramePr>
          <p:cNvPr id="9" name="Diagrama 8">
            <a:extLst>
              <a:ext uri="{FF2B5EF4-FFF2-40B4-BE49-F238E27FC236}">
                <a16:creationId xmlns:a16="http://schemas.microsoft.com/office/drawing/2014/main" id="{4F81888E-915F-46A4-A7B6-F241E2BC8069}"/>
              </a:ext>
            </a:extLst>
          </p:cNvPr>
          <p:cNvGraphicFramePr/>
          <p:nvPr>
            <p:extLst>
              <p:ext uri="{D42A27DB-BD31-4B8C-83A1-F6EECF244321}">
                <p14:modId xmlns:p14="http://schemas.microsoft.com/office/powerpoint/2010/main" val="1816479311"/>
              </p:ext>
            </p:extLst>
          </p:nvPr>
        </p:nvGraphicFramePr>
        <p:xfrm>
          <a:off x="1791267" y="3717533"/>
          <a:ext cx="8128000" cy="24893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55628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48B4FE71-BFC7-4176-BA4D-1C52ACFD3CFC}"/>
              </a:ext>
            </a:extLst>
          </p:cNvPr>
          <p:cNvSpPr txBox="1"/>
          <p:nvPr/>
        </p:nvSpPr>
        <p:spPr>
          <a:xfrm>
            <a:off x="1233054" y="987302"/>
            <a:ext cx="9199419" cy="6070123"/>
          </a:xfrm>
          <a:prstGeom prst="rect">
            <a:avLst/>
          </a:prstGeom>
          <a:noFill/>
        </p:spPr>
        <p:txBody>
          <a:bodyPr wrap="square">
            <a:spAutoFit/>
          </a:bodyPr>
          <a:lstStyle/>
          <a:p>
            <a:pPr indent="180340" algn="ctr">
              <a:lnSpc>
                <a:spcPct val="150000"/>
              </a:lnSpc>
              <a:spcAft>
                <a:spcPts val="1000"/>
              </a:spcAft>
            </a:pPr>
            <a:r>
              <a:rPr lang="es-ES" sz="1600" b="1" dirty="0">
                <a:latin typeface="Times New Roman" panose="02020603050405020304" pitchFamily="18" charset="0"/>
                <a:ea typeface="Calibri" panose="020F0502020204030204" pitchFamily="34" charset="0"/>
                <a:cs typeface="Times New Roman" panose="02020603050405020304" pitchFamily="18" charset="0"/>
              </a:rPr>
              <a:t>E</a:t>
            </a:r>
            <a:r>
              <a:rPr lang="es-ES" sz="1600" b="1" dirty="0">
                <a:effectLst/>
                <a:latin typeface="Times New Roman" panose="02020603050405020304" pitchFamily="18" charset="0"/>
                <a:ea typeface="Calibri" panose="020F0502020204030204" pitchFamily="34" charset="0"/>
                <a:cs typeface="Times New Roman" panose="02020603050405020304" pitchFamily="18" charset="0"/>
              </a:rPr>
              <a:t>strategias a considerar para ofrecer una atención al cliente de calidad, </a:t>
            </a:r>
            <a:r>
              <a:rPr lang="es-ES" sz="2000" b="1" dirty="0">
                <a:effectLst/>
                <a:latin typeface="Times New Roman" panose="02020603050405020304" pitchFamily="18" charset="0"/>
                <a:ea typeface="Calibri" panose="020F0502020204030204" pitchFamily="34" charset="0"/>
                <a:cs typeface="Times New Roman" panose="02020603050405020304" pitchFamily="18" charset="0"/>
              </a:rPr>
              <a:t>son</a:t>
            </a:r>
            <a:r>
              <a:rPr lang="es-ES" sz="16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s-VE"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pPr>
            <a:r>
              <a:rPr lang="es-E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 debe ser ágil para</a:t>
            </a:r>
            <a:r>
              <a:rPr lang="es-ES" sz="12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E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reducir el tiempo de respuesta ante el requerimiento del cliente, esta debe ser una de las prioridades dentro de las estrategias de servicio al cliente.</a:t>
            </a:r>
            <a:endParaRPr lang="es-VE"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pPr>
            <a:r>
              <a:rPr lang="es-E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Demostrar Empatía a los</a:t>
            </a:r>
            <a:r>
              <a:rPr lang="es-ES" sz="12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V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clientes, ya que se inclinan más por empresas que comparten sus valores y cuyas estrategias de servicio al cliente, por tanto, se deben de tratar con </a:t>
            </a:r>
            <a:r>
              <a:rPr lang="es-VE"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amabilidad </a:t>
            </a:r>
            <a:r>
              <a:rPr lang="es-V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 </a:t>
            </a:r>
            <a:r>
              <a:rPr lang="es-VE"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empatía</a:t>
            </a:r>
            <a:r>
              <a:rPr lang="es-V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s-VE"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pPr>
            <a:r>
              <a:rPr lang="es-VE"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Tener una actitud positiva,</a:t>
            </a:r>
            <a:r>
              <a:rPr lang="es-VE"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VE"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consiste en mantener al cliente</a:t>
            </a:r>
            <a:r>
              <a:rPr lang="es-VE"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VE"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satisfechos, los agentes deben ser personas alegres. Necesitan tener una mentalidad que transmitan sentir al cliente que todo tiene solución.</a:t>
            </a:r>
          </a:p>
          <a:p>
            <a:pPr marL="342900" lvl="0" indent="-342900" algn="just">
              <a:lnSpc>
                <a:spcPct val="150000"/>
              </a:lnSpc>
              <a:spcAft>
                <a:spcPts val="1000"/>
              </a:spcAft>
              <a:buFont typeface="+mj-lt"/>
              <a:buAutoNum type="arabicPeriod"/>
            </a:pPr>
            <a:r>
              <a:rPr lang="es-E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Vocación de servicio, se debe contar con la inclinación de ayudar a el cliente de sensibilidad social y espíritu generoso, estar dispuestos a atender, espontánea, proactivamente y desinteresadamente, al cliente.</a:t>
            </a:r>
          </a:p>
          <a:p>
            <a:pPr marL="342900" indent="-342900" algn="just">
              <a:lnSpc>
                <a:spcPct val="150000"/>
              </a:lnSpc>
              <a:spcAft>
                <a:spcPts val="1000"/>
              </a:spcAft>
              <a:buFont typeface="+mj-lt"/>
              <a:buAutoNum type="arabicPeriod"/>
            </a:pPr>
            <a:r>
              <a:rPr lang="es-ES" sz="1200" dirty="0">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Se debe estar bien informado, ya que es imposible lograr brindar una solución a los requerimientos del cliente, si no se cuenta con la información de la causa que la origina y el efecto que podría generar. Es decir, se debe contar con Capacidad de respuesta.</a:t>
            </a:r>
          </a:p>
          <a:p>
            <a:pPr marL="342900" lvl="0" indent="-342900" algn="just">
              <a:lnSpc>
                <a:spcPct val="150000"/>
              </a:lnSpc>
              <a:spcAft>
                <a:spcPts val="1000"/>
              </a:spcAft>
              <a:buFont typeface="+mj-lt"/>
              <a:buAutoNum type="arabicPeriod"/>
            </a:pPr>
            <a:r>
              <a:rPr lang="es-ES" sz="1200" dirty="0">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Facilitar la colocación de la clave en la tarjeta de débito a las personas de la tercera edad</a:t>
            </a:r>
            <a:r>
              <a:rPr lang="es-ES"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200" dirty="0">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s-VE" sz="1200" dirty="0">
              <a:effectLst/>
              <a:latin typeface="Times New Roman" panose="02020603050405020304" pitchFamily="18" charset="0"/>
              <a:ea typeface="Calibri" panose="020F0502020204030204" pitchFamily="34" charset="0"/>
              <a:cs typeface="Times New Roman" panose="02020603050405020304" pitchFamily="18" charset="0"/>
            </a:endParaRPr>
          </a:p>
          <a:p>
            <a:pPr indent="180340" algn="just">
              <a:lnSpc>
                <a:spcPct val="150000"/>
              </a:lnSpc>
              <a:spcAft>
                <a:spcPts val="1000"/>
              </a:spcAft>
            </a:pPr>
            <a:r>
              <a:rPr lang="es-E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 consecuencia, a lo anteriormente planteado, se puede concluir que la aplicación de estrategias para la atención </a:t>
            </a:r>
            <a:r>
              <a:rPr lang="es-ES" sz="1200" dirty="0">
                <a:solidFill>
                  <a:srgbClr val="040C28"/>
                </a:solidFill>
                <a:effectLst/>
                <a:latin typeface="Times New Roman" panose="02020603050405020304" pitchFamily="18" charset="0"/>
                <a:ea typeface="Calibri" panose="020F0502020204030204" pitchFamily="34" charset="0"/>
                <a:cs typeface="Times New Roman" panose="02020603050405020304" pitchFamily="18" charset="0"/>
              </a:rPr>
              <a:t>al cliente,</a:t>
            </a:r>
            <a:r>
              <a:rPr lang="es-ES" sz="1200" dirty="0">
                <a:solidFill>
                  <a:srgbClr val="4D5156"/>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ES" sz="1200" dirty="0">
                <a:solidFill>
                  <a:srgbClr val="040C28"/>
                </a:solidFill>
                <a:effectLst/>
                <a:latin typeface="Times New Roman" panose="02020603050405020304" pitchFamily="18" charset="0"/>
                <a:ea typeface="Times New Roman" panose="02020603050405020304" pitchFamily="18" charset="0"/>
                <a:cs typeface="Times New Roman" panose="02020603050405020304" pitchFamily="18" charset="0"/>
              </a:rPr>
              <a:t>son fundamentales para cualquier empresa de servicio, ya que es una de las formas más efectivas de mantener la  credibilidad en la empresa, además de ser uno de los aspectos que marcan la diferencia cuando se quiere destacarse de la competencia</a:t>
            </a:r>
            <a:r>
              <a:rPr lang="es-ES" sz="1200" dirty="0">
                <a:solidFill>
                  <a:srgbClr val="4D5156"/>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s-VE"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1000"/>
              </a:spcAft>
              <a:buFont typeface="+mj-lt"/>
              <a:buAutoNum type="arabicPeriod"/>
            </a:pPr>
            <a:endParaRPr lang="es-VE"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pPr>
            <a:endParaRPr lang="es-VE" sz="1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n 6">
            <a:extLst>
              <a:ext uri="{FF2B5EF4-FFF2-40B4-BE49-F238E27FC236}">
                <a16:creationId xmlns:a16="http://schemas.microsoft.com/office/drawing/2014/main" id="{BF5531C3-14D9-4C0C-B3DF-E6F474623DA3}"/>
              </a:ext>
            </a:extLst>
          </p:cNvPr>
          <p:cNvPicPr>
            <a:picLocks noChangeAspect="1"/>
          </p:cNvPicPr>
          <p:nvPr/>
        </p:nvPicPr>
        <p:blipFill>
          <a:blip r:embed="rId2"/>
          <a:stretch>
            <a:fillRect/>
          </a:stretch>
        </p:blipFill>
        <p:spPr>
          <a:xfrm>
            <a:off x="8883955" y="0"/>
            <a:ext cx="3097036" cy="1731818"/>
          </a:xfrm>
          <a:prstGeom prst="rect">
            <a:avLst/>
          </a:prstGeom>
        </p:spPr>
      </p:pic>
      <p:sp>
        <p:nvSpPr>
          <p:cNvPr id="5" name="Cuadro de texto 8">
            <a:extLst>
              <a:ext uri="{FF2B5EF4-FFF2-40B4-BE49-F238E27FC236}">
                <a16:creationId xmlns:a16="http://schemas.microsoft.com/office/drawing/2014/main" id="{9CBCDB0C-3795-4D2D-9286-D8716ABC79B7}"/>
              </a:ext>
            </a:extLst>
          </p:cNvPr>
          <p:cNvSpPr txBox="1"/>
          <p:nvPr/>
        </p:nvSpPr>
        <p:spPr>
          <a:xfrm>
            <a:off x="410158" y="127944"/>
            <a:ext cx="2057524" cy="523220"/>
          </a:xfrm>
          <a:prstGeom prst="rect">
            <a:avLst/>
          </a:prstGeom>
          <a:noFill/>
        </p:spPr>
        <p:txBody>
          <a:bodyPr wrap="square" rtlCol="0">
            <a:spAutoFit/>
          </a:bodyPr>
          <a:lstStyle/>
          <a:p>
            <a:pPr algn="ctr" defTabSz="914400"/>
            <a:r>
              <a:rPr lang="es-ES" altLang="en-US" sz="1400" b="1" dirty="0">
                <a:latin typeface="Times New Roman" panose="02020603050405020304" pitchFamily="18" charset="0"/>
                <a:cs typeface="Times New Roman" panose="02020603050405020304" pitchFamily="18" charset="0"/>
              </a:rPr>
              <a:t>CAPÍTULO III</a:t>
            </a:r>
          </a:p>
          <a:p>
            <a:pPr algn="ctr" defTabSz="914400"/>
            <a:r>
              <a:rPr lang="es-ES" altLang="en-US" sz="1400" b="1" dirty="0">
                <a:latin typeface="Times New Roman" panose="02020603050405020304" pitchFamily="18" charset="0"/>
                <a:cs typeface="Times New Roman" panose="02020603050405020304" pitchFamily="18" charset="0"/>
              </a:rPr>
              <a:t>MARCO TEÓRICO</a:t>
            </a:r>
          </a:p>
        </p:txBody>
      </p:sp>
    </p:spTree>
    <p:extLst>
      <p:ext uri="{BB962C8B-B14F-4D97-AF65-F5344CB8AC3E}">
        <p14:creationId xmlns:p14="http://schemas.microsoft.com/office/powerpoint/2010/main" val="443173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 de texto 1">
            <a:extLst>
              <a:ext uri="{FF2B5EF4-FFF2-40B4-BE49-F238E27FC236}">
                <a16:creationId xmlns:a16="http://schemas.microsoft.com/office/drawing/2014/main" id="{00353592-6E76-4F02-9F6B-A7A3FE826F84}"/>
              </a:ext>
            </a:extLst>
          </p:cNvPr>
          <p:cNvSpPr txBox="1"/>
          <p:nvPr/>
        </p:nvSpPr>
        <p:spPr>
          <a:xfrm>
            <a:off x="1234198" y="2474892"/>
            <a:ext cx="5264917" cy="1908215"/>
          </a:xfrm>
          <a:prstGeom prst="rect">
            <a:avLst/>
          </a:prstGeom>
          <a:noFill/>
        </p:spPr>
        <p:txBody>
          <a:bodyPr wrap="square" rtlCol="0">
            <a:spAutoFit/>
          </a:bodyPr>
          <a:lstStyle/>
          <a:p>
            <a:pPr algn="just" defTabSz="914400"/>
            <a:r>
              <a:rPr lang="es-ES" altLang="en-US" sz="2200" b="1" dirty="0">
                <a:latin typeface="Calibri Light" panose="020F0302020204030204" pitchFamily="34" charset="0"/>
                <a:cs typeface="Calibri Light" panose="020F0302020204030204" pitchFamily="34" charset="0"/>
              </a:rPr>
              <a:t>CAPÍTULO  </a:t>
            </a:r>
          </a:p>
          <a:p>
            <a:pPr defTabSz="914400"/>
            <a:r>
              <a:rPr lang="es-ES" altLang="en-US" sz="4800" b="1" dirty="0">
                <a:latin typeface="Calibri Light" panose="020F0302020204030204" pitchFamily="34" charset="0"/>
                <a:cs typeface="Calibri Light" panose="020F0302020204030204" pitchFamily="34" charset="0"/>
              </a:rPr>
              <a:t>LA PROPUESTA</a:t>
            </a:r>
          </a:p>
          <a:p>
            <a:pPr algn="just" defTabSz="914400"/>
            <a:endParaRPr lang="es-ES" altLang="en-US" sz="4800" b="1" dirty="0">
              <a:solidFill>
                <a:prstClr val="white"/>
              </a:solidFill>
              <a:latin typeface="Calibri Light" panose="020F0302020204030204" pitchFamily="34" charset="0"/>
              <a:cs typeface="Calibri Light" panose="020F0302020204030204" pitchFamily="34" charset="0"/>
            </a:endParaRPr>
          </a:p>
        </p:txBody>
      </p:sp>
      <p:sp>
        <p:nvSpPr>
          <p:cNvPr id="10" name="CuadroTexto 9">
            <a:extLst>
              <a:ext uri="{FF2B5EF4-FFF2-40B4-BE49-F238E27FC236}">
                <a16:creationId xmlns:a16="http://schemas.microsoft.com/office/drawing/2014/main" id="{25E02D30-1A38-48E2-B7FC-D1BF498430EA}"/>
              </a:ext>
            </a:extLst>
          </p:cNvPr>
          <p:cNvSpPr txBox="1"/>
          <p:nvPr/>
        </p:nvSpPr>
        <p:spPr>
          <a:xfrm>
            <a:off x="1234198" y="6082090"/>
            <a:ext cx="4910839" cy="58477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altLang="en-US" sz="1600" b="1" i="0" u="none" strike="noStrike" kern="1200" cap="none" spc="0" normalizeH="0" baseline="0" noProof="0" dirty="0">
                <a:ln>
                  <a:noFill/>
                </a:ln>
                <a:effectLst/>
                <a:uLnTx/>
                <a:uFillTx/>
                <a:latin typeface="Calibri Light" panose="020F0302020204030204" pitchFamily="34" charset="0"/>
                <a:ea typeface="+mn-ea"/>
                <a:cs typeface="Calibri Light" panose="020F0302020204030204" pitchFamily="34" charset="0"/>
              </a:rPr>
              <a:t>Informe de Pasantías requerido para optar al Técnico Superior Universitario en Administración de  Empresa.</a:t>
            </a:r>
          </a:p>
        </p:txBody>
      </p:sp>
      <p:pic>
        <p:nvPicPr>
          <p:cNvPr id="2" name="Imagen 1">
            <a:extLst>
              <a:ext uri="{FF2B5EF4-FFF2-40B4-BE49-F238E27FC236}">
                <a16:creationId xmlns:a16="http://schemas.microsoft.com/office/drawing/2014/main" id="{6A371EA0-E0C0-445E-9979-07FDFFD4FC41}"/>
              </a:ext>
            </a:extLst>
          </p:cNvPr>
          <p:cNvPicPr>
            <a:picLocks noChangeAspect="1"/>
          </p:cNvPicPr>
          <p:nvPr/>
        </p:nvPicPr>
        <p:blipFill>
          <a:blip r:embed="rId2"/>
          <a:stretch>
            <a:fillRect/>
          </a:stretch>
        </p:blipFill>
        <p:spPr>
          <a:xfrm>
            <a:off x="1234198" y="191135"/>
            <a:ext cx="3097036" cy="1798476"/>
          </a:xfrm>
          <a:prstGeom prst="rect">
            <a:avLst/>
          </a:prstGeom>
        </p:spPr>
      </p:pic>
      <p:sp>
        <p:nvSpPr>
          <p:cNvPr id="9" name="Google Shape;9881;p84">
            <a:extLst>
              <a:ext uri="{FF2B5EF4-FFF2-40B4-BE49-F238E27FC236}">
                <a16:creationId xmlns:a16="http://schemas.microsoft.com/office/drawing/2014/main" id="{B0FBAF09-43C4-4BCB-8C2E-EDC5A73FDA73}"/>
              </a:ext>
            </a:extLst>
          </p:cNvPr>
          <p:cNvSpPr/>
          <p:nvPr/>
        </p:nvSpPr>
        <p:spPr>
          <a:xfrm>
            <a:off x="5335362" y="3051000"/>
            <a:ext cx="720000" cy="756000"/>
          </a:xfrm>
          <a:custGeom>
            <a:avLst/>
            <a:gdLst/>
            <a:ahLst/>
            <a:cxnLst/>
            <a:rect l="l" t="t" r="r" b="b"/>
            <a:pathLst>
              <a:path w="12635" h="12634" extrusionOk="0">
                <a:moveTo>
                  <a:pt x="6302" y="2741"/>
                </a:moveTo>
                <a:cubicBezTo>
                  <a:pt x="6774" y="2741"/>
                  <a:pt x="7152" y="3087"/>
                  <a:pt x="7152" y="3560"/>
                </a:cubicBezTo>
                <a:cubicBezTo>
                  <a:pt x="7152" y="4033"/>
                  <a:pt x="6774" y="4411"/>
                  <a:pt x="6302" y="4411"/>
                </a:cubicBezTo>
                <a:cubicBezTo>
                  <a:pt x="5861" y="4411"/>
                  <a:pt x="5483" y="4033"/>
                  <a:pt x="5483" y="3560"/>
                </a:cubicBezTo>
                <a:cubicBezTo>
                  <a:pt x="5483" y="3087"/>
                  <a:pt x="5829" y="2741"/>
                  <a:pt x="6302" y="2741"/>
                </a:cubicBezTo>
                <a:close/>
                <a:moveTo>
                  <a:pt x="11910" y="819"/>
                </a:moveTo>
                <a:lnTo>
                  <a:pt x="11910" y="5230"/>
                </a:lnTo>
                <a:lnTo>
                  <a:pt x="8161" y="5230"/>
                </a:lnTo>
                <a:cubicBezTo>
                  <a:pt x="7972" y="5041"/>
                  <a:pt x="7751" y="4820"/>
                  <a:pt x="7530" y="4726"/>
                </a:cubicBezTo>
                <a:cubicBezTo>
                  <a:pt x="7814" y="4411"/>
                  <a:pt x="8003" y="4001"/>
                  <a:pt x="8003" y="3560"/>
                </a:cubicBezTo>
                <a:cubicBezTo>
                  <a:pt x="8003" y="2678"/>
                  <a:pt x="7247" y="1922"/>
                  <a:pt x="6333" y="1922"/>
                </a:cubicBezTo>
                <a:cubicBezTo>
                  <a:pt x="5451" y="1922"/>
                  <a:pt x="4695" y="2678"/>
                  <a:pt x="4695" y="3560"/>
                </a:cubicBezTo>
                <a:cubicBezTo>
                  <a:pt x="4695" y="4001"/>
                  <a:pt x="4853" y="4411"/>
                  <a:pt x="5168" y="4726"/>
                </a:cubicBezTo>
                <a:cubicBezTo>
                  <a:pt x="4916" y="4820"/>
                  <a:pt x="4695" y="5041"/>
                  <a:pt x="4537" y="5230"/>
                </a:cubicBezTo>
                <a:lnTo>
                  <a:pt x="883" y="5230"/>
                </a:lnTo>
                <a:lnTo>
                  <a:pt x="883" y="819"/>
                </a:lnTo>
                <a:close/>
                <a:moveTo>
                  <a:pt x="6302" y="5230"/>
                </a:moveTo>
                <a:cubicBezTo>
                  <a:pt x="7215" y="5230"/>
                  <a:pt x="7972" y="5986"/>
                  <a:pt x="7972" y="6868"/>
                </a:cubicBezTo>
                <a:lnTo>
                  <a:pt x="4664" y="6868"/>
                </a:lnTo>
                <a:cubicBezTo>
                  <a:pt x="4664" y="5986"/>
                  <a:pt x="5388" y="5230"/>
                  <a:pt x="6302" y="5230"/>
                </a:cubicBezTo>
                <a:close/>
                <a:moveTo>
                  <a:pt x="8287" y="7719"/>
                </a:moveTo>
                <a:lnTo>
                  <a:pt x="7593" y="11846"/>
                </a:lnTo>
                <a:lnTo>
                  <a:pt x="5010" y="11846"/>
                </a:lnTo>
                <a:lnTo>
                  <a:pt x="4285" y="7719"/>
                </a:lnTo>
                <a:close/>
                <a:moveTo>
                  <a:pt x="410" y="0"/>
                </a:moveTo>
                <a:cubicBezTo>
                  <a:pt x="158" y="0"/>
                  <a:pt x="1" y="189"/>
                  <a:pt x="1" y="378"/>
                </a:cubicBezTo>
                <a:lnTo>
                  <a:pt x="1" y="5608"/>
                </a:lnTo>
                <a:cubicBezTo>
                  <a:pt x="1" y="5860"/>
                  <a:pt x="190" y="6017"/>
                  <a:pt x="410" y="6017"/>
                </a:cubicBezTo>
                <a:lnTo>
                  <a:pt x="3970" y="6017"/>
                </a:lnTo>
                <a:cubicBezTo>
                  <a:pt x="3907" y="6301"/>
                  <a:pt x="3813" y="6553"/>
                  <a:pt x="3813" y="6837"/>
                </a:cubicBezTo>
                <a:lnTo>
                  <a:pt x="2994" y="6837"/>
                </a:lnTo>
                <a:cubicBezTo>
                  <a:pt x="2773" y="6837"/>
                  <a:pt x="2616" y="7026"/>
                  <a:pt x="2616" y="7246"/>
                </a:cubicBezTo>
                <a:cubicBezTo>
                  <a:pt x="2616" y="7467"/>
                  <a:pt x="2805" y="7656"/>
                  <a:pt x="2994" y="7656"/>
                </a:cubicBezTo>
                <a:lnTo>
                  <a:pt x="3466" y="7656"/>
                </a:lnTo>
                <a:lnTo>
                  <a:pt x="4254" y="12255"/>
                </a:lnTo>
                <a:cubicBezTo>
                  <a:pt x="4285" y="12476"/>
                  <a:pt x="4443" y="12633"/>
                  <a:pt x="4664" y="12633"/>
                </a:cubicBezTo>
                <a:lnTo>
                  <a:pt x="7972" y="12633"/>
                </a:lnTo>
                <a:cubicBezTo>
                  <a:pt x="8161" y="12633"/>
                  <a:pt x="8350" y="12476"/>
                  <a:pt x="8350" y="12255"/>
                </a:cubicBezTo>
                <a:lnTo>
                  <a:pt x="9137" y="7656"/>
                </a:lnTo>
                <a:lnTo>
                  <a:pt x="9610" y="7656"/>
                </a:lnTo>
                <a:cubicBezTo>
                  <a:pt x="9862" y="7656"/>
                  <a:pt x="10019" y="7467"/>
                  <a:pt x="10019" y="7215"/>
                </a:cubicBezTo>
                <a:cubicBezTo>
                  <a:pt x="10019" y="6994"/>
                  <a:pt x="9799" y="6837"/>
                  <a:pt x="9610" y="6837"/>
                </a:cubicBezTo>
                <a:lnTo>
                  <a:pt x="8791" y="6837"/>
                </a:lnTo>
                <a:cubicBezTo>
                  <a:pt x="8791" y="6553"/>
                  <a:pt x="8759" y="6269"/>
                  <a:pt x="8633" y="6017"/>
                </a:cubicBezTo>
                <a:lnTo>
                  <a:pt x="12225" y="6017"/>
                </a:lnTo>
                <a:cubicBezTo>
                  <a:pt x="12445" y="6017"/>
                  <a:pt x="12603" y="5797"/>
                  <a:pt x="12603" y="5608"/>
                </a:cubicBezTo>
                <a:lnTo>
                  <a:pt x="12603" y="378"/>
                </a:lnTo>
                <a:cubicBezTo>
                  <a:pt x="12634" y="189"/>
                  <a:pt x="12445" y="0"/>
                  <a:pt x="12256"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98" name="Picture 2" descr="Cómo crear una propuesta de valor para tu negocio? | EAE">
            <a:extLst>
              <a:ext uri="{FF2B5EF4-FFF2-40B4-BE49-F238E27FC236}">
                <a16:creationId xmlns:a16="http://schemas.microsoft.com/office/drawing/2014/main" id="{2F7F44FD-39EE-4805-A6C5-FFD84EBA77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3856"/>
            <a:ext cx="6096000"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5320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C1F1EA9-884A-4D40-BAAF-2E23267B1010}"/>
              </a:ext>
            </a:extLst>
          </p:cNvPr>
          <p:cNvPicPr>
            <a:picLocks noChangeAspect="1"/>
          </p:cNvPicPr>
          <p:nvPr/>
        </p:nvPicPr>
        <p:blipFill>
          <a:blip r:embed="rId2"/>
          <a:stretch>
            <a:fillRect/>
          </a:stretch>
        </p:blipFill>
        <p:spPr>
          <a:xfrm>
            <a:off x="8883955" y="188344"/>
            <a:ext cx="3097036" cy="1798476"/>
          </a:xfrm>
          <a:prstGeom prst="rect">
            <a:avLst/>
          </a:prstGeom>
        </p:spPr>
      </p:pic>
      <p:sp>
        <p:nvSpPr>
          <p:cNvPr id="4" name="CuadroTexto 3">
            <a:extLst>
              <a:ext uri="{FF2B5EF4-FFF2-40B4-BE49-F238E27FC236}">
                <a16:creationId xmlns:a16="http://schemas.microsoft.com/office/drawing/2014/main" id="{363A83C4-69F4-4853-AEFB-D8B734F17476}"/>
              </a:ext>
            </a:extLst>
          </p:cNvPr>
          <p:cNvSpPr txBox="1"/>
          <p:nvPr/>
        </p:nvSpPr>
        <p:spPr>
          <a:xfrm>
            <a:off x="2905186" y="3410405"/>
            <a:ext cx="6096000" cy="707886"/>
          </a:xfrm>
          <a:prstGeom prst="rect">
            <a:avLst/>
          </a:prstGeom>
          <a:noFill/>
        </p:spPr>
        <p:txBody>
          <a:bodyPr wrap="square">
            <a:spAutoFit/>
          </a:bodyPr>
          <a:lstStyle/>
          <a:p>
            <a:pPr indent="180000" algn="just"/>
            <a:r>
              <a:rPr lang="es-ES" sz="2000" dirty="0">
                <a:solidFill>
                  <a:srgbClr val="000000"/>
                </a:solidFill>
                <a:effectLst/>
                <a:latin typeface="Times New Roman" panose="02020603050405020304" pitchFamily="18" charset="0"/>
                <a:ea typeface="Calibri" panose="020F0502020204030204" pitchFamily="34" charset="0"/>
              </a:rPr>
              <a:t>Estrategias para la Atención al Cliente en Banesco Banco Universal, C.A, Gerencia de Red de Sucursales, </a:t>
            </a:r>
            <a:endParaRPr lang="es-VE" sz="3200" dirty="0"/>
          </a:p>
        </p:txBody>
      </p:sp>
      <p:sp>
        <p:nvSpPr>
          <p:cNvPr id="6" name="CuadroTexto 5">
            <a:extLst>
              <a:ext uri="{FF2B5EF4-FFF2-40B4-BE49-F238E27FC236}">
                <a16:creationId xmlns:a16="http://schemas.microsoft.com/office/drawing/2014/main" id="{06802C31-160B-4EDA-B2F2-2614B91007A9}"/>
              </a:ext>
            </a:extLst>
          </p:cNvPr>
          <p:cNvSpPr txBox="1"/>
          <p:nvPr/>
        </p:nvSpPr>
        <p:spPr>
          <a:xfrm>
            <a:off x="4294909" y="1507884"/>
            <a:ext cx="2133600" cy="46166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2400" b="1" i="1" u="sng" strike="noStrike" kern="1200" cap="none" spc="0" normalizeH="0" baseline="0" noProof="0" dirty="0">
                <a:ln>
                  <a:noFill/>
                </a:ln>
                <a:solidFill>
                  <a:prstClr val="black"/>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mn-ea"/>
              </a:rPr>
              <a:t>La Propuesta</a:t>
            </a:r>
          </a:p>
        </p:txBody>
      </p:sp>
      <p:sp>
        <p:nvSpPr>
          <p:cNvPr id="7" name="Cuadro de texto 8">
            <a:extLst>
              <a:ext uri="{FF2B5EF4-FFF2-40B4-BE49-F238E27FC236}">
                <a16:creationId xmlns:a16="http://schemas.microsoft.com/office/drawing/2014/main" id="{A22947A0-4582-4D16-BB75-E682CDBC325F}"/>
              </a:ext>
            </a:extLst>
          </p:cNvPr>
          <p:cNvSpPr txBox="1"/>
          <p:nvPr/>
        </p:nvSpPr>
        <p:spPr>
          <a:xfrm>
            <a:off x="862595" y="188344"/>
            <a:ext cx="1620560" cy="523220"/>
          </a:xfrm>
          <a:prstGeom prst="rect">
            <a:avLst/>
          </a:prstGeom>
          <a:noFill/>
        </p:spPr>
        <p:txBody>
          <a:bodyPr wrap="square" rtlCol="0">
            <a:spAutoFit/>
          </a:bodyPr>
          <a:lstStyle/>
          <a:p>
            <a:pPr algn="ctr" defTabSz="914400"/>
            <a:r>
              <a:rPr lang="es-ES" altLang="en-US" sz="1400" b="1" dirty="0">
                <a:latin typeface="Times New Roman" panose="02020603050405020304" pitchFamily="18" charset="0"/>
                <a:cs typeface="Times New Roman" panose="02020603050405020304" pitchFamily="18" charset="0"/>
              </a:rPr>
              <a:t>CAPÍTULO </a:t>
            </a:r>
          </a:p>
          <a:p>
            <a:pPr algn="ctr" defTabSz="914400"/>
            <a:r>
              <a:rPr lang="es-ES" altLang="en-US" sz="1400" b="1" dirty="0">
                <a:latin typeface="Times New Roman" panose="02020603050405020304" pitchFamily="18" charset="0"/>
                <a:cs typeface="Times New Roman" panose="02020603050405020304" pitchFamily="18" charset="0"/>
              </a:rPr>
              <a:t>LA PROPUESTA</a:t>
            </a:r>
          </a:p>
        </p:txBody>
      </p:sp>
    </p:spTree>
    <p:extLst>
      <p:ext uri="{BB962C8B-B14F-4D97-AF65-F5344CB8AC3E}">
        <p14:creationId xmlns:p14="http://schemas.microsoft.com/office/powerpoint/2010/main" val="3823960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971B0222-47A3-47D6-8E44-A4D6F0A4FD1F}"/>
              </a:ext>
            </a:extLst>
          </p:cNvPr>
          <p:cNvSpPr txBox="1"/>
          <p:nvPr/>
        </p:nvSpPr>
        <p:spPr>
          <a:xfrm>
            <a:off x="1672875" y="711564"/>
            <a:ext cx="6096000" cy="2190856"/>
          </a:xfrm>
          <a:prstGeom prst="rect">
            <a:avLst/>
          </a:prstGeom>
          <a:noFill/>
        </p:spPr>
        <p:txBody>
          <a:bodyPr wrap="square">
            <a:spAutoFit/>
          </a:bodyPr>
          <a:lstStyle/>
          <a:p>
            <a:pPr indent="180340" algn="ctr">
              <a:lnSpc>
                <a:spcPct val="150000"/>
              </a:lnSpc>
              <a:spcAft>
                <a:spcPts val="1000"/>
              </a:spcAft>
            </a:pPr>
            <a:r>
              <a:rPr lang="es-ES" sz="1800" b="1" i="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s-VE" sz="1600" dirty="0">
              <a:effectLst/>
              <a:latin typeface="Calibri" panose="020F0502020204030204" pitchFamily="34" charset="0"/>
              <a:ea typeface="Calibri" panose="020F0502020204030204" pitchFamily="34" charset="0"/>
              <a:cs typeface="Times New Roman" panose="02020603050405020304" pitchFamily="18" charset="0"/>
            </a:endParaRPr>
          </a:p>
          <a:p>
            <a:pPr marL="981075" marR="721995" algn="ctr">
              <a:lnSpc>
                <a:spcPct val="115000"/>
              </a:lnSpc>
              <a:spcBef>
                <a:spcPts val="5"/>
              </a:spcBef>
              <a:spcAft>
                <a:spcPts val="1000"/>
              </a:spcAft>
            </a:pPr>
            <a:r>
              <a:rPr lang="es-ES" sz="1800" b="1" i="1" u="sng" dirty="0">
                <a:effectLst/>
                <a:latin typeface="Arial" panose="020B0604020202020204" pitchFamily="34" charset="0"/>
                <a:ea typeface="Arial" panose="020B0604020202020204" pitchFamily="34" charset="0"/>
                <a:cs typeface="Times New Roman" panose="02020603050405020304" pitchFamily="18" charset="0"/>
              </a:rPr>
              <a:t>Título</a:t>
            </a:r>
            <a:r>
              <a:rPr lang="es-ES" sz="1800" b="1" dirty="0">
                <a:effectLst/>
                <a:latin typeface="Arial" panose="020B0604020202020204" pitchFamily="34" charset="0"/>
                <a:ea typeface="Arial" panose="020B0604020202020204" pitchFamily="34" charset="0"/>
                <a:cs typeface="Times New Roman" panose="02020603050405020304" pitchFamily="18" charset="0"/>
              </a:rPr>
              <a:t> </a:t>
            </a:r>
            <a:endParaRPr lang="es-VE" sz="1600" dirty="0">
              <a:effectLst/>
              <a:latin typeface="Calibri" panose="020F0502020204030204" pitchFamily="34" charset="0"/>
              <a:ea typeface="Calibri" panose="020F0502020204030204" pitchFamily="34" charset="0"/>
              <a:cs typeface="Times New Roman" panose="02020603050405020304" pitchFamily="18" charset="0"/>
            </a:endParaRPr>
          </a:p>
          <a:p>
            <a:pPr indent="180340" algn="ctr">
              <a:lnSpc>
                <a:spcPct val="150000"/>
              </a:lnSpc>
            </a:pP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Estrategias de Atención al Cliente en Banesco Banco Universal  , C.A. a la Gerencia de Red de Sucursales </a:t>
            </a:r>
            <a:r>
              <a:rPr lang="es-E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Estado Bolivariano de Miranda.</a:t>
            </a:r>
            <a:endParaRPr lang="es-VE"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8" name="Imagen 7">
            <a:extLst>
              <a:ext uri="{FF2B5EF4-FFF2-40B4-BE49-F238E27FC236}">
                <a16:creationId xmlns:a16="http://schemas.microsoft.com/office/drawing/2014/main" id="{2FDA1697-2EE8-49B7-94C8-B03DAC6A04FC}"/>
              </a:ext>
            </a:extLst>
          </p:cNvPr>
          <p:cNvPicPr>
            <a:picLocks noChangeAspect="1"/>
          </p:cNvPicPr>
          <p:nvPr/>
        </p:nvPicPr>
        <p:blipFill>
          <a:blip r:embed="rId2"/>
          <a:stretch>
            <a:fillRect/>
          </a:stretch>
        </p:blipFill>
        <p:spPr>
          <a:xfrm>
            <a:off x="8828536" y="0"/>
            <a:ext cx="3097036" cy="1798476"/>
          </a:xfrm>
          <a:prstGeom prst="rect">
            <a:avLst/>
          </a:prstGeom>
        </p:spPr>
      </p:pic>
      <p:sp>
        <p:nvSpPr>
          <p:cNvPr id="10" name="CuadroTexto 9">
            <a:extLst>
              <a:ext uri="{FF2B5EF4-FFF2-40B4-BE49-F238E27FC236}">
                <a16:creationId xmlns:a16="http://schemas.microsoft.com/office/drawing/2014/main" id="{305D67C4-4A3E-47B0-A621-7F25CB56C5FE}"/>
              </a:ext>
            </a:extLst>
          </p:cNvPr>
          <p:cNvSpPr txBox="1"/>
          <p:nvPr/>
        </p:nvSpPr>
        <p:spPr>
          <a:xfrm>
            <a:off x="4698797" y="3027082"/>
            <a:ext cx="6096000" cy="463075"/>
          </a:xfrm>
          <a:prstGeom prst="rect">
            <a:avLst/>
          </a:prstGeom>
          <a:noFill/>
        </p:spPr>
        <p:txBody>
          <a:bodyPr wrap="square">
            <a:spAutoFit/>
          </a:bodyPr>
          <a:lstStyle/>
          <a:p>
            <a:pPr marL="981075" marR="721360" algn="ctr">
              <a:lnSpc>
                <a:spcPct val="150000"/>
              </a:lnSpc>
              <a:spcAft>
                <a:spcPts val="1000"/>
              </a:spcAft>
            </a:pPr>
            <a:r>
              <a:rPr lang="es-ES" sz="1800" b="1" i="1" dirty="0">
                <a:effectLst/>
                <a:latin typeface="Arial" panose="020B0604020202020204" pitchFamily="34" charset="0"/>
                <a:ea typeface="Arial" panose="020B0604020202020204" pitchFamily="34" charset="0"/>
                <a:cs typeface="Times New Roman" panose="02020603050405020304" pitchFamily="18" charset="0"/>
              </a:rPr>
              <a:t>Fundamentación</a:t>
            </a:r>
            <a:endParaRPr lang="es-VE"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10DD346D-DF59-4C53-8CED-EDD86A4A6419}"/>
              </a:ext>
            </a:extLst>
          </p:cNvPr>
          <p:cNvSpPr txBox="1"/>
          <p:nvPr/>
        </p:nvSpPr>
        <p:spPr>
          <a:xfrm>
            <a:off x="4191261" y="3512153"/>
            <a:ext cx="7111072" cy="3007490"/>
          </a:xfrm>
          <a:prstGeom prst="rect">
            <a:avLst/>
          </a:prstGeom>
          <a:noFill/>
        </p:spPr>
        <p:txBody>
          <a:bodyPr wrap="square">
            <a:spAutoFit/>
          </a:bodyPr>
          <a:lstStyle/>
          <a:p>
            <a:pPr indent="180340" algn="just">
              <a:lnSpc>
                <a:spcPct val="150000"/>
              </a:lnSpc>
              <a:spcAft>
                <a:spcPts val="1000"/>
              </a:spcAft>
            </a:pP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La</a:t>
            </a:r>
            <a:r>
              <a:rPr lang="es-ES" sz="1600" spc="-70"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situación</a:t>
            </a:r>
            <a:r>
              <a:rPr lang="es-ES" sz="1600" spc="-6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que</a:t>
            </a:r>
            <a:r>
              <a:rPr lang="es-ES" sz="1600" spc="-70"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da</a:t>
            </a:r>
            <a:r>
              <a:rPr lang="es-ES" sz="1600" spc="-6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origen</a:t>
            </a:r>
            <a:r>
              <a:rPr lang="es-ES" sz="1600" spc="-70" dirty="0">
                <a:effectLst/>
                <a:latin typeface="Times New Roman" panose="02020603050405020304" pitchFamily="18" charset="0"/>
                <a:ea typeface="Calibri" panose="020F0502020204030204" pitchFamily="34" charset="0"/>
                <a:cs typeface="Times New Roman" panose="02020603050405020304" pitchFamily="18" charset="0"/>
              </a:rPr>
              <a:t> a proponer </a:t>
            </a:r>
            <a:r>
              <a:rPr lang="es-ES" sz="1600" spc="-65" dirty="0">
                <a:effectLst/>
                <a:latin typeface="Times New Roman" panose="02020603050405020304" pitchFamily="18" charset="0"/>
                <a:ea typeface="Calibri" panose="020F0502020204030204" pitchFamily="34" charset="0"/>
                <a:cs typeface="Times New Roman" panose="02020603050405020304" pitchFamily="18" charset="0"/>
              </a:rPr>
              <a:t>estrategias</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 para agilizar la Atención al Cliente en Banesco Banco Universal, C.A, a la Gerencia de Red de Sucursales, en especial en la agencia 0331 Parque Cristal, en el área de  promoción que</a:t>
            </a:r>
            <a:r>
              <a:rPr lang="es-ES" sz="16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integra</a:t>
            </a:r>
            <a:r>
              <a:rPr lang="es-ES" sz="1600" spc="-10" dirty="0">
                <a:effectLst/>
                <a:latin typeface="Times New Roman" panose="02020603050405020304" pitchFamily="18" charset="0"/>
                <a:ea typeface="Calibri" panose="020F0502020204030204" pitchFamily="34" charset="0"/>
                <a:cs typeface="Times New Roman" panose="02020603050405020304" pitchFamily="18" charset="0"/>
              </a:rPr>
              <a:t> en</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 la </a:t>
            </a:r>
            <a:r>
              <a:rPr lang="es-ES" sz="1600" spc="-10" dirty="0">
                <a:effectLst/>
                <a:latin typeface="Times New Roman" panose="02020603050405020304" pitchFamily="18" charset="0"/>
                <a:ea typeface="Calibri" panose="020F0502020204030204" pitchFamily="34" charset="0"/>
                <a:cs typeface="Times New Roman" panose="02020603050405020304" pitchFamily="18" charset="0"/>
              </a:rPr>
              <a:t>agencia</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 en los últimos meses se generó un  aumento de quejas  chechas por los cliente por el tiempo de espera en el área de promoción, la agencia carece de tan importante procedimiento de apoyo y debe mejorar la calidad de atención al cliente, lo</a:t>
            </a:r>
            <a:r>
              <a:rPr lang="es-ES" sz="16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cual</a:t>
            </a:r>
            <a:r>
              <a:rPr lang="es-ES" sz="16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ha</a:t>
            </a:r>
            <a:r>
              <a:rPr lang="es-ES" sz="1600"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ocasionado</a:t>
            </a:r>
            <a:r>
              <a:rPr lang="es-ES" sz="1600"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graves</a:t>
            </a:r>
            <a:r>
              <a:rPr lang="es-ES" sz="16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consecuencias</a:t>
            </a:r>
            <a:r>
              <a:rPr lang="es-ES" sz="16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en</a:t>
            </a:r>
            <a:r>
              <a:rPr lang="es-ES" sz="1600"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cuanto</a:t>
            </a:r>
            <a:r>
              <a:rPr lang="es-ES" sz="1600"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a la calidad de servicio en atención al cliente.</a:t>
            </a:r>
            <a:endParaRPr lang="es-VE"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Cuadro de texto 8">
            <a:extLst>
              <a:ext uri="{FF2B5EF4-FFF2-40B4-BE49-F238E27FC236}">
                <a16:creationId xmlns:a16="http://schemas.microsoft.com/office/drawing/2014/main" id="{73F69F43-4CE2-4761-A3B3-F2A8B4002AA7}"/>
              </a:ext>
            </a:extLst>
          </p:cNvPr>
          <p:cNvSpPr txBox="1"/>
          <p:nvPr/>
        </p:nvSpPr>
        <p:spPr>
          <a:xfrm>
            <a:off x="862595" y="188344"/>
            <a:ext cx="1620560" cy="523220"/>
          </a:xfrm>
          <a:prstGeom prst="rect">
            <a:avLst/>
          </a:prstGeom>
          <a:noFill/>
        </p:spPr>
        <p:txBody>
          <a:bodyPr wrap="square" rtlCol="0">
            <a:spAutoFit/>
          </a:bodyPr>
          <a:lstStyle/>
          <a:p>
            <a:pPr algn="ctr" defTabSz="914400"/>
            <a:r>
              <a:rPr lang="es-ES" altLang="en-US" sz="1400" b="1" dirty="0">
                <a:latin typeface="Times New Roman" panose="02020603050405020304" pitchFamily="18" charset="0"/>
                <a:cs typeface="Times New Roman" panose="02020603050405020304" pitchFamily="18" charset="0"/>
              </a:rPr>
              <a:t>CAPÍTULO  </a:t>
            </a:r>
          </a:p>
          <a:p>
            <a:pPr algn="ctr" defTabSz="914400"/>
            <a:r>
              <a:rPr lang="es-ES" altLang="en-US" sz="1400" b="1" dirty="0">
                <a:latin typeface="Times New Roman" panose="02020603050405020304" pitchFamily="18" charset="0"/>
                <a:cs typeface="Times New Roman" panose="02020603050405020304" pitchFamily="18" charset="0"/>
              </a:rPr>
              <a:t>LA PROPUESTA</a:t>
            </a:r>
          </a:p>
        </p:txBody>
      </p:sp>
    </p:spTree>
    <p:extLst>
      <p:ext uri="{BB962C8B-B14F-4D97-AF65-F5344CB8AC3E}">
        <p14:creationId xmlns:p14="http://schemas.microsoft.com/office/powerpoint/2010/main" val="1748213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a 4">
            <a:extLst>
              <a:ext uri="{FF2B5EF4-FFF2-40B4-BE49-F238E27FC236}">
                <a16:creationId xmlns:a16="http://schemas.microsoft.com/office/drawing/2014/main" id="{0A3C884B-54E5-4224-8D27-13122D625E15}"/>
              </a:ext>
            </a:extLst>
          </p:cNvPr>
          <p:cNvGraphicFramePr/>
          <p:nvPr>
            <p:extLst>
              <p:ext uri="{D42A27DB-BD31-4B8C-83A1-F6EECF244321}">
                <p14:modId xmlns:p14="http://schemas.microsoft.com/office/powerpoint/2010/main" val="1596278677"/>
              </p:ext>
            </p:extLst>
          </p:nvPr>
        </p:nvGraphicFramePr>
        <p:xfrm>
          <a:off x="1607814" y="11768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20F3FAA3-B9CF-4AF7-B400-AFB7E722D25F}"/>
              </a:ext>
            </a:extLst>
          </p:cNvPr>
          <p:cNvPicPr>
            <a:picLocks noChangeAspect="1"/>
          </p:cNvPicPr>
          <p:nvPr/>
        </p:nvPicPr>
        <p:blipFill>
          <a:blip r:embed="rId7"/>
          <a:stretch>
            <a:fillRect/>
          </a:stretch>
        </p:blipFill>
        <p:spPr>
          <a:xfrm>
            <a:off x="9035668" y="139933"/>
            <a:ext cx="3097036" cy="1798476"/>
          </a:xfrm>
          <a:prstGeom prst="rect">
            <a:avLst/>
          </a:prstGeom>
        </p:spPr>
      </p:pic>
      <p:sp>
        <p:nvSpPr>
          <p:cNvPr id="8" name="Cuadro de texto 8">
            <a:extLst>
              <a:ext uri="{FF2B5EF4-FFF2-40B4-BE49-F238E27FC236}">
                <a16:creationId xmlns:a16="http://schemas.microsoft.com/office/drawing/2014/main" id="{0C6701FD-EB53-4F03-A6F4-22B0DFB2CB01}"/>
              </a:ext>
            </a:extLst>
          </p:cNvPr>
          <p:cNvSpPr txBox="1"/>
          <p:nvPr/>
        </p:nvSpPr>
        <p:spPr>
          <a:xfrm>
            <a:off x="862595" y="188344"/>
            <a:ext cx="1620560" cy="523220"/>
          </a:xfrm>
          <a:prstGeom prst="rect">
            <a:avLst/>
          </a:prstGeom>
          <a:noFill/>
        </p:spPr>
        <p:txBody>
          <a:bodyPr wrap="square" rtlCol="0">
            <a:spAutoFit/>
          </a:bodyPr>
          <a:lstStyle/>
          <a:p>
            <a:pPr algn="ctr" defTabSz="914400"/>
            <a:r>
              <a:rPr lang="es-ES" altLang="en-US" sz="1400" b="1" dirty="0">
                <a:latin typeface="Times New Roman" panose="02020603050405020304" pitchFamily="18" charset="0"/>
                <a:cs typeface="Times New Roman" panose="02020603050405020304" pitchFamily="18" charset="0"/>
              </a:rPr>
              <a:t>CAPÍTULO  </a:t>
            </a:r>
          </a:p>
          <a:p>
            <a:pPr algn="ctr" defTabSz="914400"/>
            <a:r>
              <a:rPr lang="es-ES" altLang="en-US" sz="1400" b="1" dirty="0">
                <a:latin typeface="Times New Roman" panose="02020603050405020304" pitchFamily="18" charset="0"/>
                <a:cs typeface="Times New Roman" panose="02020603050405020304" pitchFamily="18" charset="0"/>
              </a:rPr>
              <a:t>LA PROPUESTA</a:t>
            </a:r>
          </a:p>
        </p:txBody>
      </p:sp>
    </p:spTree>
    <p:extLst>
      <p:ext uri="{BB962C8B-B14F-4D97-AF65-F5344CB8AC3E}">
        <p14:creationId xmlns:p14="http://schemas.microsoft.com/office/powerpoint/2010/main" val="1880030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43861AF7-4030-404E-A16C-7C73E9FBADAF}"/>
              </a:ext>
            </a:extLst>
          </p:cNvPr>
          <p:cNvSpPr txBox="1"/>
          <p:nvPr/>
        </p:nvSpPr>
        <p:spPr>
          <a:xfrm>
            <a:off x="1842655" y="992904"/>
            <a:ext cx="3158837" cy="587148"/>
          </a:xfrm>
          <a:prstGeom prst="rect">
            <a:avLst/>
          </a:prstGeom>
          <a:noFill/>
        </p:spPr>
        <p:txBody>
          <a:bodyPr wrap="square">
            <a:spAutoFit/>
          </a:bodyPr>
          <a:lstStyle/>
          <a:p>
            <a:pPr algn="ctr">
              <a:lnSpc>
                <a:spcPct val="150000"/>
              </a:lnSpc>
              <a:spcAft>
                <a:spcPts val="1000"/>
              </a:spcAft>
              <a:tabLst>
                <a:tab pos="3921125" algn="l"/>
              </a:tabLst>
            </a:pPr>
            <a:r>
              <a:rPr lang="es-ES" sz="2400" b="1" i="1" u="sng" dirty="0">
                <a:effectLst/>
                <a:latin typeface="Times New Roman" panose="02020603050405020304" pitchFamily="18" charset="0"/>
                <a:ea typeface="Calibri" panose="020F0502020204030204" pitchFamily="34" charset="0"/>
                <a:cs typeface="Times New Roman" panose="02020603050405020304" pitchFamily="18" charset="0"/>
              </a:rPr>
              <a:t>Metas</a:t>
            </a:r>
            <a:endParaRPr lang="es-VE" sz="2000" i="1" u="sng"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2B249B0E-A355-439E-A179-799BE5F3A9E4}"/>
              </a:ext>
            </a:extLst>
          </p:cNvPr>
          <p:cNvSpPr txBox="1"/>
          <p:nvPr/>
        </p:nvSpPr>
        <p:spPr>
          <a:xfrm>
            <a:off x="1842655" y="1858973"/>
            <a:ext cx="6096000" cy="1077218"/>
          </a:xfrm>
          <a:prstGeom prst="rect">
            <a:avLst/>
          </a:prstGeom>
          <a:noFill/>
        </p:spPr>
        <p:txBody>
          <a:bodyPr wrap="square">
            <a:spAutoFit/>
          </a:bodyPr>
          <a:lstStyle/>
          <a:p>
            <a:pPr algn="just"/>
            <a:r>
              <a:rPr lang="es-ES" sz="1600" dirty="0">
                <a:solidFill>
                  <a:srgbClr val="000000"/>
                </a:solidFill>
                <a:effectLst/>
                <a:latin typeface="Times New Roman" panose="02020603050405020304" pitchFamily="18" charset="0"/>
                <a:ea typeface="Times New Roman" panose="02020603050405020304" pitchFamily="18" charset="0"/>
              </a:rPr>
              <a:t>  Se propuso lograr,  </a:t>
            </a:r>
            <a:r>
              <a:rPr lang="es-ES" sz="1600" dirty="0">
                <a:solidFill>
                  <a:srgbClr val="000000"/>
                </a:solidFill>
                <a:latin typeface="Times New Roman" panose="02020603050405020304" pitchFamily="18" charset="0"/>
                <a:ea typeface="Times New Roman" panose="02020603050405020304" pitchFamily="18" charset="0"/>
              </a:rPr>
              <a:t>e</a:t>
            </a:r>
            <a:r>
              <a:rPr lang="es-ES" sz="1600" dirty="0">
                <a:solidFill>
                  <a:srgbClr val="000000"/>
                </a:solidFill>
                <a:effectLst/>
                <a:latin typeface="Times New Roman" panose="02020603050405020304" pitchFamily="18" charset="0"/>
                <a:ea typeface="Times New Roman" panose="02020603050405020304" pitchFamily="18" charset="0"/>
              </a:rPr>
              <a:t>n un periodo de (2) meses aproximadamente, desde el 15 de mayo al 17 de julio del 2023, las cuales permitirán </a:t>
            </a:r>
            <a:r>
              <a:rPr lang="es-ES" sz="1600" dirty="0">
                <a:solidFill>
                  <a:srgbClr val="000000"/>
                </a:solidFill>
                <a:latin typeface="Times New Roman" panose="02020603050405020304" pitchFamily="18" charset="0"/>
                <a:ea typeface="Times New Roman" panose="02020603050405020304" pitchFamily="18" charset="0"/>
              </a:rPr>
              <a:t>mejorar la calidad en la </a:t>
            </a:r>
            <a:r>
              <a:rPr lang="es-ES" sz="1600" dirty="0">
                <a:solidFill>
                  <a:srgbClr val="000000"/>
                </a:solidFill>
                <a:effectLst/>
                <a:latin typeface="Times New Roman" panose="02020603050405020304" pitchFamily="18" charset="0"/>
                <a:ea typeface="Times New Roman" panose="02020603050405020304" pitchFamily="18" charset="0"/>
              </a:rPr>
              <a:t>atención al cliente en el área de promoción, trayendo consigo mejor calidad de atención al cliente. </a:t>
            </a:r>
            <a:endParaRPr lang="es-VE" sz="2400" dirty="0"/>
          </a:p>
        </p:txBody>
      </p:sp>
      <p:sp>
        <p:nvSpPr>
          <p:cNvPr id="9" name="Elipse 8">
            <a:extLst>
              <a:ext uri="{FF2B5EF4-FFF2-40B4-BE49-F238E27FC236}">
                <a16:creationId xmlns:a16="http://schemas.microsoft.com/office/drawing/2014/main" id="{9BAFD915-7F48-4D86-835B-0719DDE06A2F}"/>
              </a:ext>
            </a:extLst>
          </p:cNvPr>
          <p:cNvSpPr/>
          <p:nvPr/>
        </p:nvSpPr>
        <p:spPr>
          <a:xfrm>
            <a:off x="1011382" y="1371600"/>
            <a:ext cx="831273" cy="12053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pic>
        <p:nvPicPr>
          <p:cNvPr id="2" name="Imagen 1">
            <a:extLst>
              <a:ext uri="{FF2B5EF4-FFF2-40B4-BE49-F238E27FC236}">
                <a16:creationId xmlns:a16="http://schemas.microsoft.com/office/drawing/2014/main" id="{A62412EB-FC8D-4DA5-B120-25AB190BAFDC}"/>
              </a:ext>
            </a:extLst>
          </p:cNvPr>
          <p:cNvPicPr>
            <a:picLocks noChangeAspect="1"/>
          </p:cNvPicPr>
          <p:nvPr/>
        </p:nvPicPr>
        <p:blipFill>
          <a:blip r:embed="rId2"/>
          <a:stretch>
            <a:fillRect/>
          </a:stretch>
        </p:blipFill>
        <p:spPr>
          <a:xfrm>
            <a:off x="8315919" y="414950"/>
            <a:ext cx="3097036" cy="1798476"/>
          </a:xfrm>
          <a:prstGeom prst="rect">
            <a:avLst/>
          </a:prstGeom>
        </p:spPr>
      </p:pic>
      <p:sp>
        <p:nvSpPr>
          <p:cNvPr id="7" name="CuadroTexto 6">
            <a:extLst>
              <a:ext uri="{FF2B5EF4-FFF2-40B4-BE49-F238E27FC236}">
                <a16:creationId xmlns:a16="http://schemas.microsoft.com/office/drawing/2014/main" id="{7069CD30-D61F-4605-AD97-79BE8A2C484D}"/>
              </a:ext>
            </a:extLst>
          </p:cNvPr>
          <p:cNvSpPr txBox="1"/>
          <p:nvPr/>
        </p:nvSpPr>
        <p:spPr>
          <a:xfrm>
            <a:off x="4918366" y="3921810"/>
            <a:ext cx="6096000" cy="1513235"/>
          </a:xfrm>
          <a:prstGeom prst="rect">
            <a:avLst/>
          </a:prstGeom>
          <a:noFill/>
        </p:spPr>
        <p:txBody>
          <a:bodyPr wrap="square">
            <a:spAutoFit/>
          </a:bodyPr>
          <a:lstStyle/>
          <a:p>
            <a:pPr indent="180340" algn="ctr">
              <a:lnSpc>
                <a:spcPct val="150000"/>
              </a:lnSpc>
              <a:spcAft>
                <a:spcPts val="1000"/>
              </a:spcAft>
            </a:pPr>
            <a:r>
              <a:rPr lang="es-ES" sz="2400" b="1" i="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Plan de Acción</a:t>
            </a:r>
            <a:endParaRPr lang="es-VE" sz="2400" i="1" u="sng"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Un plan es una intención o un proyecto. Se trata de un modelo sistemático que se elabora antes de realizar una acción, con el objetivo de dirigirla y encauzarla.</a:t>
            </a:r>
            <a:endParaRPr lang="es-VE" sz="1600" dirty="0">
              <a:latin typeface="Times New Roman" panose="02020603050405020304" pitchFamily="18" charset="0"/>
              <a:cs typeface="Times New Roman" panose="02020603050405020304" pitchFamily="18" charset="0"/>
            </a:endParaRPr>
          </a:p>
        </p:txBody>
      </p:sp>
      <p:sp>
        <p:nvSpPr>
          <p:cNvPr id="10" name="Elipse 9">
            <a:extLst>
              <a:ext uri="{FF2B5EF4-FFF2-40B4-BE49-F238E27FC236}">
                <a16:creationId xmlns:a16="http://schemas.microsoft.com/office/drawing/2014/main" id="{DBECD92E-ACBF-4F91-BBDF-6E1C5120BBBF}"/>
              </a:ext>
            </a:extLst>
          </p:cNvPr>
          <p:cNvSpPr/>
          <p:nvPr/>
        </p:nvSpPr>
        <p:spPr>
          <a:xfrm>
            <a:off x="4170219" y="3726873"/>
            <a:ext cx="831273" cy="12053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11" name="Cuadro de texto 8">
            <a:extLst>
              <a:ext uri="{FF2B5EF4-FFF2-40B4-BE49-F238E27FC236}">
                <a16:creationId xmlns:a16="http://schemas.microsoft.com/office/drawing/2014/main" id="{66834F8F-ADD1-4863-B595-B20009AD87F2}"/>
              </a:ext>
            </a:extLst>
          </p:cNvPr>
          <p:cNvSpPr txBox="1"/>
          <p:nvPr/>
        </p:nvSpPr>
        <p:spPr>
          <a:xfrm>
            <a:off x="862595" y="188344"/>
            <a:ext cx="1620560" cy="523220"/>
          </a:xfrm>
          <a:prstGeom prst="rect">
            <a:avLst/>
          </a:prstGeom>
          <a:noFill/>
        </p:spPr>
        <p:txBody>
          <a:bodyPr wrap="square" rtlCol="0">
            <a:spAutoFit/>
          </a:bodyPr>
          <a:lstStyle/>
          <a:p>
            <a:pPr algn="ctr" defTabSz="914400"/>
            <a:r>
              <a:rPr lang="es-ES" altLang="en-US" sz="1400" b="1" dirty="0">
                <a:latin typeface="Times New Roman" panose="02020603050405020304" pitchFamily="18" charset="0"/>
                <a:cs typeface="Times New Roman" panose="02020603050405020304" pitchFamily="18" charset="0"/>
              </a:rPr>
              <a:t>CAPÍTULO  </a:t>
            </a:r>
          </a:p>
          <a:p>
            <a:pPr algn="ctr" defTabSz="914400"/>
            <a:r>
              <a:rPr lang="es-ES" altLang="en-US" sz="1400" b="1" dirty="0">
                <a:latin typeface="Times New Roman" panose="02020603050405020304" pitchFamily="18" charset="0"/>
                <a:cs typeface="Times New Roman" panose="02020603050405020304" pitchFamily="18" charset="0"/>
              </a:rPr>
              <a:t>LA PROPUESTA</a:t>
            </a:r>
          </a:p>
        </p:txBody>
      </p:sp>
    </p:spTree>
    <p:extLst>
      <p:ext uri="{BB962C8B-B14F-4D97-AF65-F5344CB8AC3E}">
        <p14:creationId xmlns:p14="http://schemas.microsoft.com/office/powerpoint/2010/main" val="4228429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a 7">
            <a:extLst>
              <a:ext uri="{FF2B5EF4-FFF2-40B4-BE49-F238E27FC236}">
                <a16:creationId xmlns:a16="http://schemas.microsoft.com/office/drawing/2014/main" id="{68224096-0084-439A-82A9-6647DA3C9DFC}"/>
              </a:ext>
            </a:extLst>
          </p:cNvPr>
          <p:cNvGraphicFramePr>
            <a:graphicFrameLocks noGrp="1"/>
          </p:cNvGraphicFramePr>
          <p:nvPr>
            <p:extLst>
              <p:ext uri="{D42A27DB-BD31-4B8C-83A1-F6EECF244321}">
                <p14:modId xmlns:p14="http://schemas.microsoft.com/office/powerpoint/2010/main" val="3028997690"/>
              </p:ext>
            </p:extLst>
          </p:nvPr>
        </p:nvGraphicFramePr>
        <p:xfrm>
          <a:off x="900546" y="164147"/>
          <a:ext cx="10958945" cy="6529706"/>
        </p:xfrm>
        <a:graphic>
          <a:graphicData uri="http://schemas.openxmlformats.org/drawingml/2006/table">
            <a:tbl>
              <a:tblPr firstRow="1" bandRow="1">
                <a:tableStyleId>{5C22544A-7EE6-4342-B048-85BDC9FD1C3A}</a:tableStyleId>
              </a:tblPr>
              <a:tblGrid>
                <a:gridCol w="2895599">
                  <a:extLst>
                    <a:ext uri="{9D8B030D-6E8A-4147-A177-3AD203B41FA5}">
                      <a16:colId xmlns:a16="http://schemas.microsoft.com/office/drawing/2014/main" val="4145553183"/>
                    </a:ext>
                  </a:extLst>
                </a:gridCol>
                <a:gridCol w="1052946">
                  <a:extLst>
                    <a:ext uri="{9D8B030D-6E8A-4147-A177-3AD203B41FA5}">
                      <a16:colId xmlns:a16="http://schemas.microsoft.com/office/drawing/2014/main" val="2131999491"/>
                    </a:ext>
                  </a:extLst>
                </a:gridCol>
                <a:gridCol w="3657600">
                  <a:extLst>
                    <a:ext uri="{9D8B030D-6E8A-4147-A177-3AD203B41FA5}">
                      <a16:colId xmlns:a16="http://schemas.microsoft.com/office/drawing/2014/main" val="325575939"/>
                    </a:ext>
                  </a:extLst>
                </a:gridCol>
                <a:gridCol w="1967345">
                  <a:extLst>
                    <a:ext uri="{9D8B030D-6E8A-4147-A177-3AD203B41FA5}">
                      <a16:colId xmlns:a16="http://schemas.microsoft.com/office/drawing/2014/main" val="3778838456"/>
                    </a:ext>
                  </a:extLst>
                </a:gridCol>
                <a:gridCol w="1385455">
                  <a:extLst>
                    <a:ext uri="{9D8B030D-6E8A-4147-A177-3AD203B41FA5}">
                      <a16:colId xmlns:a16="http://schemas.microsoft.com/office/drawing/2014/main" val="1782919634"/>
                    </a:ext>
                  </a:extLst>
                </a:gridCol>
              </a:tblGrid>
              <a:tr h="329216">
                <a:tc>
                  <a:txBody>
                    <a:bodyPr/>
                    <a:lstStyle/>
                    <a:p>
                      <a:pPr algn="ctr"/>
                      <a:r>
                        <a:rPr lang="es-ES" sz="1800" b="1" kern="1200" dirty="0">
                          <a:solidFill>
                            <a:schemeClr val="tx1"/>
                          </a:solidFill>
                          <a:effectLst/>
                          <a:latin typeface="+mn-lt"/>
                          <a:ea typeface="+mn-ea"/>
                          <a:cs typeface="+mn-cs"/>
                        </a:rPr>
                        <a:t>Objetivos Específicos</a:t>
                      </a:r>
                      <a:endParaRPr lang="es-VE" sz="1800" dirty="0">
                        <a:solidFill>
                          <a:schemeClr val="tx1"/>
                        </a:solidFill>
                      </a:endParaRPr>
                    </a:p>
                  </a:txBody>
                  <a:tcPr/>
                </a:tc>
                <a:tc>
                  <a:txBody>
                    <a:bodyPr/>
                    <a:lstStyle/>
                    <a:p>
                      <a:pPr algn="ctr">
                        <a:lnSpc>
                          <a:spcPct val="115000"/>
                        </a:lnSpc>
                        <a:spcAft>
                          <a:spcPts val="1000"/>
                        </a:spcAft>
                      </a:pPr>
                      <a:r>
                        <a:rPr lang="es-VE"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Tareas</a:t>
                      </a:r>
                      <a:endParaRPr lang="es-VE"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r>
                        <a:rPr lang="es-ES" sz="1800" b="1" kern="1200" dirty="0">
                          <a:solidFill>
                            <a:schemeClr val="tx1"/>
                          </a:solidFill>
                          <a:effectLst/>
                          <a:latin typeface="+mn-lt"/>
                          <a:ea typeface="+mn-ea"/>
                          <a:cs typeface="+mn-cs"/>
                        </a:rPr>
                        <a:t>Actividades</a:t>
                      </a:r>
                      <a:endParaRPr lang="es-VE" dirty="0">
                        <a:solidFill>
                          <a:schemeClr val="tx1"/>
                        </a:solidFill>
                      </a:endParaRPr>
                    </a:p>
                  </a:txBody>
                  <a:tcPr/>
                </a:tc>
                <a:tc>
                  <a:txBody>
                    <a:bodyPr/>
                    <a:lstStyle/>
                    <a:p>
                      <a:pPr algn="ctr"/>
                      <a:r>
                        <a:rPr lang="es-ES" sz="1600" b="1" kern="1200" dirty="0">
                          <a:solidFill>
                            <a:schemeClr val="tx1"/>
                          </a:solidFill>
                          <a:effectLst/>
                          <a:latin typeface="+mn-lt"/>
                          <a:ea typeface="+mn-ea"/>
                          <a:cs typeface="+mn-cs"/>
                        </a:rPr>
                        <a:t>Recursos</a:t>
                      </a:r>
                      <a:endParaRPr lang="es-VE" sz="1600" dirty="0">
                        <a:solidFill>
                          <a:schemeClr val="tx1"/>
                        </a:solidFill>
                      </a:endParaRPr>
                    </a:p>
                  </a:txBody>
                  <a:tcPr/>
                </a:tc>
                <a:tc>
                  <a:txBody>
                    <a:bodyPr/>
                    <a:lstStyle/>
                    <a:p>
                      <a:pPr algn="ctr">
                        <a:lnSpc>
                          <a:spcPct val="115000"/>
                        </a:lnSpc>
                        <a:spcAft>
                          <a:spcPts val="1000"/>
                        </a:spcAft>
                      </a:pPr>
                      <a:r>
                        <a:rPr lang="es-VE"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Responsables</a:t>
                      </a:r>
                      <a:endParaRPr lang="es-V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94242166"/>
                  </a:ext>
                </a:extLst>
              </a:tr>
              <a:tr h="2259646">
                <a:tc>
                  <a:txBody>
                    <a:bodyPr/>
                    <a:lstStyle/>
                    <a:p>
                      <a:pPr marL="342900" lvl="0" indent="-342900" algn="just">
                        <a:lnSpc>
                          <a:spcPct val="150000"/>
                        </a:lnSpc>
                        <a:spcAft>
                          <a:spcPts val="1000"/>
                        </a:spcAft>
                        <a:buFont typeface="Times New Roman" panose="02020603050405020304" pitchFamily="18" charset="0"/>
                        <a:buChar char="-"/>
                      </a:pPr>
                      <a:r>
                        <a:rPr lang="es-E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Sensibilizar, a la Gerencia y al personal de </a:t>
                      </a:r>
                      <a:r>
                        <a:rPr lang="es-ES" sz="1200" dirty="0">
                          <a:effectLst/>
                          <a:latin typeface="Times New Roman" panose="02020603050405020304" pitchFamily="18" charset="0"/>
                          <a:ea typeface="Calibri" panose="020F0502020204030204" pitchFamily="34" charset="0"/>
                          <a:cs typeface="Times New Roman" panose="02020603050405020304" pitchFamily="18" charset="0"/>
                        </a:rPr>
                        <a:t>Banesco Banco Universal, agencia 0331 Parque Cristal.</a:t>
                      </a:r>
                      <a:r>
                        <a:rPr lang="es-E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Estado Bolivariano de Miranda.</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9535" marR="89535" marT="0" marB="0"/>
                </a:tc>
                <a:tc>
                  <a:txBody>
                    <a:bodyPr/>
                    <a:lstStyle/>
                    <a:p>
                      <a:pPr algn="ctr"/>
                      <a:r>
                        <a:rPr lang="es-ES" sz="1200">
                          <a:effectLst/>
                          <a:latin typeface="Times New Roman" panose="02020603050405020304" pitchFamily="18" charset="0"/>
                          <a:ea typeface="Calibri" panose="020F0502020204030204" pitchFamily="34" charset="0"/>
                        </a:rPr>
                        <a:t>Elaborar las estrategias</a:t>
                      </a:r>
                      <a:endParaRPr lang="es-VE" sz="1200"/>
                    </a:p>
                  </a:txBody>
                  <a:tcPr/>
                </a:tc>
                <a:tc>
                  <a:txBody>
                    <a:bodyPr/>
                    <a:lstStyle/>
                    <a:p>
                      <a:pPr marL="342900" lvl="0" indent="-342900" algn="just">
                        <a:lnSpc>
                          <a:spcPct val="115000"/>
                        </a:lnSpc>
                        <a:buFont typeface="Times New Roman" panose="02020603050405020304" pitchFamily="18" charset="0"/>
                        <a:buChar char="-"/>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Consulta bibliográfica para realizar las estrategias de Atención al Cliente.</a:t>
                      </a:r>
                      <a:endParaRPr lang="es-VE"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Times New Roman" panose="02020603050405020304" pitchFamily="18" charset="0"/>
                        <a:buChar char="-"/>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Seleccionar de la lectura realizada las estrategias que se ajusten a la atención al cliente del Banco. </a:t>
                      </a:r>
                      <a:endParaRPr lang="es-VE"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Times New Roman" panose="02020603050405020304" pitchFamily="18" charset="0"/>
                        <a:buChar char="-"/>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Conversar con otros empleados para darle a conocer la problemática y cuáles posibles estrategias Consulta bibliográfica para realizar las estrategias de Atención al Cliente.</a:t>
                      </a:r>
                      <a:endParaRPr lang="es-VE"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Times New Roman" panose="02020603050405020304" pitchFamily="18" charset="0"/>
                        <a:buChar char="-"/>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Seleccionar de la lectura realizada las estrategias que se ajusten a la atención al cliente del Banco. </a:t>
                      </a:r>
                      <a:endParaRPr lang="es-VE"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Times New Roman" panose="02020603050405020304" pitchFamily="18" charset="0"/>
                        <a:buChar char="-"/>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Conversar con otros empleados para darle a conocer la problemática y cuáles posibles estrategias</a:t>
                      </a:r>
                      <a:endParaRPr lang="es-V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s-ES" sz="1100" b="1" dirty="0">
                          <a:effectLst/>
                          <a:latin typeface="Times New Roman" panose="02020603050405020304" pitchFamily="18" charset="0"/>
                          <a:ea typeface="Calibri" panose="020F0502020204030204" pitchFamily="34" charset="0"/>
                          <a:cs typeface="Times New Roman" panose="02020603050405020304" pitchFamily="18" charset="0"/>
                        </a:rPr>
                        <a:t>Humanos:</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ES" sz="1100" dirty="0">
                          <a:effectLst/>
                          <a:latin typeface="Times New Roman" panose="02020603050405020304" pitchFamily="18" charset="0"/>
                          <a:ea typeface="Calibri" panose="020F0502020204030204" pitchFamily="34" charset="0"/>
                          <a:cs typeface="Times New Roman" panose="02020603050405020304" pitchFamily="18" charset="0"/>
                        </a:rPr>
                        <a:t>Los Empleados </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ES" sz="1100" b="1" dirty="0">
                          <a:effectLst/>
                          <a:latin typeface="Times New Roman" panose="02020603050405020304" pitchFamily="18" charset="0"/>
                          <a:ea typeface="Calibri" panose="020F0502020204030204" pitchFamily="34" charset="0"/>
                          <a:cs typeface="Times New Roman" panose="02020603050405020304" pitchFamily="18" charset="0"/>
                        </a:rPr>
                        <a:t>Materiales:</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ES" sz="1100" dirty="0">
                          <a:effectLst/>
                          <a:latin typeface="Times New Roman" panose="02020603050405020304" pitchFamily="18" charset="0"/>
                          <a:ea typeface="Calibri" panose="020F0502020204030204" pitchFamily="34" charset="0"/>
                          <a:cs typeface="Times New Roman" panose="02020603050405020304" pitchFamily="18" charset="0"/>
                        </a:rPr>
                        <a:t>Computadora, lapiceros, Libreta</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9535" marR="89535" marT="0" marB="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200"/>
                        <a:t>Karena Pérez</a:t>
                      </a:r>
                      <a:endParaRPr lang="es-VE" sz="1200"/>
                    </a:p>
                    <a:p>
                      <a:endParaRPr lang="es-VE" dirty="0"/>
                    </a:p>
                  </a:txBody>
                  <a:tcPr/>
                </a:tc>
                <a:extLst>
                  <a:ext uri="{0D108BD9-81ED-4DB2-BD59-A6C34878D82A}">
                    <a16:rowId xmlns:a16="http://schemas.microsoft.com/office/drawing/2014/main" val="3978498560"/>
                  </a:ext>
                </a:extLst>
              </a:tr>
              <a:tr h="2909848">
                <a:tc>
                  <a:txBody>
                    <a:bodyPr/>
                    <a:lstStyle/>
                    <a:p>
                      <a:pPr algn="just"/>
                      <a:r>
                        <a:rPr lang="es-ES" sz="1200" dirty="0">
                          <a:solidFill>
                            <a:srgbClr val="000000"/>
                          </a:solidFill>
                          <a:effectLst/>
                          <a:latin typeface="Times New Roman" panose="02020603050405020304" pitchFamily="18" charset="0"/>
                          <a:ea typeface="Times New Roman" panose="02020603050405020304" pitchFamily="18" charset="0"/>
                        </a:rPr>
                        <a:t>Sensibilizar, a la Gerencia y al personal de </a:t>
                      </a:r>
                      <a:r>
                        <a:rPr lang="es-ES" sz="1200" dirty="0">
                          <a:effectLst/>
                          <a:latin typeface="Times New Roman" panose="02020603050405020304" pitchFamily="18" charset="0"/>
                          <a:ea typeface="Calibri" panose="020F0502020204030204" pitchFamily="34" charset="0"/>
                        </a:rPr>
                        <a:t>Banesco Banco Universal, agencia 0331 Parque Cristal.</a:t>
                      </a:r>
                      <a:r>
                        <a:rPr lang="es-ES" sz="1200" dirty="0">
                          <a:solidFill>
                            <a:srgbClr val="000000"/>
                          </a:solidFill>
                          <a:effectLst/>
                          <a:latin typeface="Times New Roman" panose="02020603050405020304" pitchFamily="18" charset="0"/>
                          <a:ea typeface="Times New Roman" panose="02020603050405020304" pitchFamily="18" charset="0"/>
                        </a:rPr>
                        <a:t> Estado Bolivariano de Miranda.</a:t>
                      </a:r>
                      <a:endParaRPr lang="es-VE" sz="1200" dirty="0"/>
                    </a:p>
                  </a:txBody>
                  <a:tcPr/>
                </a:tc>
                <a:tc>
                  <a:txBody>
                    <a:bodyPr/>
                    <a:lstStyle/>
                    <a:p>
                      <a:pPr algn="ctr"/>
                      <a:r>
                        <a:rPr lang="es-ES" sz="1200" dirty="0">
                          <a:effectLst/>
                          <a:latin typeface="Times New Roman" panose="02020603050405020304" pitchFamily="18" charset="0"/>
                          <a:ea typeface="Calibri" panose="020F0502020204030204" pitchFamily="34" charset="0"/>
                        </a:rPr>
                        <a:t>Presentación de las Estrategias</a:t>
                      </a:r>
                      <a:endParaRPr lang="es-VE" sz="1200" dirty="0"/>
                    </a:p>
                  </a:txBody>
                  <a:tcPr/>
                </a:tc>
                <a:tc>
                  <a:txBody>
                    <a:bodyPr/>
                    <a:lstStyle/>
                    <a:p>
                      <a:pPr marL="342900" lvl="0" indent="-342900" algn="l">
                        <a:lnSpc>
                          <a:spcPct val="115000"/>
                        </a:lnSpc>
                        <a:buFont typeface="Times New Roman" panose="02020603050405020304" pitchFamily="18" charset="0"/>
                        <a:buChar char="-"/>
                      </a:pPr>
                      <a:r>
                        <a:rPr lang="es-ES" sz="1400" dirty="0">
                          <a:effectLst/>
                          <a:latin typeface="Times New Roman" panose="02020603050405020304" pitchFamily="18" charset="0"/>
                          <a:ea typeface="Calibri" panose="020F0502020204030204" pitchFamily="34" charset="0"/>
                          <a:cs typeface="Times New Roman" panose="02020603050405020304" pitchFamily="18" charset="0"/>
                        </a:rPr>
                        <a:t>Solicitar una reunión con la Gerente de Negocio, para darle a conocer la propuesta realizada en el Informe de Pasantías.</a:t>
                      </a:r>
                      <a:endParaRPr lang="es-VE"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15000"/>
                        </a:lnSpc>
                        <a:buFont typeface="Times New Roman" panose="02020603050405020304" pitchFamily="18" charset="0"/>
                        <a:buChar char="-"/>
                      </a:pPr>
                      <a:r>
                        <a:rPr lang="es-ES" sz="1400" dirty="0">
                          <a:effectLst/>
                          <a:latin typeface="Times New Roman" panose="02020603050405020304" pitchFamily="18" charset="0"/>
                          <a:ea typeface="Calibri" panose="020F0502020204030204" pitchFamily="34" charset="0"/>
                          <a:cs typeface="Times New Roman" panose="02020603050405020304" pitchFamily="18" charset="0"/>
                        </a:rPr>
                        <a:t>Presentar el tríptico</a:t>
                      </a:r>
                      <a:endParaRPr lang="es-VE"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15000"/>
                        </a:lnSpc>
                        <a:spcAft>
                          <a:spcPts val="1000"/>
                        </a:spcAft>
                        <a:buFont typeface="Times New Roman" panose="02020603050405020304" pitchFamily="18" charset="0"/>
                        <a:buChar char="-"/>
                      </a:pPr>
                      <a:r>
                        <a:rPr lang="es-ES" sz="1400" dirty="0">
                          <a:effectLst/>
                          <a:latin typeface="Times New Roman" panose="02020603050405020304" pitchFamily="18" charset="0"/>
                          <a:ea typeface="Calibri" panose="020F0502020204030204" pitchFamily="34" charset="0"/>
                          <a:cs typeface="Times New Roman" panose="02020603050405020304" pitchFamily="18" charset="0"/>
                        </a:rPr>
                        <a:t>Presentación de las estrategias al personal</a:t>
                      </a:r>
                      <a:endParaRPr lang="es-V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89535" marR="89535" marT="0" marB="0"/>
                </a:tc>
                <a:tc>
                  <a:txBody>
                    <a:bodyPr/>
                    <a:lstStyle/>
                    <a:p>
                      <a:pPr algn="just">
                        <a:lnSpc>
                          <a:spcPct val="115000"/>
                        </a:lnSpc>
                        <a:spcAft>
                          <a:spcPts val="1000"/>
                        </a:spcAft>
                      </a:pPr>
                      <a:r>
                        <a:rPr lang="es-VE" sz="1200" b="1" dirty="0">
                          <a:effectLst/>
                          <a:latin typeface="Times New Roman" panose="02020603050405020304" pitchFamily="18" charset="0"/>
                          <a:ea typeface="Calibri" panose="020F0502020204030204" pitchFamily="34" charset="0"/>
                          <a:cs typeface="Times New Roman" panose="02020603050405020304" pitchFamily="18" charset="0"/>
                        </a:rPr>
                        <a:t>Humanos:</a:t>
                      </a:r>
                      <a:endParaRPr lang="es-VE" sz="1100" b="1"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La Gerente de Negocio</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VE" sz="1200" b="1" dirty="0">
                          <a:effectLst/>
                          <a:latin typeface="Times New Roman" panose="02020603050405020304" pitchFamily="18" charset="0"/>
                          <a:ea typeface="Calibri" panose="020F0502020204030204" pitchFamily="34" charset="0"/>
                          <a:cs typeface="Times New Roman" panose="02020603050405020304" pitchFamily="18" charset="0"/>
                        </a:rPr>
                        <a:t>Materiales:</a:t>
                      </a:r>
                      <a:endParaRPr lang="es-VE" sz="1100" b="1"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Computadora, papel, lápiz, lapicero.</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s-VE"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s-V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ES" sz="1200" dirty="0"/>
                        <a:t>Karena Pérez</a:t>
                      </a:r>
                      <a:endParaRPr lang="es-VE" sz="1200" dirty="0"/>
                    </a:p>
                  </a:txBody>
                  <a:tcPr/>
                </a:tc>
                <a:extLst>
                  <a:ext uri="{0D108BD9-81ED-4DB2-BD59-A6C34878D82A}">
                    <a16:rowId xmlns:a16="http://schemas.microsoft.com/office/drawing/2014/main" val="1561240216"/>
                  </a:ext>
                </a:extLst>
              </a:tr>
            </a:tbl>
          </a:graphicData>
        </a:graphic>
      </p:graphicFrame>
    </p:spTree>
    <p:extLst>
      <p:ext uri="{BB962C8B-B14F-4D97-AF65-F5344CB8AC3E}">
        <p14:creationId xmlns:p14="http://schemas.microsoft.com/office/powerpoint/2010/main" val="3279321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F4F5E84A-1256-42A3-95BC-A1DD2B386047}"/>
              </a:ext>
            </a:extLst>
          </p:cNvPr>
          <p:cNvSpPr txBox="1"/>
          <p:nvPr/>
        </p:nvSpPr>
        <p:spPr>
          <a:xfrm>
            <a:off x="726175" y="2321716"/>
            <a:ext cx="3837710" cy="775020"/>
          </a:xfrm>
          <a:prstGeom prst="rect">
            <a:avLst/>
          </a:prstGeom>
          <a:noFill/>
        </p:spPr>
        <p:txBody>
          <a:bodyPr wrap="square">
            <a:spAutoFit/>
          </a:bodyPr>
          <a:lstStyle/>
          <a:p>
            <a:pPr indent="180340" algn="ctr">
              <a:lnSpc>
                <a:spcPct val="300000"/>
              </a:lnSpc>
              <a:spcAft>
                <a:spcPts val="1000"/>
              </a:spcAft>
              <a:tabLst>
                <a:tab pos="3921125" algn="l"/>
              </a:tabLst>
            </a:pPr>
            <a:r>
              <a:rPr lang="es-ES" sz="1800" b="1" i="1" dirty="0">
                <a:effectLst/>
                <a:latin typeface="Times New Roman" panose="02020603050405020304" pitchFamily="18" charset="0"/>
                <a:ea typeface="Calibri" panose="020F0502020204030204" pitchFamily="34" charset="0"/>
                <a:cs typeface="Times New Roman" panose="02020603050405020304" pitchFamily="18" charset="0"/>
              </a:rPr>
              <a:t>Análisis de los Recursos Técnicos</a:t>
            </a:r>
            <a:endParaRPr lang="es-VE"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7EEBDBA6-5750-4658-9C6A-AC50AEACDF64}"/>
              </a:ext>
            </a:extLst>
          </p:cNvPr>
          <p:cNvSpPr txBox="1"/>
          <p:nvPr/>
        </p:nvSpPr>
        <p:spPr>
          <a:xfrm>
            <a:off x="3906982" y="-162408"/>
            <a:ext cx="4378036" cy="775020"/>
          </a:xfrm>
          <a:prstGeom prst="rect">
            <a:avLst/>
          </a:prstGeom>
          <a:noFill/>
        </p:spPr>
        <p:txBody>
          <a:bodyPr wrap="square">
            <a:spAutoFit/>
          </a:bodyPr>
          <a:lstStyle/>
          <a:p>
            <a:pPr indent="180340" algn="ctr">
              <a:lnSpc>
                <a:spcPct val="300000"/>
              </a:lnSpc>
              <a:spcAft>
                <a:spcPts val="1000"/>
              </a:spcAft>
              <a:tabLst>
                <a:tab pos="3921125" algn="l"/>
              </a:tabLst>
            </a:pPr>
            <a:r>
              <a:rPr lang="es-ES" sz="1800" b="1" i="1" dirty="0">
                <a:effectLst/>
                <a:latin typeface="Times New Roman" panose="02020603050405020304" pitchFamily="18" charset="0"/>
                <a:ea typeface="Calibri" panose="020F0502020204030204" pitchFamily="34" charset="0"/>
                <a:cs typeface="Times New Roman" panose="02020603050405020304" pitchFamily="18" charset="0"/>
              </a:rPr>
              <a:t>Estudios Técnicos y Humanos</a:t>
            </a:r>
            <a:endParaRPr lang="es-VE"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CuadroTexto 9">
            <a:extLst>
              <a:ext uri="{FF2B5EF4-FFF2-40B4-BE49-F238E27FC236}">
                <a16:creationId xmlns:a16="http://schemas.microsoft.com/office/drawing/2014/main" id="{CAFFFADA-A51B-40CE-BB6B-CD2926FABD95}"/>
              </a:ext>
            </a:extLst>
          </p:cNvPr>
          <p:cNvSpPr txBox="1"/>
          <p:nvPr/>
        </p:nvSpPr>
        <p:spPr>
          <a:xfrm>
            <a:off x="1995055" y="2100500"/>
            <a:ext cx="6096000" cy="369332"/>
          </a:xfrm>
          <a:prstGeom prst="rect">
            <a:avLst/>
          </a:prstGeom>
          <a:noFill/>
        </p:spPr>
        <p:txBody>
          <a:bodyPr wrap="square">
            <a:spAutoFit/>
          </a:bodyPr>
          <a:lstStyle/>
          <a:p>
            <a:endParaRPr lang="es-VE" dirty="0"/>
          </a:p>
        </p:txBody>
      </p:sp>
      <p:sp>
        <p:nvSpPr>
          <p:cNvPr id="2" name="Rectángulo: esquinas redondeadas 1">
            <a:extLst>
              <a:ext uri="{FF2B5EF4-FFF2-40B4-BE49-F238E27FC236}">
                <a16:creationId xmlns:a16="http://schemas.microsoft.com/office/drawing/2014/main" id="{29F99A18-E186-4B8A-BA59-A1502F536009}"/>
              </a:ext>
            </a:extLst>
          </p:cNvPr>
          <p:cNvSpPr/>
          <p:nvPr/>
        </p:nvSpPr>
        <p:spPr>
          <a:xfrm>
            <a:off x="4289565" y="768777"/>
            <a:ext cx="3612870" cy="139677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sz="1600">
                <a:effectLst/>
                <a:latin typeface="Times New Roman" panose="02020603050405020304" pitchFamily="18" charset="0"/>
                <a:ea typeface="Calibri" panose="020F0502020204030204" pitchFamily="34" charset="0"/>
              </a:rPr>
              <a:t>En el proyecto</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es necesario comprender</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que</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éste</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es</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la</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búsqueda</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de</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una</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solución</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inteligente</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al</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planteamiento</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de</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un</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problema</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tendiente</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a</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resolver</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una</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necesidad</a:t>
            </a:r>
            <a:r>
              <a:rPr lang="es-ES" sz="1600" spc="5">
                <a:effectLst/>
                <a:latin typeface="Times New Roman" panose="02020603050405020304" pitchFamily="18" charset="0"/>
                <a:ea typeface="Calibri" panose="020F0502020204030204" pitchFamily="34" charset="0"/>
              </a:rPr>
              <a:t> </a:t>
            </a:r>
            <a:r>
              <a:rPr lang="es-ES" sz="1600">
                <a:effectLst/>
                <a:latin typeface="Times New Roman" panose="02020603050405020304" pitchFamily="18" charset="0"/>
                <a:ea typeface="Calibri" panose="020F0502020204030204" pitchFamily="34" charset="0"/>
              </a:rPr>
              <a:t>humana.</a:t>
            </a:r>
            <a:endParaRPr lang="es-VE" sz="1600"/>
          </a:p>
        </p:txBody>
      </p:sp>
      <p:graphicFrame>
        <p:nvGraphicFramePr>
          <p:cNvPr id="5" name="Tabla 4">
            <a:extLst>
              <a:ext uri="{FF2B5EF4-FFF2-40B4-BE49-F238E27FC236}">
                <a16:creationId xmlns:a16="http://schemas.microsoft.com/office/drawing/2014/main" id="{689AF616-B732-4010-B05A-331C056593D4}"/>
              </a:ext>
            </a:extLst>
          </p:cNvPr>
          <p:cNvGraphicFramePr>
            <a:graphicFrameLocks noGrp="1"/>
          </p:cNvGraphicFramePr>
          <p:nvPr>
            <p:extLst>
              <p:ext uri="{D42A27DB-BD31-4B8C-83A1-F6EECF244321}">
                <p14:modId xmlns:p14="http://schemas.microsoft.com/office/powerpoint/2010/main" val="165817462"/>
              </p:ext>
            </p:extLst>
          </p:nvPr>
        </p:nvGraphicFramePr>
        <p:xfrm>
          <a:off x="585580" y="3346071"/>
          <a:ext cx="5510420" cy="1468858"/>
        </p:xfrm>
        <a:graphic>
          <a:graphicData uri="http://schemas.openxmlformats.org/drawingml/2006/table">
            <a:tbl>
              <a:tblPr firstRow="1" firstCol="1" lastRow="1" lastCol="1" bandRow="1" bandCol="1"/>
              <a:tblGrid>
                <a:gridCol w="2983451">
                  <a:extLst>
                    <a:ext uri="{9D8B030D-6E8A-4147-A177-3AD203B41FA5}">
                      <a16:colId xmlns:a16="http://schemas.microsoft.com/office/drawing/2014/main" val="817264662"/>
                    </a:ext>
                  </a:extLst>
                </a:gridCol>
                <a:gridCol w="1521532">
                  <a:extLst>
                    <a:ext uri="{9D8B030D-6E8A-4147-A177-3AD203B41FA5}">
                      <a16:colId xmlns:a16="http://schemas.microsoft.com/office/drawing/2014/main" val="3092492526"/>
                    </a:ext>
                  </a:extLst>
                </a:gridCol>
                <a:gridCol w="1005437">
                  <a:extLst>
                    <a:ext uri="{9D8B030D-6E8A-4147-A177-3AD203B41FA5}">
                      <a16:colId xmlns:a16="http://schemas.microsoft.com/office/drawing/2014/main" val="4144303757"/>
                    </a:ext>
                  </a:extLst>
                </a:gridCol>
              </a:tblGrid>
              <a:tr h="182290">
                <a:tc>
                  <a:txBody>
                    <a:bodyPr/>
                    <a:lstStyle/>
                    <a:p>
                      <a:pPr marL="995680" marR="843280" algn="ctr">
                        <a:lnSpc>
                          <a:spcPts val="1280"/>
                        </a:lnSpc>
                        <a:spcAft>
                          <a:spcPts val="0"/>
                        </a:spcAft>
                      </a:pPr>
                      <a:r>
                        <a:rPr lang="es-ES" sz="1600" b="1" dirty="0">
                          <a:effectLst/>
                          <a:latin typeface="Times New Roman" panose="02020603050405020304" pitchFamily="18" charset="0"/>
                          <a:ea typeface="Microsoft Sans Serif" panose="020B0604020202020204" pitchFamily="34" charset="0"/>
                          <a:cs typeface="Times New Roman" panose="02020603050405020304" pitchFamily="18" charset="0"/>
                        </a:rPr>
                        <a:t>Recursos </a:t>
                      </a:r>
                      <a:endParaRPr lang="es-VE" sz="1600" b="1" dirty="0">
                        <a:effectLst/>
                        <a:latin typeface="Times New Roman" panose="02020603050405020304" pitchFamily="18"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6385" marR="130175" algn="ctr">
                        <a:lnSpc>
                          <a:spcPts val="1280"/>
                        </a:lnSpc>
                        <a:spcAft>
                          <a:spcPts val="0"/>
                        </a:spcAft>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Disponible</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0810" marR="120015" algn="ctr">
                        <a:lnSpc>
                          <a:spcPts val="1280"/>
                        </a:lnSpc>
                        <a:spcAft>
                          <a:spcPts val="0"/>
                        </a:spcAft>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Necesarios</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543814"/>
                  </a:ext>
                </a:extLst>
              </a:tr>
              <a:tr h="182290">
                <a:tc>
                  <a:txBody>
                    <a:bodyPr/>
                    <a:lstStyle/>
                    <a:p>
                      <a:pPr marL="73660" algn="l">
                        <a:lnSpc>
                          <a:spcPts val="1275"/>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Computadora</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156845" algn="ctr">
                        <a:lnSpc>
                          <a:spcPts val="1275"/>
                        </a:lnSpc>
                      </a:pPr>
                      <a:r>
                        <a:rPr lang="en-US" sz="1200">
                          <a:effectLst/>
                          <a:latin typeface="Microsoft Sans Serif" panose="020B0604020202020204" pitchFamily="34" charset="0"/>
                          <a:ea typeface="Microsoft Sans Serif" panose="020B0604020202020204" pitchFamily="34" charset="0"/>
                          <a:cs typeface="Times New Roman" panose="02020603050405020304" pitchFamily="18" charset="0"/>
                        </a:rPr>
                        <a:t>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l"/>
                      <a:r>
                        <a:rPr lang="en-US" sz="1000">
                          <a:effectLst/>
                          <a:latin typeface="Times New Roman" panose="02020603050405020304" pitchFamily="18" charset="0"/>
                          <a:ea typeface="Microsoft Sans Serif" panose="020B0604020202020204" pitchFamily="34" charset="0"/>
                          <a:cs typeface="Microsoft Sans Serif" panose="020B0604020202020204" pitchFamily="34" charset="0"/>
                        </a:rPr>
                        <a:t> </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731383008"/>
                  </a:ext>
                </a:extLst>
              </a:tr>
              <a:tr h="182290">
                <a:tc>
                  <a:txBody>
                    <a:bodyPr/>
                    <a:lstStyle/>
                    <a:p>
                      <a:pPr marL="73660" algn="l">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Impresora</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tc>
                  <a:txBody>
                    <a:bodyPr/>
                    <a:lstStyle/>
                    <a:p>
                      <a:pPr marL="156845"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tc>
                  <a:txBody>
                    <a:bodyPr/>
                    <a:lstStyle/>
                    <a:p>
                      <a:pPr algn="l"/>
                      <a:r>
                        <a:rPr lang="en-US" sz="1000">
                          <a:effectLst/>
                          <a:latin typeface="Times New Roman" panose="02020603050405020304" pitchFamily="18" charset="0"/>
                          <a:ea typeface="Microsoft Sans Serif" panose="020B0604020202020204" pitchFamily="34" charset="0"/>
                          <a:cs typeface="Times New Roman" panose="02020603050405020304" pitchFamily="18" charset="0"/>
                        </a:rPr>
                        <a:t> </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extLst>
                  <a:ext uri="{0D108BD9-81ED-4DB2-BD59-A6C34878D82A}">
                    <a16:rowId xmlns:a16="http://schemas.microsoft.com/office/drawing/2014/main" val="1482953778"/>
                  </a:ext>
                </a:extLst>
              </a:tr>
              <a:tr h="182901">
                <a:tc>
                  <a:txBody>
                    <a:bodyPr/>
                    <a:lstStyle/>
                    <a:p>
                      <a:pPr marL="73660" algn="l">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Fotocopiadora</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tc>
                  <a:txBody>
                    <a:bodyPr/>
                    <a:lstStyle/>
                    <a:p>
                      <a:pPr marL="156845"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tc>
                  <a:txBody>
                    <a:bodyPr/>
                    <a:lstStyle/>
                    <a:p>
                      <a:pPr algn="l"/>
                      <a:r>
                        <a:rPr lang="en-US" sz="1000" dirty="0">
                          <a:effectLst/>
                          <a:latin typeface="Times New Roman" panose="02020603050405020304" pitchFamily="18" charset="0"/>
                          <a:ea typeface="Microsoft Sans Serif" panose="020B0604020202020204" pitchFamily="34" charset="0"/>
                          <a:cs typeface="Times New Roman" panose="02020603050405020304" pitchFamily="18" charset="0"/>
                        </a:rPr>
                        <a:t> </a:t>
                      </a:r>
                      <a:endParaRPr lang="es-VE" sz="1100" dirty="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extLst>
                  <a:ext uri="{0D108BD9-81ED-4DB2-BD59-A6C34878D82A}">
                    <a16:rowId xmlns:a16="http://schemas.microsoft.com/office/drawing/2014/main" val="3337954458"/>
                  </a:ext>
                </a:extLst>
              </a:tr>
              <a:tr h="182901">
                <a:tc>
                  <a:txBody>
                    <a:bodyPr/>
                    <a:lstStyle/>
                    <a:p>
                      <a:pPr marL="73660" algn="l">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Resma de Papel</a:t>
                      </a:r>
                      <a:r>
                        <a:rPr lang="en-US" sz="1200" spc="5">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(500 unidades)</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tc>
                  <a:txBody>
                    <a:bodyPr/>
                    <a:lstStyle/>
                    <a:p>
                      <a:pPr marL="156845"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5</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tc>
                  <a:txBody>
                    <a:bodyPr/>
                    <a:lstStyle/>
                    <a:p>
                      <a:pPr marL="10160"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extLst>
                  <a:ext uri="{0D108BD9-81ED-4DB2-BD59-A6C34878D82A}">
                    <a16:rowId xmlns:a16="http://schemas.microsoft.com/office/drawing/2014/main" val="1709888279"/>
                  </a:ext>
                </a:extLst>
              </a:tr>
              <a:tr h="182290">
                <a:tc>
                  <a:txBody>
                    <a:bodyPr/>
                    <a:lstStyle/>
                    <a:p>
                      <a:pPr marL="73660" algn="l">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Lapiceros</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tc>
                  <a:txBody>
                    <a:bodyPr/>
                    <a:lstStyle/>
                    <a:p>
                      <a:pPr marL="156845"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2</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tc>
                  <a:txBody>
                    <a:bodyPr/>
                    <a:lstStyle/>
                    <a:p>
                      <a:pPr algn="l"/>
                      <a:r>
                        <a:rPr lang="en-US" sz="1000">
                          <a:effectLst/>
                          <a:latin typeface="Times New Roman" panose="02020603050405020304" pitchFamily="18" charset="0"/>
                          <a:ea typeface="Microsoft Sans Serif" panose="020B0604020202020204" pitchFamily="34" charset="0"/>
                          <a:cs typeface="Times New Roman" panose="02020603050405020304" pitchFamily="18" charset="0"/>
                        </a:rPr>
                        <a:t> </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a:noFill/>
                    </a:lnB>
                  </a:tcPr>
                </a:tc>
                <a:extLst>
                  <a:ext uri="{0D108BD9-81ED-4DB2-BD59-A6C34878D82A}">
                    <a16:rowId xmlns:a16="http://schemas.microsoft.com/office/drawing/2014/main" val="608159548"/>
                  </a:ext>
                </a:extLst>
              </a:tr>
              <a:tr h="182901">
                <a:tc>
                  <a:txBody>
                    <a:bodyPr/>
                    <a:lstStyle/>
                    <a:p>
                      <a:pPr marL="73660" algn="l">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Tinta</a:t>
                      </a:r>
                      <a:r>
                        <a:rPr lang="en-US" sz="1200" spc="-5">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Continua</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156845"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2</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10160" algn="ctr">
                        <a:lnSpc>
                          <a:spcPts val="1280"/>
                        </a:lnSpc>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3866657"/>
                  </a:ext>
                </a:extLst>
              </a:tr>
              <a:tr h="190995">
                <a:tc>
                  <a:txBody>
                    <a:bodyPr/>
                    <a:lstStyle/>
                    <a:p>
                      <a:pPr marL="73660" algn="l">
                        <a:lnSpc>
                          <a:spcPts val="1280"/>
                        </a:lnSpc>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Total</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6385" marR="128905" algn="ctr">
                        <a:lnSpc>
                          <a:spcPts val="1280"/>
                        </a:lnSpc>
                        <a:spcAft>
                          <a:spcPts val="0"/>
                        </a:spcAft>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12</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160" algn="ctr">
                        <a:lnSpc>
                          <a:spcPts val="1280"/>
                        </a:lnSpc>
                      </a:pPr>
                      <a:r>
                        <a:rPr lang="en-US" sz="1200" b="1" dirty="0">
                          <a:effectLst/>
                          <a:latin typeface="Times New Roman" panose="02020603050405020304" pitchFamily="18" charset="0"/>
                          <a:ea typeface="Microsoft Sans Serif" panose="020B0604020202020204" pitchFamily="34" charset="0"/>
                          <a:cs typeface="Times New Roman" panose="02020603050405020304" pitchFamily="18" charset="0"/>
                        </a:rPr>
                        <a:t>2</a:t>
                      </a:r>
                      <a:endParaRPr lang="es-VE" sz="1100" dirty="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9508262"/>
                  </a:ext>
                </a:extLst>
              </a:tr>
            </a:tbl>
          </a:graphicData>
        </a:graphic>
      </p:graphicFrame>
      <p:sp>
        <p:nvSpPr>
          <p:cNvPr id="12" name="CuadroTexto 11">
            <a:extLst>
              <a:ext uri="{FF2B5EF4-FFF2-40B4-BE49-F238E27FC236}">
                <a16:creationId xmlns:a16="http://schemas.microsoft.com/office/drawing/2014/main" id="{DE9E3A1E-45D7-43D8-9644-EB589577CE54}"/>
              </a:ext>
            </a:extLst>
          </p:cNvPr>
          <p:cNvSpPr txBox="1"/>
          <p:nvPr/>
        </p:nvSpPr>
        <p:spPr>
          <a:xfrm>
            <a:off x="5704114" y="2675916"/>
            <a:ext cx="7171509" cy="385042"/>
          </a:xfrm>
          <a:prstGeom prst="rect">
            <a:avLst/>
          </a:prstGeom>
          <a:noFill/>
        </p:spPr>
        <p:txBody>
          <a:bodyPr wrap="square">
            <a:spAutoFit/>
          </a:bodyPr>
          <a:lstStyle/>
          <a:p>
            <a:pPr marL="1692275" marR="1471930">
              <a:lnSpc>
                <a:spcPct val="115000"/>
              </a:lnSpc>
              <a:spcBef>
                <a:spcPts val="1000"/>
              </a:spcBef>
              <a:spcAft>
                <a:spcPts val="0"/>
              </a:spcAft>
            </a:pPr>
            <a:r>
              <a:rPr lang="es-E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Análisis</a:t>
            </a:r>
            <a:r>
              <a:rPr lang="es-ES" sz="1800" b="1" i="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E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 los</a:t>
            </a:r>
            <a:r>
              <a:rPr lang="es-ES" sz="1800" b="1" i="1"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E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Recursos</a:t>
            </a:r>
            <a:r>
              <a:rPr lang="es-ES" sz="1800" b="1" i="1" spc="-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E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Humanos</a:t>
            </a:r>
            <a:endParaRPr lang="es-VE"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p:txBody>
      </p:sp>
      <p:graphicFrame>
        <p:nvGraphicFramePr>
          <p:cNvPr id="9" name="Tabla 8">
            <a:extLst>
              <a:ext uri="{FF2B5EF4-FFF2-40B4-BE49-F238E27FC236}">
                <a16:creationId xmlns:a16="http://schemas.microsoft.com/office/drawing/2014/main" id="{D0C2BB42-8F30-4012-BE43-C9B19A0D3B30}"/>
              </a:ext>
            </a:extLst>
          </p:cNvPr>
          <p:cNvGraphicFramePr>
            <a:graphicFrameLocks noGrp="1"/>
          </p:cNvGraphicFramePr>
          <p:nvPr>
            <p:extLst>
              <p:ext uri="{D42A27DB-BD31-4B8C-83A1-F6EECF244321}">
                <p14:modId xmlns:p14="http://schemas.microsoft.com/office/powerpoint/2010/main" val="3062829145"/>
              </p:ext>
            </p:extLst>
          </p:nvPr>
        </p:nvGraphicFramePr>
        <p:xfrm>
          <a:off x="6811780" y="3346071"/>
          <a:ext cx="4956175" cy="1365885"/>
        </p:xfrm>
        <a:graphic>
          <a:graphicData uri="http://schemas.openxmlformats.org/drawingml/2006/table">
            <a:tbl>
              <a:tblPr firstRow="1" firstCol="1" lastRow="1" lastCol="1" bandRow="1" bandCol="1"/>
              <a:tblGrid>
                <a:gridCol w="2393315">
                  <a:extLst>
                    <a:ext uri="{9D8B030D-6E8A-4147-A177-3AD203B41FA5}">
                      <a16:colId xmlns:a16="http://schemas.microsoft.com/office/drawing/2014/main" val="152856968"/>
                    </a:ext>
                  </a:extLst>
                </a:gridCol>
                <a:gridCol w="1472565">
                  <a:extLst>
                    <a:ext uri="{9D8B030D-6E8A-4147-A177-3AD203B41FA5}">
                      <a16:colId xmlns:a16="http://schemas.microsoft.com/office/drawing/2014/main" val="3992872245"/>
                    </a:ext>
                  </a:extLst>
                </a:gridCol>
                <a:gridCol w="1090295">
                  <a:extLst>
                    <a:ext uri="{9D8B030D-6E8A-4147-A177-3AD203B41FA5}">
                      <a16:colId xmlns:a16="http://schemas.microsoft.com/office/drawing/2014/main" val="3127463943"/>
                    </a:ext>
                  </a:extLst>
                </a:gridCol>
              </a:tblGrid>
              <a:tr h="174625">
                <a:tc>
                  <a:txBody>
                    <a:bodyPr/>
                    <a:lstStyle/>
                    <a:p>
                      <a:pPr marL="1007745">
                        <a:lnSpc>
                          <a:spcPts val="1280"/>
                        </a:lnSpc>
                      </a:pPr>
                      <a:r>
                        <a:rPr lang="en-US" sz="1200" b="1" dirty="0">
                          <a:effectLst/>
                          <a:latin typeface="Times New Roman" panose="02020603050405020304" pitchFamily="18" charset="0"/>
                          <a:ea typeface="Microsoft Sans Serif" panose="020B0604020202020204" pitchFamily="34" charset="0"/>
                          <a:cs typeface="Times New Roman" panose="02020603050405020304" pitchFamily="18" charset="0"/>
                        </a:rPr>
                        <a:t>Recursos</a:t>
                      </a:r>
                      <a:endParaRPr lang="es-VE" sz="1100" dirty="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2755" marR="130175" algn="ctr">
                        <a:lnSpc>
                          <a:spcPts val="1280"/>
                        </a:lnSpc>
                        <a:spcAft>
                          <a:spcPts val="0"/>
                        </a:spcAft>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Disponibles</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43510">
                        <a:lnSpc>
                          <a:spcPts val="1280"/>
                        </a:lnSpc>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Necesarios</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4740553"/>
                  </a:ext>
                </a:extLst>
              </a:tr>
              <a:tr h="175260">
                <a:tc>
                  <a:txBody>
                    <a:bodyPr/>
                    <a:lstStyle/>
                    <a:p>
                      <a:pPr marL="73660">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Gerente de Negocio</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323215"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 </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48607850"/>
                  </a:ext>
                </a:extLst>
              </a:tr>
              <a:tr h="174625">
                <a:tc>
                  <a:txBody>
                    <a:bodyPr/>
                    <a:lstStyle/>
                    <a:p>
                      <a:pPr marL="73660">
                        <a:lnSpc>
                          <a:spcPts val="1280"/>
                        </a:lnSpc>
                      </a:pPr>
                      <a:r>
                        <a:rPr lang="es-VE" sz="1200" dirty="0">
                          <a:effectLst/>
                          <a:latin typeface="Times New Roman" panose="02020603050405020304" pitchFamily="18" charset="0"/>
                          <a:ea typeface="Microsoft Sans Serif" panose="020B0604020202020204" pitchFamily="34" charset="0"/>
                          <a:cs typeface="Times New Roman" panose="02020603050405020304" pitchFamily="18" charset="0"/>
                        </a:rPr>
                        <a:t>Representante de Negocio</a:t>
                      </a:r>
                      <a:endParaRPr lang="es-VE" sz="1100" dirty="0">
                        <a:effectLst/>
                        <a:latin typeface="Microsoft Sans Serif" panose="020B0604020202020204" pitchFamily="34" charset="0"/>
                        <a:ea typeface="Microsoft Sans Serif" panose="020B0604020202020204" pitchFamily="34" charset="0"/>
                        <a:cs typeface="Times New Roman" panose="02020603050405020304" pitchFamily="18" charset="0"/>
                      </a:endParaRPr>
                    </a:p>
                    <a:p>
                      <a:pPr marL="73660">
                        <a:lnSpc>
                          <a:spcPts val="1280"/>
                        </a:lnSpc>
                      </a:pPr>
                      <a:r>
                        <a:rPr lang="es-VE" sz="1200" dirty="0">
                          <a:effectLst/>
                          <a:latin typeface="Times New Roman" panose="02020603050405020304" pitchFamily="18" charset="0"/>
                          <a:ea typeface="Microsoft Sans Serif" panose="020B0604020202020204" pitchFamily="34" charset="0"/>
                          <a:cs typeface="Times New Roman" panose="02020603050405020304" pitchFamily="18" charset="0"/>
                        </a:rPr>
                        <a:t>Representante de Operaciones</a:t>
                      </a:r>
                      <a:endParaRPr lang="es-VE" sz="1100" dirty="0">
                        <a:effectLst/>
                        <a:latin typeface="Microsoft Sans Serif" panose="020B0604020202020204" pitchFamily="34" charset="0"/>
                        <a:ea typeface="Microsoft Sans Serif" panose="020B0604020202020204" pitchFamily="34" charset="0"/>
                        <a:cs typeface="Times New Roman" panose="02020603050405020304" pitchFamily="18" charset="0"/>
                      </a:endParaRPr>
                    </a:p>
                    <a:p>
                      <a:pPr marL="73660">
                        <a:lnSpc>
                          <a:spcPts val="1280"/>
                        </a:lnSpc>
                      </a:pPr>
                      <a:r>
                        <a:rPr lang="es-VE" sz="1200" dirty="0">
                          <a:effectLst/>
                          <a:latin typeface="Times New Roman" panose="02020603050405020304" pitchFamily="18" charset="0"/>
                          <a:ea typeface="Microsoft Sans Serif" panose="020B0604020202020204" pitchFamily="34" charset="0"/>
                          <a:cs typeface="Times New Roman" panose="02020603050405020304" pitchFamily="18" charset="0"/>
                        </a:rPr>
                        <a:t>Administrador</a:t>
                      </a:r>
                      <a:endParaRPr lang="es-VE" sz="1100" dirty="0">
                        <a:effectLst/>
                        <a:latin typeface="Microsoft Sans Serif" panose="020B0604020202020204" pitchFamily="34" charset="0"/>
                        <a:ea typeface="Microsoft Sans Serif" panose="020B0604020202020204" pitchFamily="34" charset="0"/>
                        <a:cs typeface="Times New Roman" panose="02020603050405020304" pitchFamily="18" charset="0"/>
                      </a:endParaRPr>
                    </a:p>
                    <a:p>
                      <a:pPr marL="73660">
                        <a:lnSpc>
                          <a:spcPts val="1280"/>
                        </a:lnSpc>
                      </a:pPr>
                      <a:r>
                        <a:rPr lang="en-US" sz="1200" dirty="0" err="1">
                          <a:effectLst/>
                          <a:latin typeface="Times New Roman" panose="02020603050405020304" pitchFamily="18" charset="0"/>
                          <a:ea typeface="Microsoft Sans Serif" panose="020B0604020202020204" pitchFamily="34" charset="0"/>
                          <a:cs typeface="Times New Roman" panose="02020603050405020304" pitchFamily="18" charset="0"/>
                        </a:rPr>
                        <a:t>Asesores</a:t>
                      </a:r>
                      <a:r>
                        <a:rPr lang="en-US" sz="1200" dirty="0">
                          <a:effectLst/>
                          <a:latin typeface="Times New Roman" panose="02020603050405020304" pitchFamily="18" charset="0"/>
                          <a:ea typeface="Microsoft Sans Serif" panose="020B0604020202020204" pitchFamily="34" charset="0"/>
                          <a:cs typeface="Times New Roman" panose="02020603050405020304" pitchFamily="18" charset="0"/>
                        </a:rPr>
                        <a:t> de </a:t>
                      </a:r>
                      <a:r>
                        <a:rPr lang="en-US" sz="1200" dirty="0" err="1">
                          <a:effectLst/>
                          <a:latin typeface="Times New Roman" panose="02020603050405020304" pitchFamily="18" charset="0"/>
                          <a:ea typeface="Microsoft Sans Serif" panose="020B0604020202020204" pitchFamily="34" charset="0"/>
                          <a:cs typeface="Times New Roman" panose="02020603050405020304" pitchFamily="18" charset="0"/>
                        </a:rPr>
                        <a:t>Venta</a:t>
                      </a:r>
                      <a:endParaRPr lang="es-VE" sz="1100" dirty="0">
                        <a:effectLst/>
                        <a:latin typeface="Microsoft Sans Serif" panose="020B0604020202020204" pitchFamily="34" charset="0"/>
                        <a:ea typeface="Microsoft Sans Serif" panose="020B0604020202020204" pitchFamily="34" charset="0"/>
                        <a:cs typeface="Times New Roman" panose="02020603050405020304" pitchFamily="18" charset="0"/>
                      </a:endParaRPr>
                    </a:p>
                    <a:p>
                      <a:pPr marL="73660">
                        <a:lnSpc>
                          <a:spcPts val="1280"/>
                        </a:lnSpc>
                      </a:pPr>
                      <a:r>
                        <a:rPr lang="en-US" sz="1200"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1200" dirty="0" err="1">
                          <a:effectLst/>
                          <a:latin typeface="Times New Roman" panose="02020603050405020304" pitchFamily="18" charset="0"/>
                          <a:ea typeface="Microsoft Sans Serif" panose="020B0604020202020204" pitchFamily="34" charset="0"/>
                          <a:cs typeface="Times New Roman" panose="02020603050405020304" pitchFamily="18" charset="0"/>
                        </a:rPr>
                        <a:t>Cajero</a:t>
                      </a:r>
                      <a:endParaRPr lang="es-VE" sz="1100" dirty="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323215"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p>
                      <a:pPr marL="323215"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p>
                      <a:pPr marL="323215"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p>
                      <a:pPr marL="323215"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2</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p>
                      <a:pPr marL="323215" algn="ctr">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2</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 </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4859804"/>
                  </a:ext>
                </a:extLst>
              </a:tr>
              <a:tr h="174625">
                <a:tc>
                  <a:txBody>
                    <a:bodyPr/>
                    <a:lstStyle/>
                    <a:p>
                      <a:pPr marL="73660">
                        <a:lnSpc>
                          <a:spcPts val="1280"/>
                        </a:lnSpc>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Total</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2755" marR="128905" algn="ctr">
                        <a:lnSpc>
                          <a:spcPts val="1280"/>
                        </a:lnSpc>
                        <a:spcAft>
                          <a:spcPts val="0"/>
                        </a:spcAft>
                      </a:pPr>
                      <a:r>
                        <a:rPr lang="en-US" sz="1200" b="1" dirty="0">
                          <a:effectLst/>
                          <a:latin typeface="Times New Roman" panose="02020603050405020304" pitchFamily="18" charset="0"/>
                          <a:ea typeface="Microsoft Sans Serif" panose="020B0604020202020204" pitchFamily="34" charset="0"/>
                          <a:cs typeface="Times New Roman" panose="02020603050405020304" pitchFamily="18" charset="0"/>
                        </a:rPr>
                        <a:t>10</a:t>
                      </a:r>
                      <a:endParaRPr lang="es-VE" sz="1100" dirty="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dirty="0">
                          <a:effectLst/>
                          <a:latin typeface="Times New Roman" panose="02020603050405020304" pitchFamily="18" charset="0"/>
                          <a:ea typeface="Microsoft Sans Serif" panose="020B0604020202020204" pitchFamily="34" charset="0"/>
                          <a:cs typeface="Times New Roman" panose="02020603050405020304" pitchFamily="18" charset="0"/>
                        </a:rPr>
                        <a:t> </a:t>
                      </a:r>
                      <a:endParaRPr lang="es-VE" sz="1100" dirty="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1070707"/>
                  </a:ext>
                </a:extLst>
              </a:tr>
            </a:tbl>
          </a:graphicData>
        </a:graphic>
      </p:graphicFrame>
      <p:sp>
        <p:nvSpPr>
          <p:cNvPr id="16" name="CuadroTexto 15">
            <a:extLst>
              <a:ext uri="{FF2B5EF4-FFF2-40B4-BE49-F238E27FC236}">
                <a16:creationId xmlns:a16="http://schemas.microsoft.com/office/drawing/2014/main" id="{3EE7ADF1-6C96-4697-9805-4C6D7DDA8996}"/>
              </a:ext>
            </a:extLst>
          </p:cNvPr>
          <p:cNvSpPr txBox="1"/>
          <p:nvPr/>
        </p:nvSpPr>
        <p:spPr>
          <a:xfrm>
            <a:off x="3141617" y="5160251"/>
            <a:ext cx="6439988" cy="385042"/>
          </a:xfrm>
          <a:prstGeom prst="rect">
            <a:avLst/>
          </a:prstGeom>
          <a:noFill/>
        </p:spPr>
        <p:txBody>
          <a:bodyPr wrap="square">
            <a:spAutoFit/>
          </a:bodyPr>
          <a:lstStyle/>
          <a:p>
            <a:pPr marL="1692275" marR="1470660" algn="ctr">
              <a:lnSpc>
                <a:spcPct val="115000"/>
              </a:lnSpc>
              <a:spcBef>
                <a:spcPts val="1000"/>
              </a:spcBef>
              <a:spcAft>
                <a:spcPts val="0"/>
              </a:spcAft>
            </a:pPr>
            <a:r>
              <a:rPr lang="es-E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Estudio</a:t>
            </a:r>
            <a:r>
              <a:rPr lang="es-ES" sz="1800" b="1" i="1" spc="-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E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Económico</a:t>
            </a:r>
            <a:endParaRPr lang="es-VE" sz="1600" b="1" i="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p:txBody>
      </p:sp>
      <p:graphicFrame>
        <p:nvGraphicFramePr>
          <p:cNvPr id="17" name="Tabla 16">
            <a:extLst>
              <a:ext uri="{FF2B5EF4-FFF2-40B4-BE49-F238E27FC236}">
                <a16:creationId xmlns:a16="http://schemas.microsoft.com/office/drawing/2014/main" id="{A4987366-63A8-40DD-A30E-11C63D58383B}"/>
              </a:ext>
            </a:extLst>
          </p:cNvPr>
          <p:cNvGraphicFramePr>
            <a:graphicFrameLocks noGrp="1"/>
          </p:cNvGraphicFramePr>
          <p:nvPr>
            <p:extLst>
              <p:ext uri="{D42A27DB-BD31-4B8C-83A1-F6EECF244321}">
                <p14:modId xmlns:p14="http://schemas.microsoft.com/office/powerpoint/2010/main" val="2773956726"/>
              </p:ext>
            </p:extLst>
          </p:nvPr>
        </p:nvGraphicFramePr>
        <p:xfrm>
          <a:off x="3876502" y="5734047"/>
          <a:ext cx="5252085" cy="745012"/>
        </p:xfrm>
        <a:graphic>
          <a:graphicData uri="http://schemas.openxmlformats.org/drawingml/2006/table">
            <a:tbl>
              <a:tblPr firstRow="1" firstCol="1" lastRow="1" lastCol="1" bandRow="1" bandCol="1"/>
              <a:tblGrid>
                <a:gridCol w="1438275">
                  <a:extLst>
                    <a:ext uri="{9D8B030D-6E8A-4147-A177-3AD203B41FA5}">
                      <a16:colId xmlns:a16="http://schemas.microsoft.com/office/drawing/2014/main" val="3051971918"/>
                    </a:ext>
                  </a:extLst>
                </a:gridCol>
                <a:gridCol w="1056640">
                  <a:extLst>
                    <a:ext uri="{9D8B030D-6E8A-4147-A177-3AD203B41FA5}">
                      <a16:colId xmlns:a16="http://schemas.microsoft.com/office/drawing/2014/main" val="4003242959"/>
                    </a:ext>
                  </a:extLst>
                </a:gridCol>
                <a:gridCol w="982345">
                  <a:extLst>
                    <a:ext uri="{9D8B030D-6E8A-4147-A177-3AD203B41FA5}">
                      <a16:colId xmlns:a16="http://schemas.microsoft.com/office/drawing/2014/main" val="25120273"/>
                    </a:ext>
                  </a:extLst>
                </a:gridCol>
                <a:gridCol w="782955">
                  <a:extLst>
                    <a:ext uri="{9D8B030D-6E8A-4147-A177-3AD203B41FA5}">
                      <a16:colId xmlns:a16="http://schemas.microsoft.com/office/drawing/2014/main" val="1166248155"/>
                    </a:ext>
                  </a:extLst>
                </a:gridCol>
                <a:gridCol w="991870">
                  <a:extLst>
                    <a:ext uri="{9D8B030D-6E8A-4147-A177-3AD203B41FA5}">
                      <a16:colId xmlns:a16="http://schemas.microsoft.com/office/drawing/2014/main" val="2130526276"/>
                    </a:ext>
                  </a:extLst>
                </a:gridCol>
              </a:tblGrid>
              <a:tr h="159385">
                <a:tc>
                  <a:txBody>
                    <a:bodyPr/>
                    <a:lstStyle/>
                    <a:p>
                      <a:pPr marL="484505">
                        <a:lnSpc>
                          <a:spcPts val="1160"/>
                        </a:lnSpc>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Recursos</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6060" marR="59055" algn="ctr">
                        <a:lnSpc>
                          <a:spcPts val="1160"/>
                        </a:lnSpc>
                        <a:spcAft>
                          <a:spcPts val="0"/>
                        </a:spcAft>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Necesarios</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0960" marR="104140" algn="ctr">
                        <a:lnSpc>
                          <a:spcPts val="1160"/>
                        </a:lnSpc>
                        <a:spcAft>
                          <a:spcPts val="0"/>
                        </a:spcAft>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Disponibles</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6680" marR="114935" algn="ctr">
                        <a:lnSpc>
                          <a:spcPts val="1160"/>
                        </a:lnSpc>
                        <a:spcAft>
                          <a:spcPts val="0"/>
                        </a:spcAft>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Faltante</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1445">
                        <a:lnSpc>
                          <a:spcPts val="1160"/>
                        </a:lnSpc>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Costo</a:t>
                      </a:r>
                      <a:r>
                        <a:rPr lang="en-US" sz="1200" b="1" spc="-5">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Total</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1648031"/>
                  </a:ext>
                </a:extLst>
              </a:tr>
              <a:tr h="174625">
                <a:tc>
                  <a:txBody>
                    <a:bodyPr/>
                    <a:lstStyle/>
                    <a:p>
                      <a:pPr marL="73025">
                        <a:lnSpc>
                          <a:spcPts val="1280"/>
                        </a:lnSpc>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Resma de Papel</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165735" algn="ctr">
                        <a:spcBef>
                          <a:spcPts val="5"/>
                        </a:spcBef>
                        <a:spcAft>
                          <a:spcPts val="0"/>
                        </a:spcAft>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5</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R="45085" algn="ctr">
                        <a:spcBef>
                          <a:spcPts val="5"/>
                        </a:spcBef>
                        <a:spcAft>
                          <a:spcPts val="0"/>
                        </a:spcAft>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4</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R="9525" algn="ctr">
                        <a:spcBef>
                          <a:spcPts val="5"/>
                        </a:spcBef>
                        <a:spcAft>
                          <a:spcPts val="0"/>
                        </a:spcAft>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181610">
                        <a:spcBef>
                          <a:spcPts val="5"/>
                        </a:spcBef>
                        <a:spcAft>
                          <a:spcPts val="0"/>
                        </a:spcAft>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200,00</a:t>
                      </a:r>
                      <a:r>
                        <a:rPr lang="en-US" sz="1200" spc="5">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Bs.</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190807584"/>
                  </a:ext>
                </a:extLst>
              </a:tr>
              <a:tr h="161290">
                <a:tc>
                  <a:txBody>
                    <a:bodyPr/>
                    <a:lstStyle/>
                    <a:p>
                      <a:pPr marL="73025">
                        <a:lnSpc>
                          <a:spcPts val="1165"/>
                        </a:lnSpc>
                        <a:spcBef>
                          <a:spcPts val="5"/>
                        </a:spcBef>
                        <a:spcAft>
                          <a:spcPts val="0"/>
                        </a:spcAft>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Tinta</a:t>
                      </a:r>
                      <a:r>
                        <a:rPr lang="en-US" sz="1200" spc="-1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Continua</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165735" algn="ctr">
                        <a:lnSpc>
                          <a:spcPts val="1165"/>
                        </a:lnSpc>
                        <a:spcBef>
                          <a:spcPts val="5"/>
                        </a:spcBef>
                        <a:spcAft>
                          <a:spcPts val="0"/>
                        </a:spcAft>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8</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R="45085" algn="ctr">
                        <a:lnSpc>
                          <a:spcPts val="1165"/>
                        </a:lnSpc>
                        <a:spcBef>
                          <a:spcPts val="5"/>
                        </a:spcBef>
                        <a:spcAft>
                          <a:spcPts val="0"/>
                        </a:spcAft>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7</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R="9525" algn="ctr">
                        <a:lnSpc>
                          <a:spcPts val="1165"/>
                        </a:lnSpc>
                        <a:spcBef>
                          <a:spcPts val="5"/>
                        </a:spcBef>
                        <a:spcAft>
                          <a:spcPts val="0"/>
                        </a:spcAft>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181610">
                        <a:lnSpc>
                          <a:spcPts val="1165"/>
                        </a:lnSpc>
                        <a:spcBef>
                          <a:spcPts val="5"/>
                        </a:spcBef>
                        <a:spcAft>
                          <a:spcPts val="0"/>
                        </a:spcAft>
                      </a:pP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180,00</a:t>
                      </a:r>
                      <a:r>
                        <a:rPr lang="en-US" sz="1200" spc="1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1200">
                          <a:effectLst/>
                          <a:latin typeface="Times New Roman" panose="02020603050405020304" pitchFamily="18" charset="0"/>
                          <a:ea typeface="Microsoft Sans Serif" panose="020B0604020202020204" pitchFamily="34" charset="0"/>
                          <a:cs typeface="Times New Roman" panose="02020603050405020304" pitchFamily="18" charset="0"/>
                        </a:rPr>
                        <a:t>Bs.</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1220429"/>
                  </a:ext>
                </a:extLst>
              </a:tr>
              <a:tr h="241457">
                <a:tc>
                  <a:txBody>
                    <a:bodyPr/>
                    <a:lstStyle/>
                    <a:p>
                      <a:pPr marL="73025">
                        <a:lnSpc>
                          <a:spcPts val="1160"/>
                        </a:lnSpc>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Total</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6060" marR="59055" algn="ctr">
                        <a:lnSpc>
                          <a:spcPts val="1160"/>
                        </a:lnSpc>
                        <a:spcAft>
                          <a:spcPts val="0"/>
                        </a:spcAft>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13</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0325" marR="104140" algn="ctr">
                        <a:lnSpc>
                          <a:spcPts val="1160"/>
                        </a:lnSpc>
                        <a:spcAft>
                          <a:spcPts val="0"/>
                        </a:spcAft>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11</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9525" algn="ctr">
                        <a:lnSpc>
                          <a:spcPts val="1160"/>
                        </a:lnSpc>
                      </a:pPr>
                      <a:r>
                        <a:rPr lang="en-US" sz="1200" b="1">
                          <a:effectLst/>
                          <a:latin typeface="Times New Roman" panose="02020603050405020304" pitchFamily="18" charset="0"/>
                          <a:ea typeface="Microsoft Sans Serif" panose="020B0604020202020204" pitchFamily="34" charset="0"/>
                          <a:cs typeface="Times New Roman" panose="02020603050405020304" pitchFamily="18" charset="0"/>
                        </a:rPr>
                        <a:t>2</a:t>
                      </a:r>
                      <a:endParaRPr lang="es-VE" sz="110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3990">
                        <a:lnSpc>
                          <a:spcPts val="1160"/>
                        </a:lnSpc>
                      </a:pPr>
                      <a:r>
                        <a:rPr lang="en-US" sz="1200" b="1" dirty="0">
                          <a:effectLst/>
                          <a:latin typeface="Times New Roman" panose="02020603050405020304" pitchFamily="18" charset="0"/>
                          <a:ea typeface="Microsoft Sans Serif" panose="020B0604020202020204" pitchFamily="34" charset="0"/>
                          <a:cs typeface="Times New Roman" panose="02020603050405020304" pitchFamily="18" charset="0"/>
                        </a:rPr>
                        <a:t>380,00</a:t>
                      </a:r>
                      <a:r>
                        <a:rPr lang="en-US" sz="1200" b="1"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1200" b="1" dirty="0">
                          <a:effectLst/>
                          <a:latin typeface="Times New Roman" panose="02020603050405020304" pitchFamily="18" charset="0"/>
                          <a:ea typeface="Microsoft Sans Serif" panose="020B0604020202020204" pitchFamily="34" charset="0"/>
                          <a:cs typeface="Times New Roman" panose="02020603050405020304" pitchFamily="18" charset="0"/>
                        </a:rPr>
                        <a:t>Bs.</a:t>
                      </a:r>
                      <a:endParaRPr lang="es-VE" sz="1100" dirty="0">
                        <a:effectLst/>
                        <a:latin typeface="Microsoft Sans Serif" panose="020B0604020202020204" pitchFamily="34" charset="0"/>
                        <a:ea typeface="Microsoft Sans Serif" panose="020B06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7923409"/>
                  </a:ext>
                </a:extLst>
              </a:tr>
            </a:tbl>
          </a:graphicData>
        </a:graphic>
      </p:graphicFrame>
      <p:pic>
        <p:nvPicPr>
          <p:cNvPr id="18" name="Imagen 17">
            <a:extLst>
              <a:ext uri="{FF2B5EF4-FFF2-40B4-BE49-F238E27FC236}">
                <a16:creationId xmlns:a16="http://schemas.microsoft.com/office/drawing/2014/main" id="{F8D089B9-E59B-4837-83D0-04BD58D19852}"/>
              </a:ext>
            </a:extLst>
          </p:cNvPr>
          <p:cNvPicPr>
            <a:picLocks noChangeAspect="1"/>
          </p:cNvPicPr>
          <p:nvPr/>
        </p:nvPicPr>
        <p:blipFill>
          <a:blip r:embed="rId2"/>
          <a:stretch>
            <a:fillRect/>
          </a:stretch>
        </p:blipFill>
        <p:spPr>
          <a:xfrm>
            <a:off x="8509383" y="516709"/>
            <a:ext cx="3097036" cy="1798476"/>
          </a:xfrm>
          <a:prstGeom prst="rect">
            <a:avLst/>
          </a:prstGeom>
        </p:spPr>
      </p:pic>
    </p:spTree>
    <p:extLst>
      <p:ext uri="{BB962C8B-B14F-4D97-AF65-F5344CB8AC3E}">
        <p14:creationId xmlns:p14="http://schemas.microsoft.com/office/powerpoint/2010/main" val="3131393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 de texto 1">
            <a:extLst>
              <a:ext uri="{FF2B5EF4-FFF2-40B4-BE49-F238E27FC236}">
                <a16:creationId xmlns:a16="http://schemas.microsoft.com/office/drawing/2014/main" id="{74D6564D-B48B-400A-A77A-A744B13E0C0B}"/>
              </a:ext>
            </a:extLst>
          </p:cNvPr>
          <p:cNvSpPr txBox="1"/>
          <p:nvPr/>
        </p:nvSpPr>
        <p:spPr>
          <a:xfrm>
            <a:off x="1341331" y="2474892"/>
            <a:ext cx="3632452" cy="1908215"/>
          </a:xfrm>
          <a:prstGeom prst="rect">
            <a:avLst/>
          </a:prstGeom>
          <a:noFill/>
        </p:spPr>
        <p:txBody>
          <a:bodyPr wrap="square" rtlCol="0">
            <a:spAutoFit/>
          </a:bodyPr>
          <a:lstStyle/>
          <a:p>
            <a:pPr algn="just" defTabSz="914400"/>
            <a:r>
              <a:rPr lang="es-ES" altLang="en-US" sz="2200" b="1" dirty="0">
                <a:latin typeface="Calibri Light" panose="020F0302020204030204" pitchFamily="34" charset="0"/>
                <a:cs typeface="Calibri Light" panose="020F0302020204030204" pitchFamily="34" charset="0"/>
              </a:rPr>
              <a:t>CAPÍTULO IV</a:t>
            </a:r>
          </a:p>
          <a:p>
            <a:pPr algn="just" defTabSz="914400"/>
            <a:r>
              <a:rPr lang="es-ES" altLang="en-US" sz="4800" b="1" dirty="0">
                <a:latin typeface="Calibri Light" panose="020F0302020204030204" pitchFamily="34" charset="0"/>
                <a:cs typeface="Calibri Light" panose="020F0302020204030204" pitchFamily="34" charset="0"/>
              </a:rPr>
              <a:t>ACTIVIDADES REALIZADAS</a:t>
            </a:r>
          </a:p>
        </p:txBody>
      </p:sp>
      <p:grpSp>
        <p:nvGrpSpPr>
          <p:cNvPr id="26" name="Google Shape;9989;p84">
            <a:extLst>
              <a:ext uri="{FF2B5EF4-FFF2-40B4-BE49-F238E27FC236}">
                <a16:creationId xmlns:a16="http://schemas.microsoft.com/office/drawing/2014/main" id="{51B6B8CD-FBE6-4C6B-ADB0-EF41260100C3}"/>
              </a:ext>
            </a:extLst>
          </p:cNvPr>
          <p:cNvGrpSpPr/>
          <p:nvPr/>
        </p:nvGrpSpPr>
        <p:grpSpPr>
          <a:xfrm>
            <a:off x="5452531" y="2880109"/>
            <a:ext cx="186045" cy="376087"/>
            <a:chOff x="1101350" y="2388550"/>
            <a:chExt cx="70125" cy="154300"/>
          </a:xfrm>
          <a:solidFill>
            <a:schemeClr val="bg1"/>
          </a:solidFill>
        </p:grpSpPr>
        <p:sp>
          <p:nvSpPr>
            <p:cNvPr id="27" name="Google Shape;9990;p84">
              <a:extLst>
                <a:ext uri="{FF2B5EF4-FFF2-40B4-BE49-F238E27FC236}">
                  <a16:creationId xmlns:a16="http://schemas.microsoft.com/office/drawing/2014/main" id="{FA13D029-C88D-4656-9630-95D8A378FBE6}"/>
                </a:ext>
              </a:extLst>
            </p:cNvPr>
            <p:cNvSpPr/>
            <p:nvPr/>
          </p:nvSpPr>
          <p:spPr>
            <a:xfrm>
              <a:off x="1101350" y="2492325"/>
              <a:ext cx="70125" cy="50525"/>
            </a:xfrm>
            <a:custGeom>
              <a:avLst/>
              <a:gdLst/>
              <a:ahLst/>
              <a:cxnLst/>
              <a:rect l="l" t="t" r="r" b="b"/>
              <a:pathLst>
                <a:path w="2805" h="2021" extrusionOk="0">
                  <a:moveTo>
                    <a:pt x="2473" y="0"/>
                  </a:moveTo>
                  <a:cubicBezTo>
                    <a:pt x="2377" y="0"/>
                    <a:pt x="2273" y="32"/>
                    <a:pt x="2206" y="99"/>
                  </a:cubicBezTo>
                  <a:lnTo>
                    <a:pt x="1072" y="1233"/>
                  </a:lnTo>
                  <a:lnTo>
                    <a:pt x="599" y="761"/>
                  </a:lnTo>
                  <a:cubicBezTo>
                    <a:pt x="536" y="713"/>
                    <a:pt x="449" y="690"/>
                    <a:pt x="363" y="690"/>
                  </a:cubicBezTo>
                  <a:cubicBezTo>
                    <a:pt x="276" y="690"/>
                    <a:pt x="189" y="713"/>
                    <a:pt x="126" y="761"/>
                  </a:cubicBezTo>
                  <a:cubicBezTo>
                    <a:pt x="0" y="887"/>
                    <a:pt x="0" y="1139"/>
                    <a:pt x="126" y="1233"/>
                  </a:cubicBezTo>
                  <a:lnTo>
                    <a:pt x="820" y="1958"/>
                  </a:lnTo>
                  <a:cubicBezTo>
                    <a:pt x="914" y="2021"/>
                    <a:pt x="977" y="2021"/>
                    <a:pt x="1072" y="2021"/>
                  </a:cubicBezTo>
                  <a:cubicBezTo>
                    <a:pt x="1135" y="2021"/>
                    <a:pt x="1261" y="1989"/>
                    <a:pt x="1292" y="1926"/>
                  </a:cubicBezTo>
                  <a:lnTo>
                    <a:pt x="2678" y="540"/>
                  </a:lnTo>
                  <a:cubicBezTo>
                    <a:pt x="2804" y="414"/>
                    <a:pt x="2804" y="162"/>
                    <a:pt x="2678" y="68"/>
                  </a:cubicBezTo>
                  <a:cubicBezTo>
                    <a:pt x="2634" y="24"/>
                    <a:pt x="2557" y="0"/>
                    <a:pt x="24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000000"/>
                </a:highlight>
              </a:endParaRPr>
            </a:p>
          </p:txBody>
        </p:sp>
        <p:sp>
          <p:nvSpPr>
            <p:cNvPr id="28" name="Google Shape;9991;p84">
              <a:extLst>
                <a:ext uri="{FF2B5EF4-FFF2-40B4-BE49-F238E27FC236}">
                  <a16:creationId xmlns:a16="http://schemas.microsoft.com/office/drawing/2014/main" id="{1C15D382-B8C5-470D-828D-FBBEECFD58F7}"/>
                </a:ext>
              </a:extLst>
            </p:cNvPr>
            <p:cNvSpPr/>
            <p:nvPr/>
          </p:nvSpPr>
          <p:spPr>
            <a:xfrm>
              <a:off x="1101350" y="2440525"/>
              <a:ext cx="70125" cy="51150"/>
            </a:xfrm>
            <a:custGeom>
              <a:avLst/>
              <a:gdLst/>
              <a:ahLst/>
              <a:cxnLst/>
              <a:rect l="l" t="t" r="r" b="b"/>
              <a:pathLst>
                <a:path w="2805" h="2046" extrusionOk="0">
                  <a:moveTo>
                    <a:pt x="2469" y="1"/>
                  </a:moveTo>
                  <a:cubicBezTo>
                    <a:pt x="2374" y="1"/>
                    <a:pt x="2272" y="40"/>
                    <a:pt x="2206" y="123"/>
                  </a:cubicBezTo>
                  <a:lnTo>
                    <a:pt x="1072" y="1257"/>
                  </a:lnTo>
                  <a:lnTo>
                    <a:pt x="599" y="785"/>
                  </a:lnTo>
                  <a:cubicBezTo>
                    <a:pt x="536" y="738"/>
                    <a:pt x="449" y="714"/>
                    <a:pt x="363" y="714"/>
                  </a:cubicBezTo>
                  <a:cubicBezTo>
                    <a:pt x="276" y="714"/>
                    <a:pt x="189" y="738"/>
                    <a:pt x="126" y="785"/>
                  </a:cubicBezTo>
                  <a:cubicBezTo>
                    <a:pt x="0" y="911"/>
                    <a:pt x="0" y="1163"/>
                    <a:pt x="126" y="1257"/>
                  </a:cubicBezTo>
                  <a:lnTo>
                    <a:pt x="820" y="1982"/>
                  </a:lnTo>
                  <a:cubicBezTo>
                    <a:pt x="914" y="2045"/>
                    <a:pt x="977" y="2045"/>
                    <a:pt x="1072" y="2045"/>
                  </a:cubicBezTo>
                  <a:cubicBezTo>
                    <a:pt x="1135" y="2045"/>
                    <a:pt x="1261" y="2014"/>
                    <a:pt x="1292" y="1951"/>
                  </a:cubicBezTo>
                  <a:lnTo>
                    <a:pt x="2678" y="564"/>
                  </a:lnTo>
                  <a:cubicBezTo>
                    <a:pt x="2804" y="438"/>
                    <a:pt x="2804" y="186"/>
                    <a:pt x="2678" y="92"/>
                  </a:cubicBezTo>
                  <a:cubicBezTo>
                    <a:pt x="2634" y="32"/>
                    <a:pt x="2554" y="1"/>
                    <a:pt x="24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000000"/>
                </a:highlight>
              </a:endParaRPr>
            </a:p>
          </p:txBody>
        </p:sp>
        <p:sp>
          <p:nvSpPr>
            <p:cNvPr id="29" name="Google Shape;9992;p84">
              <a:extLst>
                <a:ext uri="{FF2B5EF4-FFF2-40B4-BE49-F238E27FC236}">
                  <a16:creationId xmlns:a16="http://schemas.microsoft.com/office/drawing/2014/main" id="{B5B60844-44C7-4AC6-AE24-606EF7B4C146}"/>
                </a:ext>
              </a:extLst>
            </p:cNvPr>
            <p:cNvSpPr/>
            <p:nvPr/>
          </p:nvSpPr>
          <p:spPr>
            <a:xfrm>
              <a:off x="1101350" y="2388550"/>
              <a:ext cx="70125" cy="51125"/>
            </a:xfrm>
            <a:custGeom>
              <a:avLst/>
              <a:gdLst/>
              <a:ahLst/>
              <a:cxnLst/>
              <a:rect l="l" t="t" r="r" b="b"/>
              <a:pathLst>
                <a:path w="2805" h="2045" extrusionOk="0">
                  <a:moveTo>
                    <a:pt x="2469" y="1"/>
                  </a:moveTo>
                  <a:cubicBezTo>
                    <a:pt x="2374" y="1"/>
                    <a:pt x="2272" y="40"/>
                    <a:pt x="2206" y="123"/>
                  </a:cubicBezTo>
                  <a:lnTo>
                    <a:pt x="1072" y="1257"/>
                  </a:lnTo>
                  <a:lnTo>
                    <a:pt x="599" y="785"/>
                  </a:lnTo>
                  <a:cubicBezTo>
                    <a:pt x="536" y="722"/>
                    <a:pt x="449" y="690"/>
                    <a:pt x="363" y="690"/>
                  </a:cubicBezTo>
                  <a:cubicBezTo>
                    <a:pt x="276" y="690"/>
                    <a:pt x="189" y="722"/>
                    <a:pt x="126" y="785"/>
                  </a:cubicBezTo>
                  <a:cubicBezTo>
                    <a:pt x="0" y="911"/>
                    <a:pt x="0" y="1131"/>
                    <a:pt x="126" y="1257"/>
                  </a:cubicBezTo>
                  <a:lnTo>
                    <a:pt x="820" y="1982"/>
                  </a:lnTo>
                  <a:cubicBezTo>
                    <a:pt x="914" y="2045"/>
                    <a:pt x="977" y="2045"/>
                    <a:pt x="1072" y="2045"/>
                  </a:cubicBezTo>
                  <a:cubicBezTo>
                    <a:pt x="1135" y="2045"/>
                    <a:pt x="1261" y="2013"/>
                    <a:pt x="1292" y="1919"/>
                  </a:cubicBezTo>
                  <a:lnTo>
                    <a:pt x="2678" y="532"/>
                  </a:lnTo>
                  <a:cubicBezTo>
                    <a:pt x="2804" y="438"/>
                    <a:pt x="2804" y="186"/>
                    <a:pt x="2678" y="91"/>
                  </a:cubicBezTo>
                  <a:cubicBezTo>
                    <a:pt x="2634" y="32"/>
                    <a:pt x="2554" y="1"/>
                    <a:pt x="24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000000"/>
                </a:highlight>
              </a:endParaRPr>
            </a:p>
          </p:txBody>
        </p:sp>
      </p:grpSp>
      <p:pic>
        <p:nvPicPr>
          <p:cNvPr id="5124" name="Picture 4" descr="Blog de la seño Raquel: Repaso de actividades realizadas.">
            <a:extLst>
              <a:ext uri="{FF2B5EF4-FFF2-40B4-BE49-F238E27FC236}">
                <a16:creationId xmlns:a16="http://schemas.microsoft.com/office/drawing/2014/main" id="{BC431C5E-4CFC-4C2A-99A2-AF1003C539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5164" y="0"/>
            <a:ext cx="620683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oogle Shape;9989;p84">
            <a:extLst>
              <a:ext uri="{FF2B5EF4-FFF2-40B4-BE49-F238E27FC236}">
                <a16:creationId xmlns:a16="http://schemas.microsoft.com/office/drawing/2014/main" id="{E582E5BB-0A85-431D-94F0-7B8BDBBE9E97}"/>
              </a:ext>
            </a:extLst>
          </p:cNvPr>
          <p:cNvGrpSpPr/>
          <p:nvPr/>
        </p:nvGrpSpPr>
        <p:grpSpPr>
          <a:xfrm>
            <a:off x="5056531" y="2921632"/>
            <a:ext cx="792000" cy="720000"/>
            <a:chOff x="1049375" y="2318350"/>
            <a:chExt cx="298525" cy="295400"/>
          </a:xfrm>
          <a:solidFill>
            <a:schemeClr val="tx1"/>
          </a:solidFill>
        </p:grpSpPr>
        <p:sp>
          <p:nvSpPr>
            <p:cNvPr id="10" name="Google Shape;9990;p84">
              <a:extLst>
                <a:ext uri="{FF2B5EF4-FFF2-40B4-BE49-F238E27FC236}">
                  <a16:creationId xmlns:a16="http://schemas.microsoft.com/office/drawing/2014/main" id="{6B4F0370-15B2-4921-A9DE-A0CE760BC14C}"/>
                </a:ext>
              </a:extLst>
            </p:cNvPr>
            <p:cNvSpPr/>
            <p:nvPr/>
          </p:nvSpPr>
          <p:spPr>
            <a:xfrm>
              <a:off x="1101350" y="2492325"/>
              <a:ext cx="70125" cy="50525"/>
            </a:xfrm>
            <a:custGeom>
              <a:avLst/>
              <a:gdLst/>
              <a:ahLst/>
              <a:cxnLst/>
              <a:rect l="l" t="t" r="r" b="b"/>
              <a:pathLst>
                <a:path w="2805" h="2021" extrusionOk="0">
                  <a:moveTo>
                    <a:pt x="2473" y="0"/>
                  </a:moveTo>
                  <a:cubicBezTo>
                    <a:pt x="2377" y="0"/>
                    <a:pt x="2273" y="32"/>
                    <a:pt x="2206" y="99"/>
                  </a:cubicBezTo>
                  <a:lnTo>
                    <a:pt x="1072" y="1233"/>
                  </a:lnTo>
                  <a:lnTo>
                    <a:pt x="599" y="761"/>
                  </a:lnTo>
                  <a:cubicBezTo>
                    <a:pt x="536" y="713"/>
                    <a:pt x="449" y="690"/>
                    <a:pt x="363" y="690"/>
                  </a:cubicBezTo>
                  <a:cubicBezTo>
                    <a:pt x="276" y="690"/>
                    <a:pt x="189" y="713"/>
                    <a:pt x="126" y="761"/>
                  </a:cubicBezTo>
                  <a:cubicBezTo>
                    <a:pt x="0" y="887"/>
                    <a:pt x="0" y="1139"/>
                    <a:pt x="126" y="1233"/>
                  </a:cubicBezTo>
                  <a:lnTo>
                    <a:pt x="820" y="1958"/>
                  </a:lnTo>
                  <a:cubicBezTo>
                    <a:pt x="914" y="2021"/>
                    <a:pt x="977" y="2021"/>
                    <a:pt x="1072" y="2021"/>
                  </a:cubicBezTo>
                  <a:cubicBezTo>
                    <a:pt x="1135" y="2021"/>
                    <a:pt x="1261" y="1989"/>
                    <a:pt x="1292" y="1926"/>
                  </a:cubicBezTo>
                  <a:lnTo>
                    <a:pt x="2678" y="540"/>
                  </a:lnTo>
                  <a:cubicBezTo>
                    <a:pt x="2804" y="414"/>
                    <a:pt x="2804" y="162"/>
                    <a:pt x="2678" y="68"/>
                  </a:cubicBezTo>
                  <a:cubicBezTo>
                    <a:pt x="2634" y="24"/>
                    <a:pt x="2557" y="0"/>
                    <a:pt x="24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9991;p84">
              <a:extLst>
                <a:ext uri="{FF2B5EF4-FFF2-40B4-BE49-F238E27FC236}">
                  <a16:creationId xmlns:a16="http://schemas.microsoft.com/office/drawing/2014/main" id="{2FEFC7F3-E649-4212-A708-6E622DE54E5C}"/>
                </a:ext>
              </a:extLst>
            </p:cNvPr>
            <p:cNvSpPr/>
            <p:nvPr/>
          </p:nvSpPr>
          <p:spPr>
            <a:xfrm>
              <a:off x="1101350" y="2440525"/>
              <a:ext cx="70125" cy="51150"/>
            </a:xfrm>
            <a:custGeom>
              <a:avLst/>
              <a:gdLst/>
              <a:ahLst/>
              <a:cxnLst/>
              <a:rect l="l" t="t" r="r" b="b"/>
              <a:pathLst>
                <a:path w="2805" h="2046" extrusionOk="0">
                  <a:moveTo>
                    <a:pt x="2469" y="1"/>
                  </a:moveTo>
                  <a:cubicBezTo>
                    <a:pt x="2374" y="1"/>
                    <a:pt x="2272" y="40"/>
                    <a:pt x="2206" y="123"/>
                  </a:cubicBezTo>
                  <a:lnTo>
                    <a:pt x="1072" y="1257"/>
                  </a:lnTo>
                  <a:lnTo>
                    <a:pt x="599" y="785"/>
                  </a:lnTo>
                  <a:cubicBezTo>
                    <a:pt x="536" y="738"/>
                    <a:pt x="449" y="714"/>
                    <a:pt x="363" y="714"/>
                  </a:cubicBezTo>
                  <a:cubicBezTo>
                    <a:pt x="276" y="714"/>
                    <a:pt x="189" y="738"/>
                    <a:pt x="126" y="785"/>
                  </a:cubicBezTo>
                  <a:cubicBezTo>
                    <a:pt x="0" y="911"/>
                    <a:pt x="0" y="1163"/>
                    <a:pt x="126" y="1257"/>
                  </a:cubicBezTo>
                  <a:lnTo>
                    <a:pt x="820" y="1982"/>
                  </a:lnTo>
                  <a:cubicBezTo>
                    <a:pt x="914" y="2045"/>
                    <a:pt x="977" y="2045"/>
                    <a:pt x="1072" y="2045"/>
                  </a:cubicBezTo>
                  <a:cubicBezTo>
                    <a:pt x="1135" y="2045"/>
                    <a:pt x="1261" y="2014"/>
                    <a:pt x="1292" y="1951"/>
                  </a:cubicBezTo>
                  <a:lnTo>
                    <a:pt x="2678" y="564"/>
                  </a:lnTo>
                  <a:cubicBezTo>
                    <a:pt x="2804" y="438"/>
                    <a:pt x="2804" y="186"/>
                    <a:pt x="2678" y="92"/>
                  </a:cubicBezTo>
                  <a:cubicBezTo>
                    <a:pt x="2634" y="32"/>
                    <a:pt x="2554" y="1"/>
                    <a:pt x="24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992;p84">
              <a:extLst>
                <a:ext uri="{FF2B5EF4-FFF2-40B4-BE49-F238E27FC236}">
                  <a16:creationId xmlns:a16="http://schemas.microsoft.com/office/drawing/2014/main" id="{2F5D61C9-C3F8-4C94-AA3C-F29CEFDFD8C6}"/>
                </a:ext>
              </a:extLst>
            </p:cNvPr>
            <p:cNvSpPr/>
            <p:nvPr/>
          </p:nvSpPr>
          <p:spPr>
            <a:xfrm>
              <a:off x="1101350" y="2388550"/>
              <a:ext cx="70125" cy="51125"/>
            </a:xfrm>
            <a:custGeom>
              <a:avLst/>
              <a:gdLst/>
              <a:ahLst/>
              <a:cxnLst/>
              <a:rect l="l" t="t" r="r" b="b"/>
              <a:pathLst>
                <a:path w="2805" h="2045" extrusionOk="0">
                  <a:moveTo>
                    <a:pt x="2469" y="1"/>
                  </a:moveTo>
                  <a:cubicBezTo>
                    <a:pt x="2374" y="1"/>
                    <a:pt x="2272" y="40"/>
                    <a:pt x="2206" y="123"/>
                  </a:cubicBezTo>
                  <a:lnTo>
                    <a:pt x="1072" y="1257"/>
                  </a:lnTo>
                  <a:lnTo>
                    <a:pt x="599" y="785"/>
                  </a:lnTo>
                  <a:cubicBezTo>
                    <a:pt x="536" y="722"/>
                    <a:pt x="449" y="690"/>
                    <a:pt x="363" y="690"/>
                  </a:cubicBezTo>
                  <a:cubicBezTo>
                    <a:pt x="276" y="690"/>
                    <a:pt x="189" y="722"/>
                    <a:pt x="126" y="785"/>
                  </a:cubicBezTo>
                  <a:cubicBezTo>
                    <a:pt x="0" y="911"/>
                    <a:pt x="0" y="1131"/>
                    <a:pt x="126" y="1257"/>
                  </a:cubicBezTo>
                  <a:lnTo>
                    <a:pt x="820" y="1982"/>
                  </a:lnTo>
                  <a:cubicBezTo>
                    <a:pt x="914" y="2045"/>
                    <a:pt x="977" y="2045"/>
                    <a:pt x="1072" y="2045"/>
                  </a:cubicBezTo>
                  <a:cubicBezTo>
                    <a:pt x="1135" y="2045"/>
                    <a:pt x="1261" y="2013"/>
                    <a:pt x="1292" y="1919"/>
                  </a:cubicBezTo>
                  <a:lnTo>
                    <a:pt x="2678" y="532"/>
                  </a:lnTo>
                  <a:cubicBezTo>
                    <a:pt x="2804" y="438"/>
                    <a:pt x="2804" y="186"/>
                    <a:pt x="2678" y="91"/>
                  </a:cubicBezTo>
                  <a:cubicBezTo>
                    <a:pt x="2634" y="32"/>
                    <a:pt x="2554" y="1"/>
                    <a:pt x="24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993;p84">
              <a:extLst>
                <a:ext uri="{FF2B5EF4-FFF2-40B4-BE49-F238E27FC236}">
                  <a16:creationId xmlns:a16="http://schemas.microsoft.com/office/drawing/2014/main" id="{80747933-6E83-42A1-BE6B-28EFD9EF3993}"/>
                </a:ext>
              </a:extLst>
            </p:cNvPr>
            <p:cNvSpPr/>
            <p:nvPr/>
          </p:nvSpPr>
          <p:spPr>
            <a:xfrm>
              <a:off x="1049375" y="2318350"/>
              <a:ext cx="298525" cy="295400"/>
            </a:xfrm>
            <a:custGeom>
              <a:avLst/>
              <a:gdLst/>
              <a:ahLst/>
              <a:cxnLst/>
              <a:rect l="l" t="t" r="r" b="b"/>
              <a:pathLst>
                <a:path w="11941" h="11816" extrusionOk="0">
                  <a:moveTo>
                    <a:pt x="6963" y="1198"/>
                  </a:moveTo>
                  <a:lnTo>
                    <a:pt x="7876" y="2143"/>
                  </a:lnTo>
                  <a:lnTo>
                    <a:pt x="6963" y="2143"/>
                  </a:lnTo>
                  <a:lnTo>
                    <a:pt x="6963" y="1198"/>
                  </a:lnTo>
                  <a:close/>
                  <a:moveTo>
                    <a:pt x="10286" y="3498"/>
                  </a:moveTo>
                  <a:cubicBezTo>
                    <a:pt x="10373" y="3498"/>
                    <a:pt x="10460" y="3530"/>
                    <a:pt x="10523" y="3593"/>
                  </a:cubicBezTo>
                  <a:lnTo>
                    <a:pt x="10995" y="4065"/>
                  </a:lnTo>
                  <a:cubicBezTo>
                    <a:pt x="11184" y="4223"/>
                    <a:pt x="11184" y="4475"/>
                    <a:pt x="11027" y="4569"/>
                  </a:cubicBezTo>
                  <a:lnTo>
                    <a:pt x="10806" y="4821"/>
                  </a:lnTo>
                  <a:lnTo>
                    <a:pt x="9798" y="3845"/>
                  </a:lnTo>
                  <a:lnTo>
                    <a:pt x="10050" y="3593"/>
                  </a:lnTo>
                  <a:cubicBezTo>
                    <a:pt x="10113" y="3530"/>
                    <a:pt x="10200" y="3498"/>
                    <a:pt x="10286" y="3498"/>
                  </a:cubicBezTo>
                  <a:close/>
                  <a:moveTo>
                    <a:pt x="9294" y="4349"/>
                  </a:moveTo>
                  <a:lnTo>
                    <a:pt x="10271" y="5325"/>
                  </a:lnTo>
                  <a:lnTo>
                    <a:pt x="7845" y="7783"/>
                  </a:lnTo>
                  <a:lnTo>
                    <a:pt x="6868" y="6774"/>
                  </a:lnTo>
                  <a:lnTo>
                    <a:pt x="9294" y="4349"/>
                  </a:lnTo>
                  <a:close/>
                  <a:moveTo>
                    <a:pt x="6585" y="7499"/>
                  </a:moveTo>
                  <a:lnTo>
                    <a:pt x="7183" y="8098"/>
                  </a:lnTo>
                  <a:lnTo>
                    <a:pt x="6427" y="8255"/>
                  </a:lnTo>
                  <a:lnTo>
                    <a:pt x="6585" y="7499"/>
                  </a:lnTo>
                  <a:close/>
                  <a:moveTo>
                    <a:pt x="6994" y="10398"/>
                  </a:moveTo>
                  <a:lnTo>
                    <a:pt x="6994" y="10776"/>
                  </a:lnTo>
                  <a:cubicBezTo>
                    <a:pt x="6994" y="10870"/>
                    <a:pt x="7057" y="10996"/>
                    <a:pt x="7089" y="11122"/>
                  </a:cubicBezTo>
                  <a:lnTo>
                    <a:pt x="1071" y="11122"/>
                  </a:lnTo>
                  <a:cubicBezTo>
                    <a:pt x="882" y="11122"/>
                    <a:pt x="693" y="10965"/>
                    <a:pt x="693" y="10776"/>
                  </a:cubicBezTo>
                  <a:lnTo>
                    <a:pt x="693" y="10398"/>
                  </a:lnTo>
                  <a:close/>
                  <a:moveTo>
                    <a:pt x="6270" y="663"/>
                  </a:moveTo>
                  <a:lnTo>
                    <a:pt x="6270" y="2458"/>
                  </a:lnTo>
                  <a:cubicBezTo>
                    <a:pt x="6270" y="2647"/>
                    <a:pt x="6427" y="2805"/>
                    <a:pt x="6616" y="2805"/>
                  </a:cubicBezTo>
                  <a:lnTo>
                    <a:pt x="8349" y="2805"/>
                  </a:lnTo>
                  <a:lnTo>
                    <a:pt x="8349" y="4286"/>
                  </a:lnTo>
                  <a:lnTo>
                    <a:pt x="6112" y="6554"/>
                  </a:lnTo>
                  <a:cubicBezTo>
                    <a:pt x="6081" y="6585"/>
                    <a:pt x="6018" y="6680"/>
                    <a:pt x="6018" y="6711"/>
                  </a:cubicBezTo>
                  <a:lnTo>
                    <a:pt x="5608" y="8633"/>
                  </a:lnTo>
                  <a:cubicBezTo>
                    <a:pt x="5545" y="8759"/>
                    <a:pt x="5608" y="8885"/>
                    <a:pt x="5671" y="8948"/>
                  </a:cubicBezTo>
                  <a:cubicBezTo>
                    <a:pt x="5742" y="9019"/>
                    <a:pt x="5813" y="9055"/>
                    <a:pt x="5897" y="9055"/>
                  </a:cubicBezTo>
                  <a:cubicBezTo>
                    <a:pt x="5925" y="9055"/>
                    <a:pt x="5955" y="9051"/>
                    <a:pt x="5986" y="9043"/>
                  </a:cubicBezTo>
                  <a:lnTo>
                    <a:pt x="7908" y="8602"/>
                  </a:lnTo>
                  <a:cubicBezTo>
                    <a:pt x="8002" y="8602"/>
                    <a:pt x="8034" y="8570"/>
                    <a:pt x="8065" y="8507"/>
                  </a:cubicBezTo>
                  <a:lnTo>
                    <a:pt x="8349" y="8255"/>
                  </a:lnTo>
                  <a:lnTo>
                    <a:pt x="8349" y="10807"/>
                  </a:lnTo>
                  <a:lnTo>
                    <a:pt x="8380" y="10807"/>
                  </a:lnTo>
                  <a:cubicBezTo>
                    <a:pt x="8380" y="10996"/>
                    <a:pt x="8223" y="11154"/>
                    <a:pt x="8034" y="11154"/>
                  </a:cubicBezTo>
                  <a:cubicBezTo>
                    <a:pt x="7845" y="11154"/>
                    <a:pt x="7687" y="10996"/>
                    <a:pt x="7687" y="10807"/>
                  </a:cubicBezTo>
                  <a:lnTo>
                    <a:pt x="7687" y="10083"/>
                  </a:lnTo>
                  <a:cubicBezTo>
                    <a:pt x="7687" y="9893"/>
                    <a:pt x="7530" y="9736"/>
                    <a:pt x="7309" y="9736"/>
                  </a:cubicBezTo>
                  <a:lnTo>
                    <a:pt x="1386" y="9736"/>
                  </a:lnTo>
                  <a:lnTo>
                    <a:pt x="1386" y="663"/>
                  </a:lnTo>
                  <a:close/>
                  <a:moveTo>
                    <a:pt x="1071" y="1"/>
                  </a:moveTo>
                  <a:cubicBezTo>
                    <a:pt x="882" y="1"/>
                    <a:pt x="693" y="158"/>
                    <a:pt x="693" y="379"/>
                  </a:cubicBezTo>
                  <a:lnTo>
                    <a:pt x="693" y="9736"/>
                  </a:lnTo>
                  <a:lnTo>
                    <a:pt x="347" y="9736"/>
                  </a:lnTo>
                  <a:cubicBezTo>
                    <a:pt x="158" y="9736"/>
                    <a:pt x="0" y="9893"/>
                    <a:pt x="0" y="10083"/>
                  </a:cubicBezTo>
                  <a:lnTo>
                    <a:pt x="0" y="10807"/>
                  </a:lnTo>
                  <a:cubicBezTo>
                    <a:pt x="0" y="11406"/>
                    <a:pt x="473" y="11815"/>
                    <a:pt x="1008" y="11815"/>
                  </a:cubicBezTo>
                  <a:lnTo>
                    <a:pt x="8002" y="11815"/>
                  </a:lnTo>
                  <a:cubicBezTo>
                    <a:pt x="8569" y="11815"/>
                    <a:pt x="9011" y="11343"/>
                    <a:pt x="9011" y="10807"/>
                  </a:cubicBezTo>
                  <a:lnTo>
                    <a:pt x="9011" y="7562"/>
                  </a:lnTo>
                  <a:lnTo>
                    <a:pt x="11499" y="5105"/>
                  </a:lnTo>
                  <a:cubicBezTo>
                    <a:pt x="11940" y="4664"/>
                    <a:pt x="11940" y="4034"/>
                    <a:pt x="11531" y="3593"/>
                  </a:cubicBezTo>
                  <a:lnTo>
                    <a:pt x="11058" y="3120"/>
                  </a:lnTo>
                  <a:cubicBezTo>
                    <a:pt x="10869" y="2931"/>
                    <a:pt x="10609" y="2836"/>
                    <a:pt x="10346" y="2836"/>
                  </a:cubicBezTo>
                  <a:cubicBezTo>
                    <a:pt x="10082" y="2836"/>
                    <a:pt x="9814" y="2931"/>
                    <a:pt x="9609" y="3120"/>
                  </a:cubicBezTo>
                  <a:lnTo>
                    <a:pt x="9105" y="3624"/>
                  </a:lnTo>
                  <a:lnTo>
                    <a:pt x="9105" y="2490"/>
                  </a:lnTo>
                  <a:cubicBezTo>
                    <a:pt x="9105" y="2427"/>
                    <a:pt x="9074" y="2332"/>
                    <a:pt x="8979" y="2269"/>
                  </a:cubicBezTo>
                  <a:lnTo>
                    <a:pt x="6900" y="127"/>
                  </a:lnTo>
                  <a:cubicBezTo>
                    <a:pt x="6805" y="64"/>
                    <a:pt x="6742" y="1"/>
                    <a:pt x="66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Imagen 1">
            <a:extLst>
              <a:ext uri="{FF2B5EF4-FFF2-40B4-BE49-F238E27FC236}">
                <a16:creationId xmlns:a16="http://schemas.microsoft.com/office/drawing/2014/main" id="{93D74865-072F-4D5A-8DB4-A573564D7522}"/>
              </a:ext>
            </a:extLst>
          </p:cNvPr>
          <p:cNvPicPr>
            <a:picLocks noChangeAspect="1"/>
          </p:cNvPicPr>
          <p:nvPr/>
        </p:nvPicPr>
        <p:blipFill>
          <a:blip r:embed="rId3"/>
          <a:stretch>
            <a:fillRect/>
          </a:stretch>
        </p:blipFill>
        <p:spPr>
          <a:xfrm>
            <a:off x="1876747" y="393987"/>
            <a:ext cx="3097036" cy="1798476"/>
          </a:xfrm>
          <a:prstGeom prst="rect">
            <a:avLst/>
          </a:prstGeom>
        </p:spPr>
      </p:pic>
      <p:sp>
        <p:nvSpPr>
          <p:cNvPr id="15" name="CuadroTexto 14">
            <a:extLst>
              <a:ext uri="{FF2B5EF4-FFF2-40B4-BE49-F238E27FC236}">
                <a16:creationId xmlns:a16="http://schemas.microsoft.com/office/drawing/2014/main" id="{6B9245A7-F3D1-442F-A81C-973E407E7B58}"/>
              </a:ext>
            </a:extLst>
          </p:cNvPr>
          <p:cNvSpPr txBox="1"/>
          <p:nvPr/>
        </p:nvSpPr>
        <p:spPr>
          <a:xfrm>
            <a:off x="1234198" y="6082090"/>
            <a:ext cx="4614333" cy="58477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altLang="en-US" sz="1600" b="1" i="0" u="none" strike="noStrike" kern="1200" cap="none" spc="0" normalizeH="0" baseline="0" noProof="0" dirty="0">
                <a:ln>
                  <a:noFill/>
                </a:ln>
                <a:effectLst/>
                <a:uLnTx/>
                <a:uFillTx/>
                <a:latin typeface="Calibri Light" panose="020F0302020204030204" pitchFamily="34" charset="0"/>
                <a:ea typeface="+mn-ea"/>
                <a:cs typeface="Calibri Light" panose="020F0302020204030204" pitchFamily="34" charset="0"/>
              </a:rPr>
              <a:t>Informe de Pasantías requerido para optar al Técnico Superior Universitario en Administración de  Empresa.</a:t>
            </a:r>
          </a:p>
        </p:txBody>
      </p:sp>
    </p:spTree>
    <p:extLst>
      <p:ext uri="{BB962C8B-B14F-4D97-AF65-F5344CB8AC3E}">
        <p14:creationId xmlns:p14="http://schemas.microsoft.com/office/powerpoint/2010/main" val="1255535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7A9D07E-3BC5-4689-8D0F-6BAAFDEEB864}"/>
              </a:ext>
            </a:extLst>
          </p:cNvPr>
          <p:cNvPicPr>
            <a:picLocks noChangeAspect="1"/>
          </p:cNvPicPr>
          <p:nvPr/>
        </p:nvPicPr>
        <p:blipFill>
          <a:blip r:embed="rId2"/>
          <a:stretch>
            <a:fillRect/>
          </a:stretch>
        </p:blipFill>
        <p:spPr>
          <a:xfrm>
            <a:off x="8842392" y="368453"/>
            <a:ext cx="3097036" cy="1798476"/>
          </a:xfrm>
          <a:prstGeom prst="rect">
            <a:avLst/>
          </a:prstGeom>
        </p:spPr>
      </p:pic>
      <p:sp>
        <p:nvSpPr>
          <p:cNvPr id="6" name="Elipse 5">
            <a:extLst>
              <a:ext uri="{FF2B5EF4-FFF2-40B4-BE49-F238E27FC236}">
                <a16:creationId xmlns:a16="http://schemas.microsoft.com/office/drawing/2014/main" id="{893CC4D5-726F-42F0-B7E1-210A1EFF832B}"/>
              </a:ext>
            </a:extLst>
          </p:cNvPr>
          <p:cNvSpPr/>
          <p:nvPr/>
        </p:nvSpPr>
        <p:spPr>
          <a:xfrm>
            <a:off x="2036618" y="886691"/>
            <a:ext cx="429491" cy="3602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s-VE"/>
          </a:p>
        </p:txBody>
      </p:sp>
      <p:sp>
        <p:nvSpPr>
          <p:cNvPr id="7" name="Elipse 6">
            <a:extLst>
              <a:ext uri="{FF2B5EF4-FFF2-40B4-BE49-F238E27FC236}">
                <a16:creationId xmlns:a16="http://schemas.microsoft.com/office/drawing/2014/main" id="{88825822-713D-47C0-80BC-B1184EA4F2B1}"/>
              </a:ext>
            </a:extLst>
          </p:cNvPr>
          <p:cNvSpPr/>
          <p:nvPr/>
        </p:nvSpPr>
        <p:spPr>
          <a:xfrm>
            <a:off x="1989767" y="4086577"/>
            <a:ext cx="429491" cy="3602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s-VE"/>
          </a:p>
        </p:txBody>
      </p:sp>
      <p:sp>
        <p:nvSpPr>
          <p:cNvPr id="8" name="Elipse 7">
            <a:extLst>
              <a:ext uri="{FF2B5EF4-FFF2-40B4-BE49-F238E27FC236}">
                <a16:creationId xmlns:a16="http://schemas.microsoft.com/office/drawing/2014/main" id="{0FC1408C-E66F-4EE2-B9D7-942002FA9161}"/>
              </a:ext>
            </a:extLst>
          </p:cNvPr>
          <p:cNvSpPr/>
          <p:nvPr/>
        </p:nvSpPr>
        <p:spPr>
          <a:xfrm>
            <a:off x="5500149" y="868096"/>
            <a:ext cx="429491" cy="3602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s-VE"/>
          </a:p>
        </p:txBody>
      </p:sp>
      <p:sp>
        <p:nvSpPr>
          <p:cNvPr id="9" name="Elipse 8">
            <a:extLst>
              <a:ext uri="{FF2B5EF4-FFF2-40B4-BE49-F238E27FC236}">
                <a16:creationId xmlns:a16="http://schemas.microsoft.com/office/drawing/2014/main" id="{EA69A43D-4D3A-4A79-A1BE-FD871AF3DBE9}"/>
              </a:ext>
            </a:extLst>
          </p:cNvPr>
          <p:cNvSpPr/>
          <p:nvPr/>
        </p:nvSpPr>
        <p:spPr>
          <a:xfrm>
            <a:off x="2010550" y="3248891"/>
            <a:ext cx="429491" cy="3602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s-VE"/>
          </a:p>
        </p:txBody>
      </p:sp>
      <p:sp>
        <p:nvSpPr>
          <p:cNvPr id="10" name="Elipse 9">
            <a:extLst>
              <a:ext uri="{FF2B5EF4-FFF2-40B4-BE49-F238E27FC236}">
                <a16:creationId xmlns:a16="http://schemas.microsoft.com/office/drawing/2014/main" id="{90214661-77F2-49A2-A5E9-938851C77559}"/>
              </a:ext>
            </a:extLst>
          </p:cNvPr>
          <p:cNvSpPr/>
          <p:nvPr/>
        </p:nvSpPr>
        <p:spPr>
          <a:xfrm>
            <a:off x="2036617" y="1696202"/>
            <a:ext cx="429491" cy="3602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s-VE"/>
          </a:p>
        </p:txBody>
      </p:sp>
      <p:sp>
        <p:nvSpPr>
          <p:cNvPr id="11" name="Elipse 10">
            <a:extLst>
              <a:ext uri="{FF2B5EF4-FFF2-40B4-BE49-F238E27FC236}">
                <a16:creationId xmlns:a16="http://schemas.microsoft.com/office/drawing/2014/main" id="{0D1AFFF7-B3C2-46C7-A6CE-877E7B6FDFEE}"/>
              </a:ext>
            </a:extLst>
          </p:cNvPr>
          <p:cNvSpPr/>
          <p:nvPr/>
        </p:nvSpPr>
        <p:spPr>
          <a:xfrm>
            <a:off x="2010551" y="2421054"/>
            <a:ext cx="429491" cy="3602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s-VE"/>
          </a:p>
        </p:txBody>
      </p:sp>
      <p:sp>
        <p:nvSpPr>
          <p:cNvPr id="14" name="CuadroTexto 13">
            <a:extLst>
              <a:ext uri="{FF2B5EF4-FFF2-40B4-BE49-F238E27FC236}">
                <a16:creationId xmlns:a16="http://schemas.microsoft.com/office/drawing/2014/main" id="{B074FB3C-B636-4AFB-BE32-6877C0BFC5CE}"/>
              </a:ext>
            </a:extLst>
          </p:cNvPr>
          <p:cNvSpPr txBox="1"/>
          <p:nvPr/>
        </p:nvSpPr>
        <p:spPr>
          <a:xfrm>
            <a:off x="2507671" y="858982"/>
            <a:ext cx="2660074" cy="369332"/>
          </a:xfrm>
          <a:prstGeom prst="rect">
            <a:avLst/>
          </a:prstGeom>
          <a:noFill/>
        </p:spPr>
        <p:txBody>
          <a:bodyPr wrap="square" rtlCol="0">
            <a:spAutoFit/>
          </a:bodyPr>
          <a:lstStyle/>
          <a:p>
            <a:r>
              <a:rPr lang="es-ES" b="1" dirty="0"/>
              <a:t>Apertura de Cuentas</a:t>
            </a:r>
            <a:endParaRPr lang="es-VE" b="1" dirty="0"/>
          </a:p>
        </p:txBody>
      </p:sp>
      <p:sp>
        <p:nvSpPr>
          <p:cNvPr id="15" name="CuadroTexto 14">
            <a:extLst>
              <a:ext uri="{FF2B5EF4-FFF2-40B4-BE49-F238E27FC236}">
                <a16:creationId xmlns:a16="http://schemas.microsoft.com/office/drawing/2014/main" id="{59005FDA-2EA1-4B61-AF41-4ACDABE5FC1E}"/>
              </a:ext>
            </a:extLst>
          </p:cNvPr>
          <p:cNvSpPr txBox="1"/>
          <p:nvPr/>
        </p:nvSpPr>
        <p:spPr>
          <a:xfrm>
            <a:off x="2576943" y="1707205"/>
            <a:ext cx="2258291" cy="369332"/>
          </a:xfrm>
          <a:prstGeom prst="rect">
            <a:avLst/>
          </a:prstGeom>
          <a:noFill/>
        </p:spPr>
        <p:txBody>
          <a:bodyPr wrap="square" rtlCol="0">
            <a:spAutoFit/>
          </a:bodyPr>
          <a:lstStyle/>
          <a:p>
            <a:r>
              <a:rPr lang="es-ES" b="1" dirty="0"/>
              <a:t>Archivar</a:t>
            </a:r>
            <a:endParaRPr lang="es-VE" b="1" dirty="0"/>
          </a:p>
        </p:txBody>
      </p:sp>
      <p:sp>
        <p:nvSpPr>
          <p:cNvPr id="16" name="CuadroTexto 15">
            <a:extLst>
              <a:ext uri="{FF2B5EF4-FFF2-40B4-BE49-F238E27FC236}">
                <a16:creationId xmlns:a16="http://schemas.microsoft.com/office/drawing/2014/main" id="{F75057E1-47A9-4036-8F58-7722B4C55557}"/>
              </a:ext>
            </a:extLst>
          </p:cNvPr>
          <p:cNvSpPr txBox="1"/>
          <p:nvPr/>
        </p:nvSpPr>
        <p:spPr>
          <a:xfrm>
            <a:off x="2590799" y="2408013"/>
            <a:ext cx="955966" cy="369332"/>
          </a:xfrm>
          <a:prstGeom prst="rect">
            <a:avLst/>
          </a:prstGeom>
          <a:noFill/>
        </p:spPr>
        <p:txBody>
          <a:bodyPr wrap="square" rtlCol="0">
            <a:spAutoFit/>
          </a:bodyPr>
          <a:lstStyle/>
          <a:p>
            <a:r>
              <a:rPr lang="es-ES" b="1" dirty="0"/>
              <a:t>CRM</a:t>
            </a:r>
            <a:endParaRPr lang="es-VE" b="1" dirty="0"/>
          </a:p>
        </p:txBody>
      </p:sp>
      <p:sp>
        <p:nvSpPr>
          <p:cNvPr id="18" name="CuadroTexto 17">
            <a:extLst>
              <a:ext uri="{FF2B5EF4-FFF2-40B4-BE49-F238E27FC236}">
                <a16:creationId xmlns:a16="http://schemas.microsoft.com/office/drawing/2014/main" id="{58146B07-ADE1-47B1-BF9A-D9D3AE630273}"/>
              </a:ext>
            </a:extLst>
          </p:cNvPr>
          <p:cNvSpPr txBox="1"/>
          <p:nvPr/>
        </p:nvSpPr>
        <p:spPr>
          <a:xfrm>
            <a:off x="2507671" y="3229163"/>
            <a:ext cx="2660073" cy="646331"/>
          </a:xfrm>
          <a:prstGeom prst="rect">
            <a:avLst/>
          </a:prstGeom>
          <a:noFill/>
        </p:spPr>
        <p:txBody>
          <a:bodyPr wrap="square">
            <a:spAutoFit/>
          </a:bodyPr>
          <a:lstStyle/>
          <a:p>
            <a:r>
              <a:rPr lang="es-ES" sz="1800" b="1" dirty="0">
                <a:effectLst/>
                <a:latin typeface="Times New Roman" panose="02020603050405020304" pitchFamily="18" charset="0"/>
                <a:ea typeface="Calibri" panose="020F0502020204030204" pitchFamily="34" charset="0"/>
              </a:rPr>
              <a:t>Entrega de Tarjetas de Débito</a:t>
            </a:r>
            <a:endParaRPr lang="es-VE" dirty="0"/>
          </a:p>
        </p:txBody>
      </p:sp>
      <p:sp>
        <p:nvSpPr>
          <p:cNvPr id="22" name="CuadroTexto 21">
            <a:extLst>
              <a:ext uri="{FF2B5EF4-FFF2-40B4-BE49-F238E27FC236}">
                <a16:creationId xmlns:a16="http://schemas.microsoft.com/office/drawing/2014/main" id="{C7BFE036-7CD9-44E5-BE85-701D61CE78F3}"/>
              </a:ext>
            </a:extLst>
          </p:cNvPr>
          <p:cNvSpPr txBox="1"/>
          <p:nvPr/>
        </p:nvSpPr>
        <p:spPr>
          <a:xfrm>
            <a:off x="2507671" y="4004146"/>
            <a:ext cx="2807038" cy="646331"/>
          </a:xfrm>
          <a:prstGeom prst="rect">
            <a:avLst/>
          </a:prstGeom>
          <a:noFill/>
        </p:spPr>
        <p:txBody>
          <a:bodyPr wrap="square">
            <a:spAutoFit/>
          </a:bodyPr>
          <a:lstStyle/>
          <a:p>
            <a:r>
              <a:rPr lang="es-ES" sz="1800" b="1" dirty="0">
                <a:effectLst/>
                <a:latin typeface="Times New Roman" panose="02020603050405020304" pitchFamily="18" charset="0"/>
                <a:ea typeface="Calibri" panose="020F0502020204030204" pitchFamily="34" charset="0"/>
              </a:rPr>
              <a:t>Generar Solicitudes de Punto de Venta</a:t>
            </a:r>
            <a:endParaRPr lang="es-VE" dirty="0"/>
          </a:p>
        </p:txBody>
      </p:sp>
      <p:pic>
        <p:nvPicPr>
          <p:cNvPr id="23" name="Imagen 22">
            <a:extLst>
              <a:ext uri="{FF2B5EF4-FFF2-40B4-BE49-F238E27FC236}">
                <a16:creationId xmlns:a16="http://schemas.microsoft.com/office/drawing/2014/main" id="{7190C6F8-8113-4B73-A9C3-1FAECFDCAEBD}"/>
              </a:ext>
            </a:extLst>
          </p:cNvPr>
          <p:cNvPicPr>
            <a:picLocks noChangeAspect="1"/>
          </p:cNvPicPr>
          <p:nvPr/>
        </p:nvPicPr>
        <p:blipFill>
          <a:blip r:embed="rId3"/>
          <a:stretch>
            <a:fillRect/>
          </a:stretch>
        </p:blipFill>
        <p:spPr>
          <a:xfrm>
            <a:off x="5515807" y="1690367"/>
            <a:ext cx="445047" cy="371888"/>
          </a:xfrm>
          <a:prstGeom prst="rect">
            <a:avLst/>
          </a:prstGeom>
        </p:spPr>
      </p:pic>
      <p:pic>
        <p:nvPicPr>
          <p:cNvPr id="24" name="Imagen 23">
            <a:extLst>
              <a:ext uri="{FF2B5EF4-FFF2-40B4-BE49-F238E27FC236}">
                <a16:creationId xmlns:a16="http://schemas.microsoft.com/office/drawing/2014/main" id="{FE764BE4-BD2C-48AD-8650-E616A244F2A2}"/>
              </a:ext>
            </a:extLst>
          </p:cNvPr>
          <p:cNvPicPr>
            <a:picLocks noChangeAspect="1"/>
          </p:cNvPicPr>
          <p:nvPr/>
        </p:nvPicPr>
        <p:blipFill>
          <a:blip r:embed="rId3"/>
          <a:stretch>
            <a:fillRect/>
          </a:stretch>
        </p:blipFill>
        <p:spPr>
          <a:xfrm>
            <a:off x="5515807" y="2543471"/>
            <a:ext cx="445047" cy="371888"/>
          </a:xfrm>
          <a:prstGeom prst="rect">
            <a:avLst/>
          </a:prstGeom>
        </p:spPr>
      </p:pic>
      <p:sp>
        <p:nvSpPr>
          <p:cNvPr id="28" name="CuadroTexto 27">
            <a:extLst>
              <a:ext uri="{FF2B5EF4-FFF2-40B4-BE49-F238E27FC236}">
                <a16:creationId xmlns:a16="http://schemas.microsoft.com/office/drawing/2014/main" id="{9B2BE628-D088-4E43-9F35-92D8907CE6FF}"/>
              </a:ext>
            </a:extLst>
          </p:cNvPr>
          <p:cNvSpPr txBox="1"/>
          <p:nvPr/>
        </p:nvSpPr>
        <p:spPr>
          <a:xfrm>
            <a:off x="6096000" y="851869"/>
            <a:ext cx="2258291" cy="369332"/>
          </a:xfrm>
          <a:prstGeom prst="rect">
            <a:avLst/>
          </a:prstGeom>
          <a:noFill/>
        </p:spPr>
        <p:txBody>
          <a:bodyPr wrap="square">
            <a:spAutoFit/>
          </a:bodyPr>
          <a:lstStyle/>
          <a:p>
            <a:r>
              <a:rPr lang="es-ES" sz="1800" b="1" dirty="0">
                <a:effectLst/>
                <a:latin typeface="Times New Roman" panose="02020603050405020304" pitchFamily="18" charset="0"/>
                <a:ea typeface="Calibri" panose="020F0502020204030204" pitchFamily="34" charset="0"/>
              </a:rPr>
              <a:t>Digitalizar las Firma</a:t>
            </a:r>
            <a:endParaRPr lang="es-VE" dirty="0"/>
          </a:p>
        </p:txBody>
      </p:sp>
      <p:sp>
        <p:nvSpPr>
          <p:cNvPr id="30" name="CuadroTexto 29">
            <a:extLst>
              <a:ext uri="{FF2B5EF4-FFF2-40B4-BE49-F238E27FC236}">
                <a16:creationId xmlns:a16="http://schemas.microsoft.com/office/drawing/2014/main" id="{2818F9AB-95E5-4F13-B2B8-1C5519EA6D4B}"/>
              </a:ext>
            </a:extLst>
          </p:cNvPr>
          <p:cNvSpPr txBox="1"/>
          <p:nvPr/>
        </p:nvSpPr>
        <p:spPr>
          <a:xfrm>
            <a:off x="6047508" y="1691645"/>
            <a:ext cx="2119745" cy="369332"/>
          </a:xfrm>
          <a:prstGeom prst="rect">
            <a:avLst/>
          </a:prstGeom>
          <a:noFill/>
        </p:spPr>
        <p:txBody>
          <a:bodyPr wrap="square">
            <a:spAutoFit/>
          </a:bodyPr>
          <a:lstStyle/>
          <a:p>
            <a:r>
              <a:rPr lang="es-ES" sz="1800" b="1" dirty="0">
                <a:effectLst/>
                <a:latin typeface="Times New Roman" panose="02020603050405020304" pitchFamily="18" charset="0"/>
                <a:ea typeface="Calibri" panose="020F0502020204030204" pitchFamily="34" charset="0"/>
              </a:rPr>
              <a:t>Atención al Cliente</a:t>
            </a:r>
            <a:endParaRPr lang="es-VE" dirty="0"/>
          </a:p>
        </p:txBody>
      </p:sp>
      <p:sp>
        <p:nvSpPr>
          <p:cNvPr id="32" name="CuadroTexto 31">
            <a:extLst>
              <a:ext uri="{FF2B5EF4-FFF2-40B4-BE49-F238E27FC236}">
                <a16:creationId xmlns:a16="http://schemas.microsoft.com/office/drawing/2014/main" id="{5D403938-395E-4CEE-BC4F-38C9D36DC026}"/>
              </a:ext>
            </a:extLst>
          </p:cNvPr>
          <p:cNvSpPr txBox="1"/>
          <p:nvPr/>
        </p:nvSpPr>
        <p:spPr>
          <a:xfrm>
            <a:off x="6047567" y="2512040"/>
            <a:ext cx="1149925" cy="369332"/>
          </a:xfrm>
          <a:prstGeom prst="rect">
            <a:avLst/>
          </a:prstGeom>
          <a:noFill/>
        </p:spPr>
        <p:txBody>
          <a:bodyPr wrap="square">
            <a:spAutoFit/>
          </a:bodyPr>
          <a:lstStyle/>
          <a:p>
            <a:r>
              <a:rPr lang="es-ES" sz="1800" b="1" dirty="0">
                <a:solidFill>
                  <a:srgbClr val="000000"/>
                </a:solidFill>
                <a:effectLst/>
                <a:latin typeface="Times New Roman" panose="02020603050405020304" pitchFamily="18" charset="0"/>
                <a:ea typeface="Calibri" panose="020F0502020204030204" pitchFamily="34" charset="0"/>
              </a:rPr>
              <a:t>Menudeo</a:t>
            </a:r>
            <a:endParaRPr lang="es-VE" dirty="0"/>
          </a:p>
        </p:txBody>
      </p:sp>
      <p:pic>
        <p:nvPicPr>
          <p:cNvPr id="33" name="Imagen 32">
            <a:extLst>
              <a:ext uri="{FF2B5EF4-FFF2-40B4-BE49-F238E27FC236}">
                <a16:creationId xmlns:a16="http://schemas.microsoft.com/office/drawing/2014/main" id="{85D2220B-76C2-46EC-AA72-4DF5B4ED9218}"/>
              </a:ext>
            </a:extLst>
          </p:cNvPr>
          <p:cNvPicPr>
            <a:picLocks noChangeAspect="1"/>
          </p:cNvPicPr>
          <p:nvPr/>
        </p:nvPicPr>
        <p:blipFill>
          <a:blip r:embed="rId3"/>
          <a:stretch>
            <a:fillRect/>
          </a:stretch>
        </p:blipFill>
        <p:spPr>
          <a:xfrm>
            <a:off x="5484593" y="3408261"/>
            <a:ext cx="445047" cy="371888"/>
          </a:xfrm>
          <a:prstGeom prst="rect">
            <a:avLst/>
          </a:prstGeom>
        </p:spPr>
      </p:pic>
      <p:sp>
        <p:nvSpPr>
          <p:cNvPr id="35" name="CuadroTexto 34">
            <a:extLst>
              <a:ext uri="{FF2B5EF4-FFF2-40B4-BE49-F238E27FC236}">
                <a16:creationId xmlns:a16="http://schemas.microsoft.com/office/drawing/2014/main" id="{08B9D2E1-651B-4967-8FD9-9947EB6820A1}"/>
              </a:ext>
            </a:extLst>
          </p:cNvPr>
          <p:cNvSpPr txBox="1"/>
          <p:nvPr/>
        </p:nvSpPr>
        <p:spPr>
          <a:xfrm>
            <a:off x="6047508" y="3424443"/>
            <a:ext cx="3503609" cy="369332"/>
          </a:xfrm>
          <a:prstGeom prst="rect">
            <a:avLst/>
          </a:prstGeom>
          <a:noFill/>
        </p:spPr>
        <p:txBody>
          <a:bodyPr wrap="square">
            <a:spAutoFit/>
          </a:bodyPr>
          <a:lstStyle/>
          <a:p>
            <a:r>
              <a:rPr lang="es-ES" sz="1800" b="1" dirty="0">
                <a:solidFill>
                  <a:srgbClr val="000000"/>
                </a:solidFill>
                <a:effectLst/>
                <a:latin typeface="Times New Roman" panose="02020603050405020304" pitchFamily="18" charset="0"/>
                <a:ea typeface="Calibri" panose="020F0502020204030204" pitchFamily="34" charset="0"/>
              </a:rPr>
              <a:t>Referimientos a Banesco Panamá</a:t>
            </a:r>
            <a:endParaRPr lang="es-VE" dirty="0"/>
          </a:p>
        </p:txBody>
      </p:sp>
      <p:sp>
        <p:nvSpPr>
          <p:cNvPr id="37" name="CuadroTexto 36">
            <a:extLst>
              <a:ext uri="{FF2B5EF4-FFF2-40B4-BE49-F238E27FC236}">
                <a16:creationId xmlns:a16="http://schemas.microsoft.com/office/drawing/2014/main" id="{8C779363-1691-4C23-8C5D-D3F03E1E2340}"/>
              </a:ext>
            </a:extLst>
          </p:cNvPr>
          <p:cNvSpPr txBox="1"/>
          <p:nvPr/>
        </p:nvSpPr>
        <p:spPr>
          <a:xfrm>
            <a:off x="2597725" y="5028120"/>
            <a:ext cx="1607127" cy="369332"/>
          </a:xfrm>
          <a:prstGeom prst="rect">
            <a:avLst/>
          </a:prstGeom>
          <a:noFill/>
        </p:spPr>
        <p:txBody>
          <a:bodyPr wrap="square">
            <a:spAutoFit/>
          </a:bodyPr>
          <a:lstStyle/>
          <a:p>
            <a:r>
              <a:rPr lang="es-ES" sz="1800" b="1" dirty="0">
                <a:solidFill>
                  <a:srgbClr val="000000"/>
                </a:solidFill>
                <a:effectLst/>
                <a:latin typeface="Times New Roman" panose="02020603050405020304" pitchFamily="18" charset="0"/>
                <a:ea typeface="Calibri" panose="020F0502020204030204" pitchFamily="34" charset="0"/>
              </a:rPr>
              <a:t>Enviar Valija</a:t>
            </a:r>
            <a:endParaRPr lang="es-VE" dirty="0"/>
          </a:p>
        </p:txBody>
      </p:sp>
      <p:pic>
        <p:nvPicPr>
          <p:cNvPr id="38" name="Imagen 37">
            <a:extLst>
              <a:ext uri="{FF2B5EF4-FFF2-40B4-BE49-F238E27FC236}">
                <a16:creationId xmlns:a16="http://schemas.microsoft.com/office/drawing/2014/main" id="{158C9CE8-22A8-49A9-9BC4-6EAB07DEC525}"/>
              </a:ext>
            </a:extLst>
          </p:cNvPr>
          <p:cNvPicPr>
            <a:picLocks noChangeAspect="1"/>
          </p:cNvPicPr>
          <p:nvPr/>
        </p:nvPicPr>
        <p:blipFill>
          <a:blip r:embed="rId3"/>
          <a:stretch>
            <a:fillRect/>
          </a:stretch>
        </p:blipFill>
        <p:spPr>
          <a:xfrm>
            <a:off x="2010550" y="5021148"/>
            <a:ext cx="445047" cy="371888"/>
          </a:xfrm>
          <a:prstGeom prst="rect">
            <a:avLst/>
          </a:prstGeom>
        </p:spPr>
      </p:pic>
      <p:pic>
        <p:nvPicPr>
          <p:cNvPr id="39" name="Imagen 38">
            <a:extLst>
              <a:ext uri="{FF2B5EF4-FFF2-40B4-BE49-F238E27FC236}">
                <a16:creationId xmlns:a16="http://schemas.microsoft.com/office/drawing/2014/main" id="{0C65BD88-7B7B-4795-968B-557AEE8FC9C2}"/>
              </a:ext>
            </a:extLst>
          </p:cNvPr>
          <p:cNvPicPr>
            <a:picLocks noChangeAspect="1"/>
          </p:cNvPicPr>
          <p:nvPr/>
        </p:nvPicPr>
        <p:blipFill>
          <a:blip r:embed="rId3"/>
          <a:stretch>
            <a:fillRect/>
          </a:stretch>
        </p:blipFill>
        <p:spPr>
          <a:xfrm>
            <a:off x="5449082" y="4273051"/>
            <a:ext cx="445047" cy="371888"/>
          </a:xfrm>
          <a:prstGeom prst="rect">
            <a:avLst/>
          </a:prstGeom>
        </p:spPr>
      </p:pic>
      <p:sp>
        <p:nvSpPr>
          <p:cNvPr id="43" name="CuadroTexto 42">
            <a:extLst>
              <a:ext uri="{FF2B5EF4-FFF2-40B4-BE49-F238E27FC236}">
                <a16:creationId xmlns:a16="http://schemas.microsoft.com/office/drawing/2014/main" id="{4FF6E854-611F-42B5-842F-99D59ED2C6FF}"/>
              </a:ext>
            </a:extLst>
          </p:cNvPr>
          <p:cNvSpPr txBox="1"/>
          <p:nvPr/>
        </p:nvSpPr>
        <p:spPr>
          <a:xfrm>
            <a:off x="5929640" y="4316687"/>
            <a:ext cx="2660073" cy="369332"/>
          </a:xfrm>
          <a:prstGeom prst="rect">
            <a:avLst/>
          </a:prstGeom>
          <a:noFill/>
        </p:spPr>
        <p:txBody>
          <a:bodyPr wrap="square">
            <a:spAutoFit/>
          </a:bodyPr>
          <a:lstStyle/>
          <a:p>
            <a:r>
              <a:rPr lang="es-ES" sz="1800" b="1" dirty="0">
                <a:solidFill>
                  <a:srgbClr val="000000"/>
                </a:solidFill>
                <a:effectLst/>
                <a:latin typeface="Times New Roman" panose="02020603050405020304" pitchFamily="18" charset="0"/>
                <a:ea typeface="Calibri" panose="020F0502020204030204" pitchFamily="34" charset="0"/>
              </a:rPr>
              <a:t>Cargar Seguros Banesco</a:t>
            </a:r>
            <a:endParaRPr lang="es-VE" dirty="0"/>
          </a:p>
        </p:txBody>
      </p:sp>
      <p:pic>
        <p:nvPicPr>
          <p:cNvPr id="44" name="Imagen 43">
            <a:extLst>
              <a:ext uri="{FF2B5EF4-FFF2-40B4-BE49-F238E27FC236}">
                <a16:creationId xmlns:a16="http://schemas.microsoft.com/office/drawing/2014/main" id="{2549F971-60FF-43DA-8EDA-0F9EA0B25F16}"/>
              </a:ext>
            </a:extLst>
          </p:cNvPr>
          <p:cNvPicPr>
            <a:picLocks noChangeAspect="1"/>
          </p:cNvPicPr>
          <p:nvPr/>
        </p:nvPicPr>
        <p:blipFill>
          <a:blip r:embed="rId3"/>
          <a:stretch>
            <a:fillRect/>
          </a:stretch>
        </p:blipFill>
        <p:spPr>
          <a:xfrm>
            <a:off x="5449082" y="5021148"/>
            <a:ext cx="445047" cy="371888"/>
          </a:xfrm>
          <a:prstGeom prst="rect">
            <a:avLst/>
          </a:prstGeom>
        </p:spPr>
      </p:pic>
      <p:sp>
        <p:nvSpPr>
          <p:cNvPr id="46" name="CuadroTexto 45">
            <a:extLst>
              <a:ext uri="{FF2B5EF4-FFF2-40B4-BE49-F238E27FC236}">
                <a16:creationId xmlns:a16="http://schemas.microsoft.com/office/drawing/2014/main" id="{8A7E8AC5-C830-4D97-9B40-241F9D2F9E58}"/>
              </a:ext>
            </a:extLst>
          </p:cNvPr>
          <p:cNvSpPr txBox="1"/>
          <p:nvPr/>
        </p:nvSpPr>
        <p:spPr>
          <a:xfrm>
            <a:off x="6047508" y="4972575"/>
            <a:ext cx="990601" cy="369332"/>
          </a:xfrm>
          <a:prstGeom prst="rect">
            <a:avLst/>
          </a:prstGeom>
          <a:noFill/>
        </p:spPr>
        <p:txBody>
          <a:bodyPr wrap="square">
            <a:spAutoFit/>
          </a:bodyPr>
          <a:lstStyle/>
          <a:p>
            <a:r>
              <a:rPr lang="es-ES" sz="1800" b="1" dirty="0">
                <a:solidFill>
                  <a:srgbClr val="262626"/>
                </a:solidFill>
                <a:effectLst/>
                <a:latin typeface="Times New Roman" panose="02020603050405020304" pitchFamily="18" charset="0"/>
                <a:ea typeface="Times New Roman" panose="02020603050405020304" pitchFamily="18" charset="0"/>
              </a:rPr>
              <a:t>Visitas</a:t>
            </a:r>
            <a:endParaRPr lang="es-VE" dirty="0"/>
          </a:p>
        </p:txBody>
      </p:sp>
    </p:spTree>
    <p:extLst>
      <p:ext uri="{BB962C8B-B14F-4D97-AF65-F5344CB8AC3E}">
        <p14:creationId xmlns:p14="http://schemas.microsoft.com/office/powerpoint/2010/main" val="3068106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 de texto 1">
            <a:extLst>
              <a:ext uri="{FF2B5EF4-FFF2-40B4-BE49-F238E27FC236}">
                <a16:creationId xmlns:a16="http://schemas.microsoft.com/office/drawing/2014/main" id="{4D33A628-F201-4133-94E2-E462BE210DD2}"/>
              </a:ext>
            </a:extLst>
          </p:cNvPr>
          <p:cNvSpPr txBox="1"/>
          <p:nvPr/>
        </p:nvSpPr>
        <p:spPr>
          <a:xfrm>
            <a:off x="1248329" y="2682705"/>
            <a:ext cx="5264917" cy="1908215"/>
          </a:xfrm>
          <a:prstGeom prst="rect">
            <a:avLst/>
          </a:prstGeom>
          <a:noFill/>
        </p:spPr>
        <p:txBody>
          <a:bodyPr wrap="square" rtlCol="0">
            <a:spAutoFit/>
          </a:bodyPr>
          <a:lstStyle/>
          <a:p>
            <a:pPr algn="just" defTabSz="914400"/>
            <a:r>
              <a:rPr lang="es-ES" altLang="en-US" sz="2200" b="1" dirty="0">
                <a:latin typeface="Calibri Light" panose="020F0302020204030204" pitchFamily="34" charset="0"/>
                <a:cs typeface="Calibri Light" panose="020F0302020204030204" pitchFamily="34" charset="0"/>
              </a:rPr>
              <a:t>CAPÍTULO V</a:t>
            </a:r>
          </a:p>
          <a:p>
            <a:pPr defTabSz="914400"/>
            <a:r>
              <a:rPr lang="es-ES" altLang="en-US" sz="4800" b="1" dirty="0">
                <a:latin typeface="Calibri Light" panose="020F0302020204030204" pitchFamily="34" charset="0"/>
                <a:cs typeface="Calibri Light" panose="020F0302020204030204" pitchFamily="34" charset="0"/>
              </a:rPr>
              <a:t>CONCLUSIONES Y RECOMENDACIONES</a:t>
            </a:r>
          </a:p>
        </p:txBody>
      </p:sp>
      <p:pic>
        <p:nvPicPr>
          <p:cNvPr id="6" name="Imagen 5">
            <a:extLst>
              <a:ext uri="{FF2B5EF4-FFF2-40B4-BE49-F238E27FC236}">
                <a16:creationId xmlns:a16="http://schemas.microsoft.com/office/drawing/2014/main" id="{DA542537-CEE9-4159-9877-F37935FF58F9}"/>
              </a:ext>
            </a:extLst>
          </p:cNvPr>
          <p:cNvPicPr>
            <a:picLocks noChangeAspect="1"/>
          </p:cNvPicPr>
          <p:nvPr/>
        </p:nvPicPr>
        <p:blipFill>
          <a:blip r:embed="rId2"/>
          <a:stretch>
            <a:fillRect/>
          </a:stretch>
        </p:blipFill>
        <p:spPr>
          <a:xfrm>
            <a:off x="1762718" y="479289"/>
            <a:ext cx="3097036" cy="1798476"/>
          </a:xfrm>
          <a:prstGeom prst="rect">
            <a:avLst/>
          </a:prstGeom>
        </p:spPr>
      </p:pic>
      <p:sp>
        <p:nvSpPr>
          <p:cNvPr id="7" name="CuadroTexto 6">
            <a:extLst>
              <a:ext uri="{FF2B5EF4-FFF2-40B4-BE49-F238E27FC236}">
                <a16:creationId xmlns:a16="http://schemas.microsoft.com/office/drawing/2014/main" id="{D7209346-C7B9-44AE-A794-4A48CB7D1212}"/>
              </a:ext>
            </a:extLst>
          </p:cNvPr>
          <p:cNvSpPr txBox="1"/>
          <p:nvPr/>
        </p:nvSpPr>
        <p:spPr>
          <a:xfrm>
            <a:off x="1234198" y="6082090"/>
            <a:ext cx="4910839" cy="58477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altLang="en-US" sz="1600" b="1" i="0" u="none" strike="noStrike" kern="1200" cap="none" spc="0" normalizeH="0" baseline="0" noProof="0" dirty="0">
                <a:ln>
                  <a:noFill/>
                </a:ln>
                <a:effectLst/>
                <a:uLnTx/>
                <a:uFillTx/>
                <a:latin typeface="Calibri Light" panose="020F0302020204030204" pitchFamily="34" charset="0"/>
                <a:ea typeface="+mn-ea"/>
                <a:cs typeface="Calibri Light" panose="020F0302020204030204" pitchFamily="34" charset="0"/>
              </a:rPr>
              <a:t>Informe de Pasantías requerido para optar al Técnico Superior Universitario en Administración de  Empresa.</a:t>
            </a:r>
          </a:p>
        </p:txBody>
      </p:sp>
      <p:pic>
        <p:nvPicPr>
          <p:cNvPr id="8" name="Imagen 7">
            <a:extLst>
              <a:ext uri="{FF2B5EF4-FFF2-40B4-BE49-F238E27FC236}">
                <a16:creationId xmlns:a16="http://schemas.microsoft.com/office/drawing/2014/main" id="{53611484-0AFE-427E-9B1A-8BA8A57487B8}"/>
              </a:ext>
            </a:extLst>
          </p:cNvPr>
          <p:cNvPicPr>
            <a:picLocks noChangeAspect="1"/>
          </p:cNvPicPr>
          <p:nvPr/>
        </p:nvPicPr>
        <p:blipFill>
          <a:blip r:embed="rId3">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5823662" y="2747211"/>
            <a:ext cx="884398" cy="889601"/>
          </a:xfrm>
          <a:prstGeom prst="rect">
            <a:avLst/>
          </a:prstGeom>
          <a:ln>
            <a:solidFill>
              <a:schemeClr val="tx1"/>
            </a:solidFill>
          </a:ln>
        </p:spPr>
      </p:pic>
      <p:pic>
        <p:nvPicPr>
          <p:cNvPr id="6146" name="Picture 2" descr="CONCLUSIONES Y RECOMENDACIONES | PROYECTOS EDUCATIVOS CR">
            <a:extLst>
              <a:ext uri="{FF2B5EF4-FFF2-40B4-BE49-F238E27FC236}">
                <a16:creationId xmlns:a16="http://schemas.microsoft.com/office/drawing/2014/main" id="{0E107BC3-8EEF-4A13-BF69-DA5BA8BF0E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7083" y="0"/>
            <a:ext cx="526491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231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4D70E8C4-02C4-401B-B6E5-F55C947B53C6}"/>
              </a:ext>
            </a:extLst>
          </p:cNvPr>
          <p:cNvSpPr txBox="1"/>
          <p:nvPr/>
        </p:nvSpPr>
        <p:spPr>
          <a:xfrm>
            <a:off x="2272144" y="1890169"/>
            <a:ext cx="6414655" cy="3000821"/>
          </a:xfrm>
          <a:prstGeom prst="rect">
            <a:avLst/>
          </a:prstGeom>
          <a:noFill/>
        </p:spPr>
        <p:txBody>
          <a:bodyPr wrap="square">
            <a:spAutoFit/>
          </a:bodyPr>
          <a:lstStyle/>
          <a:p>
            <a:pPr marL="349250" marR="71755" indent="180340" algn="just">
              <a:lnSpc>
                <a:spcPct val="150000"/>
              </a:lnSpc>
              <a:spcAft>
                <a:spcPts val="0"/>
              </a:spcAft>
            </a:pPr>
            <a:r>
              <a:rPr lang="es-ES" dirty="0">
                <a:latin typeface="Times New Roman" panose="02020603050405020304" pitchFamily="18" charset="0"/>
                <a:ea typeface="Microsoft Sans Serif" panose="020B0604020202020204" pitchFamily="34" charset="0"/>
              </a:rPr>
              <a:t>S</a:t>
            </a:r>
            <a:r>
              <a:rPr lang="es-ES" sz="1800" dirty="0">
                <a:effectLst/>
                <a:latin typeface="Times New Roman" panose="02020603050405020304" pitchFamily="18" charset="0"/>
                <a:ea typeface="Microsoft Sans Serif" panose="020B0604020202020204" pitchFamily="34" charset="0"/>
              </a:rPr>
              <a:t>e cumplieron de forma total y satisfactoria los objetivos</a:t>
            </a:r>
            <a:r>
              <a:rPr lang="es-ES" sz="1800" spc="5"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propuestos</a:t>
            </a:r>
            <a:r>
              <a:rPr lang="es-ES" sz="1800" spc="-80"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dentro</a:t>
            </a:r>
            <a:r>
              <a:rPr lang="es-ES" sz="1800" spc="-55"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la</a:t>
            </a:r>
            <a:r>
              <a:rPr lang="es-ES" sz="1800" spc="-75" dirty="0">
                <a:effectLst/>
                <a:latin typeface="Times New Roman" panose="02020603050405020304" pitchFamily="18" charset="0"/>
                <a:ea typeface="Microsoft Sans Serif" panose="020B0604020202020204" pitchFamily="34" charset="0"/>
              </a:rPr>
              <a:t> Gerencia de Red de Sucursales, agencia 0331 Parque Cristal, en Banesco Banco Universal, C.A. </a:t>
            </a:r>
            <a:r>
              <a:rPr lang="es-ES" sz="1800" dirty="0">
                <a:effectLst/>
                <a:latin typeface="Times New Roman" panose="02020603050405020304" pitchFamily="18" charset="0"/>
                <a:ea typeface="Microsoft Sans Serif" panose="020B0604020202020204" pitchFamily="34" charset="0"/>
              </a:rPr>
              <a:t> este entrenamiento profesional fue el conjunto de teorías y</a:t>
            </a:r>
            <a:r>
              <a:rPr lang="es-ES" sz="1800" spc="5"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práctica, lo cual permitió implementar soluciones a situaciones que restaban</a:t>
            </a:r>
            <a:r>
              <a:rPr lang="es-ES" sz="1800" spc="5"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valor</a:t>
            </a:r>
            <a:r>
              <a:rPr lang="es-ES" sz="1800" spc="5"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en</a:t>
            </a:r>
            <a:r>
              <a:rPr lang="es-ES" sz="1800" spc="10"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las</a:t>
            </a:r>
            <a:r>
              <a:rPr lang="es-ES" sz="1800" spc="10"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diferentes Áreas</a:t>
            </a:r>
            <a:r>
              <a:rPr lang="es-ES" sz="1800" spc="10"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que</a:t>
            </a:r>
            <a:r>
              <a:rPr lang="es-ES" sz="1800" spc="10"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conforman</a:t>
            </a:r>
            <a:r>
              <a:rPr lang="es-ES" sz="1800" spc="5"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dicha</a:t>
            </a:r>
            <a:r>
              <a:rPr lang="es-ES" sz="1800" spc="15" dirty="0">
                <a:effectLst/>
                <a:latin typeface="Times New Roman" panose="02020603050405020304" pitchFamily="18" charset="0"/>
                <a:ea typeface="Microsoft Sans Serif" panose="020B0604020202020204" pitchFamily="34" charset="0"/>
              </a:rPr>
              <a:t> </a:t>
            </a:r>
            <a:r>
              <a:rPr lang="es-ES" sz="1800" dirty="0">
                <a:effectLst/>
                <a:latin typeface="Times New Roman" panose="02020603050405020304" pitchFamily="18" charset="0"/>
                <a:ea typeface="Microsoft Sans Serif" panose="020B0604020202020204" pitchFamily="34" charset="0"/>
              </a:rPr>
              <a:t>Dirección.</a:t>
            </a:r>
            <a:endParaRPr lang="es-VE" sz="1800" dirty="0">
              <a:effectLst/>
              <a:latin typeface="Microsoft Sans Serif" panose="020B0604020202020204" pitchFamily="34" charset="0"/>
              <a:ea typeface="Microsoft Sans Serif" panose="020B0604020202020204" pitchFamily="34" charset="0"/>
            </a:endParaRPr>
          </a:p>
        </p:txBody>
      </p:sp>
      <p:sp>
        <p:nvSpPr>
          <p:cNvPr id="8" name="CuadroTexto 7">
            <a:extLst>
              <a:ext uri="{FF2B5EF4-FFF2-40B4-BE49-F238E27FC236}">
                <a16:creationId xmlns:a16="http://schemas.microsoft.com/office/drawing/2014/main" id="{1DBEEA54-25B4-43B4-B86C-3B437434416B}"/>
              </a:ext>
            </a:extLst>
          </p:cNvPr>
          <p:cNvSpPr txBox="1"/>
          <p:nvPr/>
        </p:nvSpPr>
        <p:spPr>
          <a:xfrm>
            <a:off x="2025956" y="951087"/>
            <a:ext cx="6096000" cy="461665"/>
          </a:xfrm>
          <a:prstGeom prst="rect">
            <a:avLst/>
          </a:prstGeom>
          <a:noFill/>
        </p:spPr>
        <p:txBody>
          <a:bodyPr wrap="square">
            <a:spAutoFit/>
          </a:bodyPr>
          <a:lstStyle/>
          <a:p>
            <a:pPr algn="ctr">
              <a:spcAft>
                <a:spcPts val="0"/>
              </a:spcAft>
            </a:pPr>
            <a:r>
              <a:rPr lang="es-VE" sz="2400" b="1" i="1" u="sng" dirty="0">
                <a:latin typeface="+mj-lt"/>
                <a:ea typeface="Calibri" panose="020F0502020204030204" pitchFamily="34" charset="0"/>
                <a:cs typeface="Calibri" panose="020F0502020204030204" pitchFamily="34" charset="0"/>
              </a:rPr>
              <a:t>Conclusiones</a:t>
            </a:r>
            <a:endParaRPr lang="es-VE" sz="2400" i="1" u="sng" dirty="0">
              <a:latin typeface="+mj-lt"/>
              <a:ea typeface="SimSun" panose="02010600030101010101" pitchFamily="2" charset="-122"/>
              <a:cs typeface="Times New Roman" panose="02020603050405020304" pitchFamily="18" charset="0"/>
            </a:endParaRPr>
          </a:p>
        </p:txBody>
      </p:sp>
      <p:pic>
        <p:nvPicPr>
          <p:cNvPr id="9" name="Imagen 8">
            <a:extLst>
              <a:ext uri="{FF2B5EF4-FFF2-40B4-BE49-F238E27FC236}">
                <a16:creationId xmlns:a16="http://schemas.microsoft.com/office/drawing/2014/main" id="{2B112BC9-F608-4978-A265-17464ED47904}"/>
              </a:ext>
            </a:extLst>
          </p:cNvPr>
          <p:cNvPicPr>
            <a:picLocks noChangeAspect="1"/>
          </p:cNvPicPr>
          <p:nvPr/>
        </p:nvPicPr>
        <p:blipFill>
          <a:blip r:embed="rId2"/>
          <a:stretch>
            <a:fillRect/>
          </a:stretch>
        </p:blipFill>
        <p:spPr>
          <a:xfrm>
            <a:off x="8842392" y="382308"/>
            <a:ext cx="3097036" cy="1798476"/>
          </a:xfrm>
          <a:prstGeom prst="rect">
            <a:avLst/>
          </a:prstGeom>
        </p:spPr>
      </p:pic>
    </p:spTree>
    <p:extLst>
      <p:ext uri="{BB962C8B-B14F-4D97-AF65-F5344CB8AC3E}">
        <p14:creationId xmlns:p14="http://schemas.microsoft.com/office/powerpoint/2010/main" val="17223207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573B33F3-A98A-462F-980C-B1B66247105E}"/>
              </a:ext>
            </a:extLst>
          </p:cNvPr>
          <p:cNvSpPr txBox="1"/>
          <p:nvPr/>
        </p:nvSpPr>
        <p:spPr>
          <a:xfrm>
            <a:off x="1525301" y="728966"/>
            <a:ext cx="8562108" cy="5400068"/>
          </a:xfrm>
          <a:prstGeom prst="rect">
            <a:avLst/>
          </a:prstGeom>
          <a:noFill/>
        </p:spPr>
        <p:txBody>
          <a:bodyPr wrap="square">
            <a:spAutoFit/>
          </a:bodyPr>
          <a:lstStyle/>
          <a:p>
            <a:pPr indent="180340" algn="ctr">
              <a:lnSpc>
                <a:spcPct val="150000"/>
              </a:lnSpc>
              <a:spcAft>
                <a:spcPts val="1000"/>
              </a:spcAft>
            </a:pPr>
            <a:r>
              <a:rPr lang="es-VE" sz="2800" b="1" i="1" u="sng" dirty="0">
                <a:latin typeface="Times New Roman" panose="02020603050405020304" pitchFamily="18" charset="0"/>
                <a:ea typeface="Calibri" panose="020F0502020204030204" pitchFamily="34" charset="0"/>
                <a:cs typeface="Times New Roman" panose="02020603050405020304" pitchFamily="18" charset="0"/>
              </a:rPr>
              <a:t>Recomendaciones</a:t>
            </a:r>
            <a:endParaRPr lang="es-ES" sz="2800" b="1" i="1" u="sng" dirty="0">
              <a:effectLst/>
              <a:latin typeface="Times New Roman" panose="02020603050405020304" pitchFamily="18" charset="0"/>
              <a:ea typeface="Calibri" panose="020F0502020204030204" pitchFamily="34" charset="0"/>
              <a:cs typeface="Times New Roman" panose="02020603050405020304" pitchFamily="18" charset="0"/>
            </a:endParaRPr>
          </a:p>
          <a:p>
            <a:pPr indent="180340" algn="just">
              <a:lnSpc>
                <a:spcPct val="150000"/>
              </a:lnSpc>
              <a:spcAft>
                <a:spcPts val="1000"/>
              </a:spcAft>
            </a:pP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Con el propósito de garantizar el funcionamiento adecuado de la Gerencia de red de sucursales, agencia 0331 Parque Cristal, de Banesco Banco Universal,</a:t>
            </a:r>
            <a:r>
              <a:rPr lang="es-ES" sz="16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se</a:t>
            </a:r>
            <a:r>
              <a:rPr lang="es-ES" sz="16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presentan</a:t>
            </a:r>
            <a:r>
              <a:rPr lang="es-ES" sz="16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a</a:t>
            </a:r>
            <a:r>
              <a:rPr lang="es-ES" sz="16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continuación</a:t>
            </a:r>
            <a:r>
              <a:rPr lang="es-ES" sz="1600" spc="-4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una</a:t>
            </a:r>
            <a:r>
              <a:rPr lang="es-ES" sz="16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serie</a:t>
            </a:r>
            <a:r>
              <a:rPr lang="es-ES" sz="1600" spc="-4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de</a:t>
            </a:r>
            <a:r>
              <a:rPr lang="es-ES" sz="16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recomendaciones</a:t>
            </a:r>
            <a:r>
              <a:rPr lang="es-ES" sz="16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como</a:t>
            </a:r>
            <a:r>
              <a:rPr lang="es-ES" sz="1600"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aporte</a:t>
            </a:r>
            <a:r>
              <a:rPr lang="es-ES" sz="16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para</a:t>
            </a:r>
            <a:r>
              <a:rPr lang="es-ES" sz="16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la</a:t>
            </a:r>
            <a:r>
              <a:rPr lang="es-ES" sz="16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s-ES" sz="1600" dirty="0">
                <a:effectLst/>
                <a:latin typeface="Times New Roman" panose="02020603050405020304" pitchFamily="18" charset="0"/>
                <a:ea typeface="Calibri" panose="020F0502020204030204" pitchFamily="34" charset="0"/>
                <a:cs typeface="Times New Roman" panose="02020603050405020304" pitchFamily="18" charset="0"/>
              </a:rPr>
              <a:t>obtención</a:t>
            </a:r>
            <a:r>
              <a:rPr lang="es-ES" sz="1600" spc="-40" dirty="0">
                <a:effectLst/>
                <a:latin typeface="Times New Roman" panose="02020603050405020304" pitchFamily="18" charset="0"/>
                <a:ea typeface="Calibri" panose="020F0502020204030204" pitchFamily="34" charset="0"/>
                <a:cs typeface="Times New Roman" panose="02020603050405020304" pitchFamily="18" charset="0"/>
              </a:rPr>
              <a:t> de mayores beneficios de las mismas: </a:t>
            </a:r>
            <a:endParaRPr lang="es-VE"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77470" lvl="0" indent="-342900" algn="just">
              <a:lnSpc>
                <a:spcPct val="151000"/>
              </a:lnSpc>
              <a:spcAft>
                <a:spcPts val="0"/>
              </a:spcAft>
              <a:buSzPts val="1200"/>
              <a:buFont typeface="Microsoft Sans Serif" panose="020B0604020202020204" pitchFamily="34" charset="0"/>
              <a:buAutoNum type="arabicPeriod"/>
            </a:pP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Aplicar las estrategias propuestas para mejorar la calidad en la atención al cliente.</a:t>
            </a:r>
            <a:endParaRPr lang="es-VE" sz="1600" dirty="0">
              <a:effectLst/>
              <a:latin typeface="Times New Roman" panose="02020603050405020304" pitchFamily="18" charset="0"/>
              <a:ea typeface="Microsoft Sans Serif" panose="020B0604020202020204" pitchFamily="34" charset="0"/>
              <a:cs typeface="Times New Roman" panose="02020603050405020304" pitchFamily="18" charset="0"/>
            </a:endParaRPr>
          </a:p>
          <a:p>
            <a:pPr marL="342900" marR="76835" lvl="0" indent="-342900" algn="just">
              <a:lnSpc>
                <a:spcPct val="150000"/>
              </a:lnSpc>
              <a:spcBef>
                <a:spcPts val="5"/>
              </a:spcBef>
              <a:spcAft>
                <a:spcPts val="1000"/>
              </a:spcAft>
              <a:buSzPts val="1200"/>
              <a:buFont typeface="Microsoft Sans Serif" panose="020B0604020202020204" pitchFamily="34" charset="0"/>
              <a:buAutoNum type="arabicPeriod"/>
              <a:tabLst>
                <a:tab pos="1093470" algn="l"/>
              </a:tabLst>
            </a:pP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La</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institución</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debe</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seguir</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trabajando</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y</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desarrollando</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sus</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procedimientos</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administrativos</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con</a:t>
            </a:r>
            <a:r>
              <a:rPr lang="es-ES" sz="1600" spc="1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eficacia e innovando cada día con nuevas carreras para poder atraer muchos más estudiantes. </a:t>
            </a:r>
            <a:endParaRPr lang="es-VE" sz="1600" dirty="0">
              <a:effectLst/>
              <a:latin typeface="Times New Roman" panose="02020603050405020304" pitchFamily="18" charset="0"/>
              <a:ea typeface="Microsoft Sans Serif" panose="020B0604020202020204" pitchFamily="34" charset="0"/>
              <a:cs typeface="Times New Roman" panose="02020603050405020304" pitchFamily="18" charset="0"/>
            </a:endParaRPr>
          </a:p>
          <a:p>
            <a:pPr marL="342900" marR="77470" lvl="0" indent="-342900" algn="just">
              <a:lnSpc>
                <a:spcPct val="150000"/>
              </a:lnSpc>
              <a:spcBef>
                <a:spcPts val="10"/>
              </a:spcBef>
              <a:spcAft>
                <a:spcPts val="1000"/>
              </a:spcAft>
              <a:buSzPts val="1200"/>
              <a:buFont typeface="Microsoft Sans Serif" panose="020B0604020202020204" pitchFamily="34" charset="0"/>
              <a:buAutoNum type="arabicPeriod"/>
              <a:tabLst>
                <a:tab pos="1093470" algn="l"/>
              </a:tabLst>
            </a:pP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La</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Gerencia de red de sucursales, agencia 0331 Parque Cristal, de Banesco Banco Universal,</a:t>
            </a:r>
            <a:r>
              <a:rPr lang="es-ES" sz="1600" spc="5"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debe ingresar más personal en las agencias.</a:t>
            </a:r>
            <a:endParaRPr lang="es-VE" sz="1600" dirty="0">
              <a:effectLst/>
              <a:latin typeface="Times New Roman" panose="02020603050405020304" pitchFamily="18" charset="0"/>
              <a:ea typeface="Microsoft Sans Serif" panose="020B0604020202020204" pitchFamily="34" charset="0"/>
              <a:cs typeface="Times New Roman" panose="02020603050405020304" pitchFamily="18" charset="0"/>
            </a:endParaRPr>
          </a:p>
          <a:p>
            <a:pPr marL="342900" marR="73660" lvl="0" indent="-342900" algn="just">
              <a:lnSpc>
                <a:spcPct val="150000"/>
              </a:lnSpc>
              <a:spcBef>
                <a:spcPts val="20"/>
              </a:spcBef>
              <a:spcAft>
                <a:spcPts val="1000"/>
              </a:spcAft>
              <a:buSzPts val="1200"/>
              <a:buFont typeface="Microsoft Sans Serif" panose="020B0604020202020204" pitchFamily="34" charset="0"/>
              <a:buAutoNum type="arabicPeriod"/>
              <a:tabLst>
                <a:tab pos="1093470" algn="l"/>
              </a:tabLst>
            </a:pP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Seguir innovando, para seguir manteniéndose dentro de los mejores bancos de Venezuela.</a:t>
            </a:r>
            <a:endParaRPr lang="es-VE" sz="1600" dirty="0">
              <a:effectLst/>
              <a:latin typeface="Times New Roman" panose="02020603050405020304" pitchFamily="18" charset="0"/>
              <a:ea typeface="Microsoft Sans Serif" panose="020B0604020202020204" pitchFamily="34" charset="0"/>
              <a:cs typeface="Times New Roman" panose="02020603050405020304" pitchFamily="18" charset="0"/>
            </a:endParaRPr>
          </a:p>
          <a:p>
            <a:pPr marL="342900" indent="-342900" algn="just">
              <a:lnSpc>
                <a:spcPct val="150000"/>
              </a:lnSpc>
              <a:spcBef>
                <a:spcPts val="15"/>
              </a:spcBef>
              <a:spcAft>
                <a:spcPts val="1000"/>
              </a:spcAft>
              <a:buSzPts val="1200"/>
              <a:buFont typeface="Microsoft Sans Serif" panose="020B0604020202020204" pitchFamily="34" charset="0"/>
              <a:buAutoNum type="arabicPeriod"/>
              <a:tabLst>
                <a:tab pos="1093470" algn="l"/>
              </a:tabLst>
            </a:pPr>
            <a:r>
              <a:rPr lang="es-ES" sz="1600" dirty="0">
                <a:effectLst/>
                <a:latin typeface="Times New Roman" panose="02020603050405020304" pitchFamily="18" charset="0"/>
                <a:ea typeface="Microsoft Sans Serif" panose="020B0604020202020204" pitchFamily="34" charset="0"/>
                <a:cs typeface="Times New Roman" panose="02020603050405020304" pitchFamily="18" charset="0"/>
              </a:rPr>
              <a:t>Lograr generar las solicitudes de menudeo por el Banesco online para lograr optimizar las operaciones en el área de promoción.</a:t>
            </a:r>
            <a:r>
              <a:rPr lang="es-VE" sz="1600" b="1" dirty="0">
                <a:latin typeface="+mj-lt"/>
                <a:ea typeface="Calibri" panose="020F0502020204030204" pitchFamily="34" charset="0"/>
                <a:cs typeface="Calibri" panose="020F0502020204030204" pitchFamily="34" charset="0"/>
              </a:rPr>
              <a:t> </a:t>
            </a:r>
            <a:endParaRPr lang="es-VE" sz="1600" dirty="0">
              <a:effectLst/>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7" name="Imagen 6">
            <a:extLst>
              <a:ext uri="{FF2B5EF4-FFF2-40B4-BE49-F238E27FC236}">
                <a16:creationId xmlns:a16="http://schemas.microsoft.com/office/drawing/2014/main" id="{DFD7F3C4-FF2D-47B4-96F7-4C5F413472FA}"/>
              </a:ext>
            </a:extLst>
          </p:cNvPr>
          <p:cNvPicPr>
            <a:picLocks noChangeAspect="1"/>
          </p:cNvPicPr>
          <p:nvPr/>
        </p:nvPicPr>
        <p:blipFill>
          <a:blip r:embed="rId2"/>
          <a:stretch>
            <a:fillRect/>
          </a:stretch>
        </p:blipFill>
        <p:spPr>
          <a:xfrm>
            <a:off x="8911663" y="188343"/>
            <a:ext cx="3097036" cy="1798476"/>
          </a:xfrm>
          <a:prstGeom prst="rect">
            <a:avLst/>
          </a:prstGeom>
        </p:spPr>
      </p:pic>
    </p:spTree>
    <p:extLst>
      <p:ext uri="{BB962C8B-B14F-4D97-AF65-F5344CB8AC3E}">
        <p14:creationId xmlns:p14="http://schemas.microsoft.com/office/powerpoint/2010/main" val="1553858358"/>
      </p:ext>
    </p:extLst>
  </p:cSld>
  <p:clrMapOvr>
    <a:masterClrMapping/>
  </p:clrMapOvr>
</p:sld>
</file>

<file path=ppt/theme/theme1.xml><?xml version="1.0" encoding="utf-8"?>
<a:theme xmlns:a="http://schemas.openxmlformats.org/drawingml/2006/main" name="Espiral">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piral">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999</TotalTime>
  <Words>2195</Words>
  <Application>Microsoft Office PowerPoint</Application>
  <PresentationFormat>Panorámica</PresentationFormat>
  <Paragraphs>275</Paragraphs>
  <Slides>28</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28</vt:i4>
      </vt:variant>
    </vt:vector>
  </HeadingPairs>
  <TitlesOfParts>
    <vt:vector size="38" baseType="lpstr">
      <vt:lpstr>Arial</vt:lpstr>
      <vt:lpstr>Calibri</vt:lpstr>
      <vt:lpstr>Calibri Light</vt:lpstr>
      <vt:lpstr>Cambria</vt:lpstr>
      <vt:lpstr>Century Gothic</vt:lpstr>
      <vt:lpstr>Microsoft Sans Serif</vt:lpstr>
      <vt:lpstr>Times New Roman</vt:lpstr>
      <vt:lpstr>Wingdings</vt:lpstr>
      <vt:lpstr>Wingdings 3</vt:lpstr>
      <vt:lpstr>Espiral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Karena Pere</dc:creator>
  <cp:lastModifiedBy>Adriana Garcia</cp:lastModifiedBy>
  <cp:revision>35</cp:revision>
  <dcterms:created xsi:type="dcterms:W3CDTF">2023-08-12T15:45:54Z</dcterms:created>
  <dcterms:modified xsi:type="dcterms:W3CDTF">2026-04-16T14:17:53Z</dcterms:modified>
</cp:coreProperties>
</file>