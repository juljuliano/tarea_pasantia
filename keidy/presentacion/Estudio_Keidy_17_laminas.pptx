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portada para iniciar el repaso. Decir el título completo, el nombre de la empresa y recordar que la procura abarca desde la necesidad hasta el cierre de la adquisición.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Memorizar esta cadena. Si se pierde el hilo, volver al problema, explicar cómo se diagnosticó y conectar los hallazgos con la propuesta.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corta: Varyna es una empresa venezolana vinculada con los sectores petrolero, industrial y de construcción. La pasantía se realizó en el Departamento Administrativo, en actividades de procura.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procura como el proceso completo que parte de una necesidad, solicita y compara cotizaciones, obtiene aprobaciones, formaliza la compra y mantiene seguimiento hasta el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rescate: el proceso se realizaba, pero presentaba oportunidades de mejora en su organización y seguimiento.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los tres verbos en orden: diagnosticar el proceso actual, identificar deficiencias y causas, y formular una propuesta de simplificación.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diagnóstico no se basó en una sola opinión: combinó observación, entrevista, documentos y tiempos.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corta: el Ishikawa es una herramienta que organiza las posibles causas de un problema. En este proyecto organizó causas relacionadas con recepción, documentación, autorización, responsabilidades y seguimiento.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Responder sin confundir: Ishikawa es la herramienta de análisis; un cuello de botella es una etapa concreta donde el trabajo se acumula o se retrasa.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Enumerar los seis hallazgos sin inventar porcentajes ni mejoras medidas. Hablar de oportunidades observadas y beneficios esperados.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cada concepto con el proyecto. Simplificación y control interno no se contradicen: la propuesta intenta hacer el proceso más ágil sin perder verificaciones.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recitar los artículos. Explicar su relación general con la actividad económica y el orden de los registros.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las actividades como secuencia y no como una lista de diez semanas. Conectar el trabajo operativo con el diagnóstico.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Nombrar los cuatro recursos de diseño. Presentarlos como propuestas: flujo TO-BE, responsabilidades por carriles, visión SIPOC y matriz RACI.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Memorizar los cinco elementos. No inventar montos para la matriz; explicar que los rangos deben definirse y aprobarse con la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Mantener la correspondencia entre objetivos y conclusiones. Añadir el aprendizaje profesional como resultado de la experiencia, no como un cuarto objetivo.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Practicar cada pregunta en voz alta. Si una respuesta se bloquea, usar la frase de rescate y regresar a la cadena problema, diagnóstico, Ishikawa, hallazgos, propuesta y conclusión.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BF6EE">
              <a:alpha val="0"/>
            </a:srgbClr>
          </a:solidFill>
          <a:ln w="10160">
            <a:solidFill>
              <a:srgbClr val="D9B8AA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303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PERSONAL DE ESTUDIO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6492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PROPUESTA DE SIMPLIFICACIÓN ADMINISTRATIVA DE LA PROCURA EN LUBRICANTES Y EQUIPOS VARYNA, C.A.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47091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Keidy Guzmán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5166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Administración · IUTECP ·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0" y="530352"/>
            <a:ext cx="3730752" cy="5779008"/>
          </a:xfrm>
          <a:prstGeom prst="rect">
            <a:avLst/>
          </a:prstGeom>
          <a:solidFill>
            <a:srgbClr val="EAD0C6"/>
          </a:solidFill>
          <a:ln w="15240">
            <a:solidFill>
              <a:srgbClr val="A33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731520"/>
            <a:ext cx="3328416" cy="5376672"/>
          </a:xfrm>
          <a:prstGeom prst="rect">
            <a:avLst/>
          </a:prstGeom>
          <a:solidFill>
            <a:srgbClr val="EAD0C6">
              <a:alpha val="0"/>
            </a:srgbClr>
          </a:solidFill>
          <a:ln w="10160">
            <a:solidFill>
              <a:srgbClr val="A33A2E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987552"/>
            <a:ext cx="272491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/home/user/Documentos/tarea_pasantia/compartido/iute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520" y="1097280"/>
            <a:ext cx="2158513" cy="69494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842248" y="2148840"/>
            <a:ext cx="1627632" cy="1627632"/>
          </a:xfrm>
          <a:prstGeom prst="rect">
            <a:avLst/>
          </a:prstGeom>
          <a:solidFill>
            <a:srgbClr val="FFFFFF"/>
          </a:solidFill>
          <a:ln w="8890">
            <a:solidFill>
              <a:srgbClr val="D9B8AA"/>
            </a:solidFill>
            <a:prstDash val="solid"/>
          </a:ln>
        </p:spPr>
      </p:sp>
      <p:pic>
        <p:nvPicPr>
          <p:cNvPr id="12" name="Image 1" descr="/home/user/Documentos/tarea_pasantia/keidy/imagenes/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08" y="2286000"/>
            <a:ext cx="1353312" cy="135331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549640" y="4078224"/>
            <a:ext cx="2176272" cy="365760"/>
          </a:xfrm>
          <a:prstGeom prst="rect">
            <a:avLst/>
          </a:prstGeom>
          <a:solidFill>
            <a:srgbClr val="FBF6E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41080" y="4151376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DIAGNÓSTICO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8549640" y="4608576"/>
            <a:ext cx="2176272" cy="365760"/>
          </a:xfrm>
          <a:prstGeom prst="rect">
            <a:avLst/>
          </a:prstGeom>
          <a:solidFill>
            <a:srgbClr val="E5F3EC"/>
          </a:solidFill>
          <a:ln w="12700">
            <a:solidFill>
              <a:srgbClr val="1F6F5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641080" y="46817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F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PROPUESTA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8549640" y="5138928"/>
            <a:ext cx="2176272" cy="365760"/>
          </a:xfrm>
          <a:prstGeom prst="rect">
            <a:avLst/>
          </a:prstGeom>
          <a:solidFill>
            <a:srgbClr val="FBF6E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41080" y="521208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CONTROL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MAPA COMPLETO DEL PROYECTO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cadena que organiza la defensa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58368" y="2743200"/>
            <a:ext cx="1714500" cy="141732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16352"/>
            <a:ext cx="15681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7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Empresa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363724" y="3342132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82596" y="2743200"/>
            <a:ext cx="1714500" cy="141732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55748" y="2816352"/>
            <a:ext cx="15681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7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187952" y="3342132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06824" y="2743200"/>
            <a:ext cx="1714500" cy="141732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9976" y="2816352"/>
            <a:ext cx="15681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7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012180" y="3342132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31052" y="2743200"/>
            <a:ext cx="1714500" cy="141732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4204" y="2816352"/>
            <a:ext cx="15681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7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Ishikawa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836408" y="3342132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0" y="2743200"/>
            <a:ext cx="1714500" cy="141732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8432" y="2816352"/>
            <a:ext cx="15681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7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Propuesta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660636" y="3342132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79508" y="2743200"/>
            <a:ext cx="1714500" cy="141732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52660" y="2816352"/>
            <a:ext cx="15681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endParaRPr lang="en-US" sz="7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Conclusión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→ DIAGNÓSTICO → ISHIKAWA → HALLAZGOS → PROPUESTA → CONCLUSIÓN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Varyna y dónde se realizó la pasantía?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49808" y="2011680"/>
            <a:ext cx="3017520" cy="3429000"/>
          </a:xfrm>
          <a:prstGeom prst="rect">
            <a:avLst/>
          </a:prstGeom>
          <a:solidFill>
            <a:srgbClr val="EAD0C6"/>
          </a:solidFill>
          <a:ln w="12700">
            <a:solidFill>
              <a:srgbClr val="A33A2E"/>
            </a:solidFill>
            <a:prstDash val="solid"/>
          </a:ln>
        </p:spPr>
      </p:sp>
      <p:pic>
        <p:nvPicPr>
          <p:cNvPr id="10" name="Image 0" descr="/home/user/Documentos/tarea_pasantia/keidy/imagene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423160"/>
            <a:ext cx="1783080" cy="1783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4526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años de trayectoria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251960" y="2011680"/>
            <a:ext cx="6949440" cy="91440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51960" y="2011680"/>
            <a:ext cx="64008" cy="91440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98264" y="2121408"/>
            <a:ext cx="6656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SECTOR</a:t>
            </a:r>
            <a:endParaRPr lang="en-US" sz="75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Petrolero · industrial · construcción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251960" y="3182112"/>
            <a:ext cx="6949440" cy="91440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51960" y="3182112"/>
            <a:ext cx="64008" cy="91440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98264" y="3291840"/>
            <a:ext cx="6656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ÁREA</a:t>
            </a:r>
            <a:endParaRPr lang="en-US" sz="75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Departamento Administrativo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251960" y="4352544"/>
            <a:ext cx="6949440" cy="91440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51960" y="4352544"/>
            <a:ext cx="64008" cy="91440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98264" y="4462272"/>
            <a:ext cx="66568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FOCO</a:t>
            </a:r>
            <a:endParaRPr lang="en-US" sz="75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 de bienes, materiales e insumos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CONCEPTO CLAVE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la procura?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Procura no es solamente comprar.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504841" cy="1353312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679192"/>
            <a:ext cx="135853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7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Necesidad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090057" y="3172968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72353" y="2606040"/>
            <a:ext cx="1504841" cy="1353312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5505" y="2679192"/>
            <a:ext cx="135853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7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Requisición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68050" y="3172968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50346" y="2606040"/>
            <a:ext cx="1504841" cy="1353312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3498" y="2679192"/>
            <a:ext cx="135853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7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Cotización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246043" y="3172968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28339" y="2606040"/>
            <a:ext cx="1504841" cy="1353312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01491" y="2679192"/>
            <a:ext cx="135853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7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Aprobación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24037" y="3172968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6333" y="2606040"/>
            <a:ext cx="1504841" cy="1353312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9485" y="2679192"/>
            <a:ext cx="135853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7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402030" y="3172968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84326" y="2606040"/>
            <a:ext cx="1504841" cy="1353312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57478" y="2679192"/>
            <a:ext cx="135853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endParaRPr lang="en-US" sz="7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Seguimiento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980023" y="3172968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062319" y="2606040"/>
            <a:ext cx="1504841" cy="1353312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35471" y="2679192"/>
            <a:ext cx="135853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07</a:t>
            </a:r>
            <a:endParaRPr lang="en-US" sz="7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51560" y="4617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Gestiona necesidades, proveedores, documentos, autorizaciones y adquisiciones.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SITUACIÓN PROBLEMÁTICA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proceso se realizaba, pero estaba disperso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3429000" cy="107899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057400"/>
            <a:ext cx="3429000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167128"/>
            <a:ext cx="31363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SEÑAL 1</a:t>
            </a:r>
            <a:endParaRPr lang="en-US" sz="7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Canal no único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389120" y="2057400"/>
            <a:ext cx="3429000" cy="107899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057400"/>
            <a:ext cx="3429000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2167128"/>
            <a:ext cx="31363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SEÑAL 2</a:t>
            </a:r>
            <a:endParaRPr lang="en-US" sz="7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Formatos diferentes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092440" y="2057400"/>
            <a:ext cx="3429000" cy="107899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2057400"/>
            <a:ext cx="3429000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8744" y="2167128"/>
            <a:ext cx="31363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SEÑAL 3</a:t>
            </a:r>
            <a:endParaRPr lang="en-US" sz="7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Seguimiento manual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542032" y="3547872"/>
            <a:ext cx="3429000" cy="1078992"/>
          </a:xfrm>
          <a:prstGeom prst="rect">
            <a:avLst/>
          </a:prstGeom>
          <a:solidFill>
            <a:srgbClr val="EAD0C6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42032" y="3547872"/>
            <a:ext cx="3429000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88336" y="3657600"/>
            <a:ext cx="31363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SEÑAL 4</a:t>
            </a:r>
            <a:endParaRPr lang="en-US" sz="7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Aprobaciones demoradas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245352" y="3547872"/>
            <a:ext cx="3429000" cy="107899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3547872"/>
            <a:ext cx="3429000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91656" y="3657600"/>
            <a:ext cx="31363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SEÑAL 5</a:t>
            </a:r>
            <a:endParaRPr lang="en-US" sz="7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Indicadores ausentes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97280" y="50749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estaba mal, pero podía estar mejor organizado.”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ORIENTACIÓN DEL PROYECTO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Interrogante y objetivos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reducir la dispersión procedimental y fortalecer el seguimiento de las adquisiciones?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143000" y="3310128"/>
            <a:ext cx="3182112" cy="1234440"/>
          </a:xfrm>
          <a:prstGeom prst="rect">
            <a:avLst/>
          </a:prstGeom>
          <a:solidFill>
            <a:srgbClr val="EAD0C6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3383280"/>
            <a:ext cx="303580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7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Diagnosticar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315968" y="381762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9704" y="3310128"/>
            <a:ext cx="3182112" cy="1234440"/>
          </a:xfrm>
          <a:prstGeom prst="rect">
            <a:avLst/>
          </a:prstGeom>
          <a:solidFill>
            <a:srgbClr val="EAD0C6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3383280"/>
            <a:ext cx="303580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7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662672" y="381762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36408" y="3310128"/>
            <a:ext cx="3182112" cy="1234440"/>
          </a:xfrm>
          <a:prstGeom prst="rect">
            <a:avLst/>
          </a:prstGeom>
          <a:solidFill>
            <a:srgbClr val="EAD0C6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3383280"/>
            <a:ext cx="303580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7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371600" y="50749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Primero conocer · después analizar · finalmente proponer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07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DIAGNÓSTICO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se estudió el proceso?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49808" y="1965960"/>
            <a:ext cx="5029200" cy="132588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965960"/>
            <a:ext cx="64008" cy="132588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075688"/>
            <a:ext cx="4736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75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Observación directa</a:t>
            </a:r>
            <a:endParaRPr lang="en-US" sz="7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 el recorrido real.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029200" cy="132588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965960"/>
            <a:ext cx="64008" cy="132588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2075688"/>
            <a:ext cx="4736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75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Entrevista estructurada</a:t>
            </a:r>
            <a:endParaRPr lang="en-US" sz="7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Conocer la experiencia del personal.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49808" y="3675888"/>
            <a:ext cx="5029200" cy="132588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675888"/>
            <a:ext cx="64008" cy="132588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785616"/>
            <a:ext cx="4736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75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Revisión documental</a:t>
            </a:r>
            <a:endParaRPr lang="en-US" sz="7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Examinar requisiciones, cotizaciones y expedientes.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172200" y="3675888"/>
            <a:ext cx="5029200" cy="132588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675888"/>
            <a:ext cx="64008" cy="132588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3785616"/>
            <a:ext cx="47365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75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tiempos</a:t>
            </a:r>
            <a:endParaRPr lang="en-US" sz="7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Ubicar etapas con posibles retrasos.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HERRAMIENTA DE DIAGNÓSTICO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el diagrama de Ishikawa?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Organiza las posibles causas relacionadas con un problema.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148840"/>
            <a:ext cx="10835640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1F6F5B"/>
            </a:solidFill>
            <a:prstDash val="solid"/>
          </a:ln>
        </p:spPr>
      </p:sp>
      <p:pic>
        <p:nvPicPr>
          <p:cNvPr id="11" name="Image 0" descr="/home/user/Documentos/tarea_pasantia/keidy/imagenes/ishikawa_keidy_proc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52" y="2359152"/>
            <a:ext cx="8101479" cy="2450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532180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6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la solución: es la herramienta que organiza las causas.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09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DISTINCIÓN IMPORTANTE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Ishikawa no es lo mismo que cuello de botella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49808" y="2011680"/>
            <a:ext cx="5074920" cy="1828800"/>
          </a:xfrm>
          <a:prstGeom prst="rect">
            <a:avLst/>
          </a:prstGeom>
          <a:solidFill>
            <a:srgbClr val="E5F3EC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011680"/>
            <a:ext cx="64008" cy="1828800"/>
          </a:xfrm>
          <a:prstGeom prst="rect">
            <a:avLst/>
          </a:prstGeom>
          <a:solidFill>
            <a:srgbClr val="1F6F5B"/>
          </a:solidFill>
          <a:ln w="12700">
            <a:solidFill>
              <a:srgbClr val="1F6F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121408"/>
            <a:ext cx="478231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F6F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ISHIKAWA</a:t>
            </a:r>
            <a:endParaRPr lang="en-US" sz="75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Herramienta de análisis</a:t>
            </a:r>
            <a:endParaRPr lang="en-US" sz="7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Organiza causas posibles y muestra cómo pueden relacionarse.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172200" y="2011680"/>
            <a:ext cx="5074920" cy="1828800"/>
          </a:xfrm>
          <a:prstGeom prst="rect">
            <a:avLst/>
          </a:prstGeom>
          <a:solidFill>
            <a:srgbClr val="EAD0C6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2011680"/>
            <a:ext cx="64008" cy="182880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2121408"/>
            <a:ext cx="478231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CUELLO DE BOTELLA</a:t>
            </a:r>
            <a:endParaRPr lang="en-US" sz="75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Etapa donde el trabajo se retrasa</a:t>
            </a:r>
            <a:endParaRPr lang="en-US" sz="7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Ejemplo: una requisición queda detenida durante la aprobación.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024128" y="4389120"/>
            <a:ext cx="2423160" cy="91440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462272"/>
            <a:ext cx="2276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7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Requisición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438144" y="4736592"/>
            <a:ext cx="155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84448" y="4389120"/>
            <a:ext cx="2423160" cy="91440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4462272"/>
            <a:ext cx="2276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7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Cotización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998464" y="4736592"/>
            <a:ext cx="155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44768" y="4389120"/>
            <a:ext cx="2423160" cy="91440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4462272"/>
            <a:ext cx="2276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7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APROBACIÓN DETENIDA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558784" y="4736592"/>
            <a:ext cx="155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05088" y="4389120"/>
            <a:ext cx="2423160" cy="91440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4462272"/>
            <a:ext cx="22768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7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RESULTADOS DEL DIAGNÓSTICO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se descubrió?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85800" y="2011680"/>
            <a:ext cx="3474720" cy="1298448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011680"/>
            <a:ext cx="64008" cy="1298448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121408"/>
            <a:ext cx="31821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7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Canal no único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16552" y="2011680"/>
            <a:ext cx="3474720" cy="1298448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6552" y="2011680"/>
            <a:ext cx="64008" cy="1298448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2121408"/>
            <a:ext cx="31821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7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Formatos no uniformes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147304" y="2011680"/>
            <a:ext cx="3474720" cy="1298448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011680"/>
            <a:ext cx="64008" cy="1298448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121408"/>
            <a:ext cx="31821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7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Cotizaciones poco visibles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85800" y="3675888"/>
            <a:ext cx="3474720" cy="1298448"/>
          </a:xfrm>
          <a:prstGeom prst="rect">
            <a:avLst/>
          </a:prstGeom>
          <a:solidFill>
            <a:srgbClr val="EAD0C6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675888"/>
            <a:ext cx="64008" cy="1298448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3785616"/>
            <a:ext cx="31821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7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Aprobaciones con retrasos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16552" y="3675888"/>
            <a:ext cx="3474720" cy="1298448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16552" y="3675888"/>
            <a:ext cx="64008" cy="1298448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2856" y="3785616"/>
            <a:ext cx="31821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7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Autorización por monto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147304" y="3675888"/>
            <a:ext cx="3474720" cy="1298448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47304" y="3675888"/>
            <a:ext cx="64008" cy="1298448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785616"/>
            <a:ext cx="31821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endParaRPr lang="en-US" sz="7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Indicadores ausentes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III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cuatro bases teóricas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49808" y="1965960"/>
            <a:ext cx="5029200" cy="135331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965960"/>
            <a:ext cx="64008" cy="1353312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075688"/>
            <a:ext cx="47365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BASE 1</a:t>
            </a:r>
            <a:endParaRPr lang="en-US" sz="75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Gestionar necesidades y adquisiciones.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029200" cy="135331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965960"/>
            <a:ext cx="64008" cy="1353312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2075688"/>
            <a:ext cx="47365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BASE 2</a:t>
            </a:r>
            <a:endParaRPr lang="en-US" sz="75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INTERNO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Conservar verificaciones y responsabilidades.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49808" y="3657600"/>
            <a:ext cx="5029200" cy="135331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657600"/>
            <a:ext cx="64008" cy="1353312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767328"/>
            <a:ext cx="47365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BASE 3</a:t>
            </a:r>
            <a:endParaRPr lang="en-US" sz="75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SIMPLIFICACIÓN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Reducir demoras y ordenar pasos.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172200" y="3657600"/>
            <a:ext cx="5029200" cy="1353312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657600"/>
            <a:ext cx="64008" cy="1353312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3767328"/>
            <a:ext cx="47365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BASE 4</a:t>
            </a:r>
            <a:endParaRPr lang="en-US" sz="75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TRAZABILIDAD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Reconstruir el recorrido documental.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BASES LEGALES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aportan al informe?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49808" y="2148840"/>
            <a:ext cx="5074920" cy="214884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148840"/>
            <a:ext cx="64008" cy="214884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258568"/>
            <a:ext cx="478231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CONSTITUCIÓN · ARTÍCULO 112</a:t>
            </a:r>
            <a:endParaRPr lang="en-US" sz="75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 económica dentro del marco legal</a:t>
            </a:r>
            <a:endParaRPr lang="en-US" sz="7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Fundamento general para el desarrollo de la actividad empresarial.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172200" y="2148840"/>
            <a:ext cx="5074920" cy="214884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2148840"/>
            <a:ext cx="64008" cy="214884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2258568"/>
            <a:ext cx="478231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CÓDIGO DE COMERCIO · ARTÍCULO 32</a:t>
            </a:r>
            <a:endParaRPr lang="en-US" sz="75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Orden y claridad de los registros</a:t>
            </a:r>
            <a:endParaRPr lang="en-US" sz="7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Fundamento general para una gestión empresarial organizada y documentada.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14400" y="4892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regulan directamente la procura de Varyna; aportan un marco general.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IV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Actividades principales de las semanas 1–5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2079346" cy="141732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96312"/>
            <a:ext cx="193304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7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Conocer el área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728570" y="3022092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47442" y="2423160"/>
            <a:ext cx="2079346" cy="141732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0594" y="2496312"/>
            <a:ext cx="193304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7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Observar el proceso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917643" y="3022092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36515" y="2423160"/>
            <a:ext cx="2079346" cy="141732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9667" y="2496312"/>
            <a:ext cx="193304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7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Entrevistar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106717" y="3022092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25589" y="2423160"/>
            <a:ext cx="2079346" cy="141732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98741" y="2496312"/>
            <a:ext cx="193304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7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Revisar documentos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295790" y="3022092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14662" y="2423160"/>
            <a:ext cx="2079346" cy="1417320"/>
          </a:xfrm>
          <a:prstGeom prst="rect">
            <a:avLst/>
          </a:prstGeom>
          <a:solidFill>
            <a:srgbClr val="FBF6EE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7814" y="2496312"/>
            <a:ext cx="193304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7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Elaborar Ishikawa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14400" y="44805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Apoyo continuo: requisiciones · cotizaciones · proveedores · expedientes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50749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Semana 5: las observaciones se convierten en un mapa de causas.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SEMANAS 6–9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diseñó la propuesta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TO-BE · swimlane · SIPOC · RACI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057400"/>
            <a:ext cx="2514600" cy="3383280"/>
          </a:xfrm>
          <a:prstGeom prst="rect">
            <a:avLst/>
          </a:prstGeom>
          <a:solidFill>
            <a:srgbClr val="FFFFFF"/>
          </a:solidFill>
          <a:ln w="8890">
            <a:solidFill>
              <a:srgbClr val="D9B8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67128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1F6F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TO-BE</a:t>
            </a:r>
            <a:endParaRPr lang="en-US" sz="700" dirty="0"/>
          </a:p>
        </p:txBody>
      </p:sp>
      <p:pic>
        <p:nvPicPr>
          <p:cNvPr id="12" name="Image 0" descr="/home/user/Documentos/tarea_pasantia/keidy/imagenes/03_flujo_to_be_proc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5" y="2468880"/>
            <a:ext cx="1150265" cy="281635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337560" y="2057400"/>
            <a:ext cx="2743200" cy="3383280"/>
          </a:xfrm>
          <a:prstGeom prst="rect">
            <a:avLst/>
          </a:prstGeom>
          <a:solidFill>
            <a:srgbClr val="FFFFFF"/>
          </a:solidFill>
          <a:ln w="8890">
            <a:solidFill>
              <a:srgbClr val="D9B8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0712" y="216712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1F6F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SWIMLANE</a:t>
            </a:r>
            <a:endParaRPr lang="en-US" sz="700" dirty="0"/>
          </a:p>
        </p:txBody>
      </p:sp>
      <p:pic>
        <p:nvPicPr>
          <p:cNvPr id="15" name="Image 1" descr="/home/user/Documentos/tarea_pasantia/keidy/imagenes/04_swimlane_procu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764104"/>
            <a:ext cx="2468880" cy="222590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45352" y="2057400"/>
            <a:ext cx="2240280" cy="3383280"/>
          </a:xfrm>
          <a:prstGeom prst="rect">
            <a:avLst/>
          </a:prstGeom>
          <a:solidFill>
            <a:srgbClr val="FFFFFF"/>
          </a:solidFill>
          <a:ln w="8890">
            <a:solidFill>
              <a:srgbClr val="D9B8A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18504" y="2167128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1F6F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SIPOC</a:t>
            </a:r>
            <a:endParaRPr lang="en-US" sz="700" dirty="0"/>
          </a:p>
        </p:txBody>
      </p:sp>
      <p:pic>
        <p:nvPicPr>
          <p:cNvPr id="18" name="Image 2" descr="/home/user/Documentos/tarea_pasantia/keidy/imagenes/05_sipoc_procu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750564"/>
            <a:ext cx="1965960" cy="225298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650224" y="2057400"/>
            <a:ext cx="2834640" cy="3383280"/>
          </a:xfrm>
          <a:prstGeom prst="rect">
            <a:avLst/>
          </a:prstGeom>
          <a:solidFill>
            <a:srgbClr val="FFFFFF"/>
          </a:solidFill>
          <a:ln w="8890">
            <a:solidFill>
              <a:srgbClr val="D9B8A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723376" y="216712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1F6F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RACI</a:t>
            </a:r>
            <a:endParaRPr lang="en-US" sz="700" dirty="0"/>
          </a:p>
        </p:txBody>
      </p:sp>
      <p:pic>
        <p:nvPicPr>
          <p:cNvPr id="21" name="Image 3" descr="/home/user/Documentos/tarea_pasantia/keidy/imagenes/06_matriz_raci_propues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384" y="3534200"/>
            <a:ext cx="2560320" cy="6857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PROPUESTA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elementos que debe recordar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85800" y="2011680"/>
            <a:ext cx="3429000" cy="114300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011680"/>
            <a:ext cx="64008" cy="114300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121408"/>
            <a:ext cx="31363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7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simplificado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389120" y="2011680"/>
            <a:ext cx="3429000" cy="114300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011680"/>
            <a:ext cx="64008" cy="114300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2121408"/>
            <a:ext cx="31363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7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Responsables definidos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092440" y="2011680"/>
            <a:ext cx="3429000" cy="114300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2011680"/>
            <a:ext cx="64008" cy="114300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8744" y="2121408"/>
            <a:ext cx="31363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7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Formatos estandarizados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542032" y="3584448"/>
            <a:ext cx="3429000" cy="114300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42032" y="3584448"/>
            <a:ext cx="64008" cy="114300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88336" y="3694176"/>
            <a:ext cx="31363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7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Matriz de autorización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245352" y="3584448"/>
            <a:ext cx="3429000" cy="1143000"/>
          </a:xfrm>
          <a:prstGeom prst="rect">
            <a:avLst/>
          </a:prstGeom>
          <a:solidFill>
            <a:srgbClr val="E5F3EC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3584448"/>
            <a:ext cx="64008" cy="1143000"/>
          </a:xfrm>
          <a:prstGeom prst="rect">
            <a:avLst/>
          </a:prstGeom>
          <a:solidFill>
            <a:srgbClr val="1F6F5B"/>
          </a:solidFill>
          <a:ln w="12700">
            <a:solidFill>
              <a:srgbClr val="1F6F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91656" y="3694176"/>
            <a:ext cx="31363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1F6F5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7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Indicadores de seguimiento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14400" y="5102352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Simplificar = organizar mejor sin quitar controles necesarios.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CAPÍTULO 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conclusión responde a un objetivo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58368" y="1965960"/>
            <a:ext cx="3474720" cy="182880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65960"/>
            <a:ext cx="64008" cy="182880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075688"/>
            <a:ext cx="318211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OBJETIVO 1</a:t>
            </a:r>
            <a:endParaRPr lang="en-US" sz="75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recorrido puede simplificarse.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389120" y="1965960"/>
            <a:ext cx="3474720" cy="182880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965960"/>
            <a:ext cx="64008" cy="182880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2075688"/>
            <a:ext cx="318211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OBJETIVO 2</a:t>
            </a:r>
            <a:endParaRPr lang="en-US" sz="75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Hallazgos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dispersión afecta seguimiento y trazabilidad.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119872" y="1965960"/>
            <a:ext cx="3474720" cy="1828800"/>
          </a:xfrm>
          <a:prstGeom prst="rect">
            <a:avLst/>
          </a:prstGeom>
          <a:solidFill>
            <a:srgbClr val="FBF6EE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965960"/>
            <a:ext cx="64008" cy="182880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2075688"/>
            <a:ext cx="318211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OBJETIVO 3</a:t>
            </a:r>
            <a:endParaRPr lang="en-US" sz="75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Propuesta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Flujo, responsables, formatos, autorizaciones e indicadores.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920240" y="4343400"/>
            <a:ext cx="8321040" cy="960120"/>
          </a:xfrm>
          <a:prstGeom prst="rect">
            <a:avLst/>
          </a:prstGeom>
          <a:solidFill>
            <a:srgbClr val="EAD0C6"/>
          </a:solidFill>
          <a:ln w="10160">
            <a:solidFill>
              <a:srgbClr val="D9B8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4343400"/>
            <a:ext cx="64008" cy="960120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66544" y="4453128"/>
            <a:ext cx="802843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APRENDIZAJE PROFESIONAL</a:t>
            </a:r>
            <a:endParaRPr lang="en-US" sz="7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Planificación · organización · control · gestión documental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ect">
            <a:avLst/>
          </a:prstGeom>
          <a:solidFill>
            <a:srgbClr val="F6EFE5">
              <a:alpha val="0"/>
            </a:srgbClr>
          </a:solidFill>
          <a:ln w="10160">
            <a:solidFill>
              <a:srgbClr val="D9B8AA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 ESTUDIO · KEIDY GUZMÁN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749808" cy="54864"/>
          </a:xfrm>
          <a:prstGeom prst="rect">
            <a:avLst/>
          </a:prstGeom>
          <a:solidFill>
            <a:srgbClr val="A33A2E"/>
          </a:solidFill>
          <a:ln w="12700">
            <a:solidFill>
              <a:srgbClr val="A33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384048"/>
            <a:ext cx="411480" cy="54864"/>
          </a:xfrm>
          <a:prstGeom prst="rect">
            <a:avLst/>
          </a:prstGeom>
          <a:solidFill>
            <a:srgbClr val="E5C48B"/>
          </a:solidFill>
          <a:ln w="12700">
            <a:solidFill>
              <a:srgbClr val="E5C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419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PRÁCTICA FINAL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1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Preguntas que debe dominar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2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Responderlas sin leer demuestra dominio del proyecto.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9339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pPr indent="0" marL="0">
              <a:buNone/>
            </a:pPr>
            <a:r>
              <a:rPr lang="en-US" sz="1050" dirty="0">
                <a:solidFill>
                  <a:srgbClr val="20181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¿Qué es procura?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pPr indent="0" marL="0">
              <a:buNone/>
            </a:pPr>
            <a:r>
              <a:rPr lang="en-US" sz="1050" dirty="0">
                <a:solidFill>
                  <a:srgbClr val="20181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¿Qué problema encontró?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8529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pPr indent="0" marL="0">
              <a:buNone/>
            </a:pPr>
            <a:r>
              <a:rPr lang="en-US" sz="1050" dirty="0">
                <a:solidFill>
                  <a:srgbClr val="20181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¿Qué es Ishikawa?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28269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pPr indent="0" marL="0">
              <a:buNone/>
            </a:pPr>
            <a:r>
              <a:rPr lang="en-US" sz="1050" dirty="0">
                <a:solidFill>
                  <a:srgbClr val="20181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¿Ishikawa o cuello de botella?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71246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pPr indent="0" marL="0">
              <a:buNone/>
            </a:pPr>
            <a:r>
              <a:rPr lang="en-US" sz="1050" dirty="0">
                <a:solidFill>
                  <a:srgbClr val="20181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¿Cuáles fueron sus objetivos?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414223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pPr indent="0" marL="0">
              <a:buNone/>
            </a:pPr>
            <a:r>
              <a:rPr lang="en-US" sz="1050" dirty="0">
                <a:solidFill>
                  <a:srgbClr val="20181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¿Qué descubrió?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07</a:t>
            </a:r>
            <a:pPr indent="0" marL="0">
              <a:buNone/>
            </a:pPr>
            <a:r>
              <a:rPr lang="en-US" sz="1050" dirty="0">
                <a:solidFill>
                  <a:srgbClr val="20181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¿Qué propone?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0" y="199339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08</a:t>
            </a:r>
            <a:pPr indent="0" marL="0">
              <a:buNone/>
            </a:pPr>
            <a:r>
              <a:rPr lang="en-US" sz="1050" dirty="0">
                <a:solidFill>
                  <a:srgbClr val="20181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¿Qué es trazabilidad?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24231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09</a:t>
            </a:r>
            <a:pPr indent="0" marL="0">
              <a:buNone/>
            </a:pPr>
            <a:r>
              <a:rPr lang="en-US" sz="1050" dirty="0">
                <a:solidFill>
                  <a:srgbClr val="20181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¿Qué es simplificación?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28529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pPr indent="0" marL="0">
              <a:buNone/>
            </a:pPr>
            <a:r>
              <a:rPr lang="en-US" sz="1050" dirty="0">
                <a:solidFill>
                  <a:srgbClr val="20181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¿Simplificar quita controles?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328269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pPr indent="0" marL="0">
              <a:buNone/>
            </a:pPr>
            <a:r>
              <a:rPr lang="en-US" sz="1050" dirty="0">
                <a:solidFill>
                  <a:srgbClr val="20181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¿Qué es la matriz por monto?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371246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pPr indent="0" marL="0">
              <a:buNone/>
            </a:pPr>
            <a:r>
              <a:rPr lang="en-US" sz="1050" dirty="0">
                <a:solidFill>
                  <a:srgbClr val="20181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¿Qué indicadores propone?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414223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2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pPr indent="0" marL="0">
              <a:buNone/>
            </a:pPr>
            <a:r>
              <a:rPr lang="en-US" sz="1050" dirty="0">
                <a:solidFill>
                  <a:srgbClr val="20181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¿Cuál fue el aporte?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9808" y="5230368"/>
            <a:ext cx="10698480" cy="713232"/>
          </a:xfrm>
          <a:prstGeom prst="rect">
            <a:avLst/>
          </a:prstGeom>
          <a:solidFill>
            <a:srgbClr val="EAD0C6"/>
          </a:solidFill>
          <a:ln w="10160">
            <a:solidFill>
              <a:srgbClr val="A33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376672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Frase de rescate: primero diagnostiqué el proceso, después identifiqué las causas y finalmente formulé una propuesta de simplificación.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erdan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IUTECP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de estudio para la defensa de Keidy Guzmán</dc:title>
  <dc:subject>Defensa de Pasantías Profesionales</dc:subject>
  <dc:creator>Keidy Guzmán</dc:creator>
  <cp:lastModifiedBy>Keidy Guzmán</cp:lastModifiedBy>
  <cp:revision>1</cp:revision>
  <dcterms:created xsi:type="dcterms:W3CDTF">2026-09-06T19:32:37Z</dcterms:created>
  <dcterms:modified xsi:type="dcterms:W3CDTF">2026-09-06T19:32:37Z</dcterms:modified>
</cp:coreProperties>
</file>