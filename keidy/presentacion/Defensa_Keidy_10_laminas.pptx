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Saludar al jurado, a las tutoras y a las personas presentes. Presentarse como Keidy Guzmán, estudiante de Administración del IUTECP. Leer el título oficial e indicar que las pasantías se realizaron en Lubricantes y Equipos Varyna, C.A. Explicar que el tema central es la simplificación administrativa del proceso de procura.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brevemente que la presentación seguirá los cinco capítulos del informe: realidad organizacional, diagnóstico situacional, marco teórico, actividades realizadas y conclusiones con recomendaciones. No leer cada tarjeta; presentarlas como el recorrido de la defensa.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 Lubricantes y Equipos Varyna, C.A. como una empresa venezolana con aproximadamente quince años de trayectoria en los sectores petrolero, industrial y de construcción. Explicar que la pasantía se desarrolló en el Departamento Administrativo, especialmente en procura. Señalar que el proceso incluye requisición, cotización, aprobación, compra y seguimiento.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 situación se relacionó con la dispersión del flujo administrativo: solicitudes sin un canal único, formatos no uniformes, posibles cuellos de botella en aprobaciones y seguimiento limitado. Aclarar que el personal realizaba el proceso; la oportunidad estaba en organizarlo mejor. Presentar la secuencia de objetivos: diagnosticar, identificar y formular.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diagnóstico combinó observación directa, entrevista estructurada, revisión documental y análisis de tiempos. Presentar el Ishikawa como una herramienta para organizar causas, no como una solución ni como un cuello de botella. Las causas se agruparon en procedimientos, responsabilidades, documentación y seguimiento.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cuatro conceptos: procura y gestión de compras, control interno, simplificación administrativa y trazabilidad documental. Aclarar que simplificar no significa eliminar controles, sino organizar el proceso. Mencionar brevemente el artículo 112 de la Constitución y el artículo 32 del Código de Comercio como fundamentos generales.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las diez semanas en cuatro actividades: observar y levantar el proceso, entrevistar y revisar documentos con análisis de tiempos, elaborar el Ishikawa, y diseñar y validar la propuesta. Añadir que la semana diez se dedicó al cierre y consolidación del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propuesta como un flujo simplificado con responsables por etapa, formatos estandarizados, una matriz de autorización por monto e indicadores. Explicar que los niveles y montos deben definirse y aprobarse con la empresa. Recalcar que simplificar no es eliminar controles, sino ordenar el proceso para hacerlo más claro y fácil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cada conclusión con un objetivo: el diagnóstico mostró un recorrido simplificable; los hallazgos señalaron formatos, autorizaciones, seguimiento e indicadores; y la propuesta integró esos elementos. Recomendar implementación gradual, acompañamiento académico y registro de evidencias. Mencionar el aprendizaje profesional en planificación, organización, control y análisis de procesos.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recordando que el objetivo no fue afirmar que el proceso estaba mal, sino demostrar que podía organizarse mejor, ser más fácil de seguir y mantener controles más claros. Agradecer al jurado, al IUTECP, a las tutoras y a la empresa. Mantener esta lámina durante las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BF6EE">
              <a:alpha val="0"/>
            </a:srgbClr>
          </a:solidFill>
          <a:ln w="10160">
            <a:solidFill>
              <a:srgbClr val="D9B8AA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303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DEFENSA DE PASANTÍAS PROFESIONALES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6492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 DE SIMPLIFICACIÓN ADMINISTRATIVA DE LA PROCURA EN LUBRICANTES Y EQUIPOS VARYNA, C.A.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47091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Keidy Guzmán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5166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Administración · IUTECP ·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0" y="530352"/>
            <a:ext cx="3730752" cy="5779008"/>
          </a:xfrm>
          <a:prstGeom prst="rect">
            <a:avLst/>
          </a:prstGeom>
          <a:solidFill>
            <a:srgbClr val="EAD0C6"/>
          </a:solidFill>
          <a:ln w="15240">
            <a:solidFill>
              <a:srgbClr val="A3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731520"/>
            <a:ext cx="3328416" cy="5376672"/>
          </a:xfrm>
          <a:prstGeom prst="rect">
            <a:avLst/>
          </a:prstGeom>
          <a:solidFill>
            <a:srgbClr val="EAD0C6">
              <a:alpha val="0"/>
            </a:srgbClr>
          </a:solidFill>
          <a:ln w="10160">
            <a:solidFill>
              <a:srgbClr val="A33A2E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987552"/>
            <a:ext cx="272491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/home/user/Documentos/tarea_pasantia/compartido/iute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520" y="1097280"/>
            <a:ext cx="2158513" cy="69494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842248" y="2148840"/>
            <a:ext cx="1627632" cy="1627632"/>
          </a:xfrm>
          <a:prstGeom prst="rect">
            <a:avLst/>
          </a:prstGeom>
          <a:solidFill>
            <a:srgbClr val="FFFFFF"/>
          </a:solidFill>
          <a:ln w="8890">
            <a:solidFill>
              <a:srgbClr val="D9B8AA"/>
            </a:solidFill>
            <a:prstDash val="solid"/>
          </a:ln>
        </p:spPr>
      </p:sp>
      <p:pic>
        <p:nvPicPr>
          <p:cNvPr id="12" name="Image 1" descr="/home/user/Documentos/tarea_pasantia/keidy/imagenes/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8" y="2286000"/>
            <a:ext cx="1353312" cy="135331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549640" y="4078224"/>
            <a:ext cx="2176272" cy="365760"/>
          </a:xfrm>
          <a:prstGeom prst="rect">
            <a:avLst/>
          </a:prstGeom>
          <a:solidFill>
            <a:srgbClr val="FBF6E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41080" y="4151376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DIAGNÓSTICO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8549640" y="4608576"/>
            <a:ext cx="2176272" cy="365760"/>
          </a:xfrm>
          <a:prstGeom prst="rect">
            <a:avLst/>
          </a:prstGeom>
          <a:solidFill>
            <a:srgbClr val="E5F3EC"/>
          </a:solidFill>
          <a:ln w="12700">
            <a:solidFill>
              <a:srgbClr val="1F6F5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41080" y="46817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PROPUESTA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8549640" y="5138928"/>
            <a:ext cx="2176272" cy="365760"/>
          </a:xfrm>
          <a:prstGeom prst="rect">
            <a:avLst/>
          </a:prstGeom>
          <a:solidFill>
            <a:srgbClr val="FBF6E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41080" y="521208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CONTROL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DEFENSA DE PASANTÍAS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58368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627632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III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596896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IV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566160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35424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AGENDA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1554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de la socialización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58368" y="3044952"/>
            <a:ext cx="2103120" cy="2029968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044952"/>
            <a:ext cx="2103120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154680"/>
            <a:ext cx="181051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I</a:t>
            </a:r>
            <a:endParaRPr lang="en-US" sz="7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Realidad organizacional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944368" y="3044952"/>
            <a:ext cx="2103120" cy="2029968"/>
          </a:xfrm>
          <a:prstGeom prst="rect">
            <a:avLst/>
          </a:prstGeom>
          <a:solidFill>
            <a:srgbClr val="F2E3D8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4368" y="3044952"/>
            <a:ext cx="2103120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154680"/>
            <a:ext cx="181051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II</a:t>
            </a:r>
            <a:endParaRPr lang="en-US" sz="7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situacional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30368" y="3044952"/>
            <a:ext cx="2103120" cy="2029968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0368" y="3044952"/>
            <a:ext cx="2103120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3154680"/>
            <a:ext cx="181051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III</a:t>
            </a:r>
            <a:endParaRPr lang="en-US" sz="7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teórico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516368" y="3044952"/>
            <a:ext cx="2103120" cy="2029968"/>
          </a:xfrm>
          <a:prstGeom prst="rect">
            <a:avLst/>
          </a:prstGeom>
          <a:solidFill>
            <a:srgbClr val="F2E3D8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16368" y="3044952"/>
            <a:ext cx="2103120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62672" y="3154680"/>
            <a:ext cx="181051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IV</a:t>
            </a:r>
            <a:endParaRPr lang="en-US" sz="7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Actividades realizadas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02368" y="3044952"/>
            <a:ext cx="2103120" cy="2029968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02368" y="3044952"/>
            <a:ext cx="2103120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48672" y="3154680"/>
            <a:ext cx="181051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V</a:t>
            </a:r>
            <a:endParaRPr lang="en-US" sz="7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recomendaciones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DEFENSA DE PASANTÍAS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58368" y="6464808"/>
            <a:ext cx="841248" cy="64008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627632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III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596896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IV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566160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35424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I · REALIDAD ORGANIZACIONAL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9601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Empresa y área de pasantía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13232" y="1828800"/>
            <a:ext cx="2834640" cy="3639312"/>
          </a:xfrm>
          <a:prstGeom prst="rect">
            <a:avLst/>
          </a:prstGeom>
          <a:solidFill>
            <a:srgbClr val="EAD0C6"/>
          </a:solidFill>
          <a:ln w="11430">
            <a:solidFill>
              <a:srgbClr val="A33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3584" y="2176272"/>
            <a:ext cx="1773936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0" descr="/home/user/Documentos/tarea_pasantia/keidy/imagene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304288"/>
            <a:ext cx="1517904" cy="151790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14400" y="4251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años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14400" y="4681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 trayectoria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840480" y="1828800"/>
            <a:ext cx="3429000" cy="98755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840480" y="1828800"/>
            <a:ext cx="64008" cy="987552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86784" y="1938528"/>
            <a:ext cx="3136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EMPRESA</a:t>
            </a:r>
            <a:endParaRPr lang="en-US" sz="75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Lubricantes y Equipos Varyna, C.A.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7635240" y="1828800"/>
            <a:ext cx="3429000" cy="98755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35240" y="1828800"/>
            <a:ext cx="64008" cy="987552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81544" y="1938528"/>
            <a:ext cx="3136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SECTOR</a:t>
            </a:r>
            <a:endParaRPr lang="en-US" sz="75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Petrolero · Industrial · Construcción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840480" y="3054096"/>
            <a:ext cx="3429000" cy="98755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840480" y="3054096"/>
            <a:ext cx="64008" cy="987552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86784" y="3163824"/>
            <a:ext cx="3136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ÁREA</a:t>
            </a:r>
            <a:endParaRPr lang="en-US" sz="75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Departamento Administrativo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635240" y="3054096"/>
            <a:ext cx="3429000" cy="98755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635240" y="3054096"/>
            <a:ext cx="64008" cy="987552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81544" y="3163824"/>
            <a:ext cx="3136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FOCO</a:t>
            </a:r>
            <a:endParaRPr lang="en-US" sz="75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 de bienes, materiales e insumos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3840480" y="4498848"/>
            <a:ext cx="1371600" cy="82296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913632" y="4572000"/>
            <a:ext cx="1225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7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Requisición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202936" y="480060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303520" y="4498848"/>
            <a:ext cx="1371600" cy="82296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76672" y="4572000"/>
            <a:ext cx="1225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Cotización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665976" y="480060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766560" y="4498848"/>
            <a:ext cx="1371600" cy="82296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39712" y="4572000"/>
            <a:ext cx="1225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Aprobación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8129016" y="480060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229600" y="4498848"/>
            <a:ext cx="1371600" cy="82296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302752" y="4572000"/>
            <a:ext cx="1225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7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9592056" y="480060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692640" y="4498848"/>
            <a:ext cx="1371600" cy="82296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765792" y="4572000"/>
            <a:ext cx="1225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7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Seguimiento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DEFENSA DE PASANTÍAS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58368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627632" y="6464808"/>
            <a:ext cx="841248" cy="64008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III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596896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IV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566160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35424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II · DIAGNÓSTICO SITUACIONAL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960120"/>
            <a:ext cx="10789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 realizado, pero con oportunidades de organización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58368" y="2103120"/>
            <a:ext cx="2542032" cy="107899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2103120"/>
            <a:ext cx="2542032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212848"/>
            <a:ext cx="22494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HALLAZGO 1</a:t>
            </a:r>
            <a:endParaRPr lang="en-US" sz="7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 de recepción no único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29000" y="2103120"/>
            <a:ext cx="2542032" cy="107899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2103120"/>
            <a:ext cx="2542032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5304" y="2212848"/>
            <a:ext cx="22494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HALLAZGO 2</a:t>
            </a:r>
            <a:endParaRPr lang="en-US" sz="7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Formatos no uniformes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199632" y="2103120"/>
            <a:ext cx="2542032" cy="1078992"/>
          </a:xfrm>
          <a:prstGeom prst="rect">
            <a:avLst/>
          </a:prstGeom>
          <a:solidFill>
            <a:srgbClr val="EAD0C6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9632" y="2103120"/>
            <a:ext cx="2542032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2212848"/>
            <a:ext cx="22494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HALLAZGO 3</a:t>
            </a:r>
            <a:endParaRPr lang="en-US" sz="7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Cuellos de botella en aprobaciones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970264" y="2103120"/>
            <a:ext cx="2542032" cy="107899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70264" y="2103120"/>
            <a:ext cx="2542032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16568" y="2212848"/>
            <a:ext cx="22494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HALLAZGO 4</a:t>
            </a:r>
            <a:endParaRPr lang="en-US" sz="7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Seguimiento e indicadores limitados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60120" y="3502152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“El proceso no estaba mal, pero podía estar mejor organizado.”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13232" y="4315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OBJETIVOS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965960" y="4160520"/>
            <a:ext cx="2801112" cy="960120"/>
          </a:xfrm>
          <a:prstGeom prst="rect">
            <a:avLst/>
          </a:prstGeom>
          <a:solidFill>
            <a:srgbClr val="EAD0C6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39112" y="4233672"/>
            <a:ext cx="26548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7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Diagnosticar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57928" y="45308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1664" y="4160520"/>
            <a:ext cx="2801112" cy="960120"/>
          </a:xfrm>
          <a:prstGeom prst="rect">
            <a:avLst/>
          </a:prstGeom>
          <a:solidFill>
            <a:srgbClr val="EAD0C6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04816" y="4233672"/>
            <a:ext cx="26548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723632" y="45308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897368" y="4160520"/>
            <a:ext cx="2801112" cy="960120"/>
          </a:xfrm>
          <a:prstGeom prst="rect">
            <a:avLst/>
          </a:prstGeom>
          <a:solidFill>
            <a:srgbClr val="EAD0C6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70520" y="4233672"/>
            <a:ext cx="26548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DEFENSA DE PASANTÍAS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58368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627632" y="6464808"/>
            <a:ext cx="841248" cy="64008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III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596896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IV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566160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35424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II · TÉCNICA DE DIAGNÓSTICO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9601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e Ishikawa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13232" y="1874520"/>
            <a:ext cx="2834640" cy="530352"/>
          </a:xfrm>
          <a:prstGeom prst="rect">
            <a:avLst/>
          </a:prstGeom>
          <a:solidFill>
            <a:srgbClr val="EAD0C6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19476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Observación directa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" y="2569464"/>
            <a:ext cx="2834640" cy="530352"/>
          </a:xfrm>
          <a:prstGeom prst="rect">
            <a:avLst/>
          </a:prstGeom>
          <a:solidFill>
            <a:srgbClr val="FBF6EE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6426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Entrevista estructurada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" y="3264408"/>
            <a:ext cx="2834640" cy="530352"/>
          </a:xfrm>
          <a:prstGeom prst="rect">
            <a:avLst/>
          </a:prstGeom>
          <a:solidFill>
            <a:srgbClr val="EAD0C6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337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Revisión documental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" y="3959352"/>
            <a:ext cx="2834640" cy="530352"/>
          </a:xfrm>
          <a:prstGeom prst="rect">
            <a:avLst/>
          </a:prstGeom>
          <a:solidFill>
            <a:srgbClr val="FBF6EE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0325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Análisis de tiempos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73659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TÉCNICAS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822192" y="1810512"/>
            <a:ext cx="7662672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B8AA"/>
            </a:solidFill>
            <a:prstDash val="solid"/>
          </a:ln>
        </p:spPr>
      </p:sp>
      <p:pic>
        <p:nvPicPr>
          <p:cNvPr id="29" name="Image 0" descr="/home/user/Documentos/tarea_pasantia/keidy/imagenes/ishikawa_keidy_proc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6784" y="2182698"/>
            <a:ext cx="7333488" cy="2218285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3822192" y="4956048"/>
            <a:ext cx="1755648" cy="384048"/>
          </a:xfrm>
          <a:prstGeom prst="rect">
            <a:avLst/>
          </a:prstGeom>
          <a:solidFill>
            <a:srgbClr val="E5F3EC"/>
          </a:solidFill>
          <a:ln w="12700">
            <a:solidFill>
              <a:srgbClr val="1F6F5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13632" y="502920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Procedimientos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742432" y="4956048"/>
            <a:ext cx="1755648" cy="384048"/>
          </a:xfrm>
          <a:prstGeom prst="rect">
            <a:avLst/>
          </a:prstGeom>
          <a:solidFill>
            <a:srgbClr val="E5F3EC"/>
          </a:solidFill>
          <a:ln w="12700">
            <a:solidFill>
              <a:srgbClr val="1F6F5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33872" y="502920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Responsabilidades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662672" y="4956048"/>
            <a:ext cx="1755648" cy="384048"/>
          </a:xfrm>
          <a:prstGeom prst="rect">
            <a:avLst/>
          </a:prstGeom>
          <a:solidFill>
            <a:srgbClr val="E5F3EC"/>
          </a:solidFill>
          <a:ln w="12700">
            <a:solidFill>
              <a:srgbClr val="1F6F5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54112" y="502920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Documentación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582912" y="4956048"/>
            <a:ext cx="1755648" cy="384048"/>
          </a:xfrm>
          <a:prstGeom prst="rect">
            <a:avLst/>
          </a:prstGeom>
          <a:solidFill>
            <a:srgbClr val="E5F3EC"/>
          </a:solidFill>
          <a:ln w="12700">
            <a:solidFill>
              <a:srgbClr val="1F6F5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74352" y="502920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Seguimiento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914400" y="55046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Ishikawa = herramienta para organizar causas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DEFENSA DE PASANTÍAS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58368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627632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III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596896" y="6464808"/>
            <a:ext cx="841248" cy="64008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IV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566160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35424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III · MARCO TEÓRICO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9601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conceptos que sostienen la propuesta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13232" y="1901952"/>
            <a:ext cx="5074920" cy="1225296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1901952"/>
            <a:ext cx="64008" cy="1225296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2011680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75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 y gestión de compras</a:t>
            </a:r>
            <a:endParaRPr lang="en-US" sz="7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Gestionar necesidades, proveedores y adquisiciones.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44768" y="1901952"/>
            <a:ext cx="5074920" cy="1225296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1901952"/>
            <a:ext cx="64008" cy="1225296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2011680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5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interno</a:t>
            </a:r>
            <a:endParaRPr lang="en-US" sz="7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Mantener verificaciones, documentos y responsabilidades.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3232" y="3383280"/>
            <a:ext cx="5074920" cy="1225296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3383280"/>
            <a:ext cx="64008" cy="1225296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3493008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5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Simplificación administrativa</a:t>
            </a:r>
            <a:endParaRPr lang="en-US" sz="7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Reducir demoras y organizar el proceso.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144768" y="3383280"/>
            <a:ext cx="5074920" cy="1225296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4768" y="3383280"/>
            <a:ext cx="64008" cy="1225296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3493008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75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Trazabilidad documental</a:t>
            </a:r>
            <a:endParaRPr lang="en-US" sz="7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Seguir el recorrido completo de cada solicitud.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3232" y="5047488"/>
            <a:ext cx="10515600" cy="658368"/>
          </a:xfrm>
          <a:prstGeom prst="rect">
            <a:avLst/>
          </a:prstGeom>
          <a:solidFill>
            <a:srgbClr val="EAD0C6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2395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9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BASES LEGALES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331720" y="51663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Constitución, Art. 112  ·  Código de Comercio, Art. 32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DEFENSA DE PASANTÍAS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58368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627632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III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596896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IV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566160" y="6464808"/>
            <a:ext cx="841248" cy="64008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35424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IV · ACTIVIDADES REALIZADAS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9601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actividades principales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49808" y="1938528"/>
            <a:ext cx="5074920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1938528"/>
            <a:ext cx="64008" cy="1353312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2048256"/>
            <a:ext cx="47823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SEMANAS 1–2</a:t>
            </a:r>
            <a:endParaRPr lang="en-US" sz="75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Observar y levantar el proceso</a:t>
            </a:r>
            <a:endParaRPr lang="en-US" sz="75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Recepción de solicitudes y recorrido de requisiciones.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44768" y="1938528"/>
            <a:ext cx="5074920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1938528"/>
            <a:ext cx="64008" cy="1353312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2048256"/>
            <a:ext cx="47823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SEMANAS 3–4</a:t>
            </a:r>
            <a:endParaRPr lang="en-US" sz="75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Entrevistar, revisar y analizar tiempos</a:t>
            </a:r>
            <a:endParaRPr lang="en-US" sz="75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Personal, expedientes y etapas con posibles retrasos.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49808" y="3657600"/>
            <a:ext cx="5074920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3657600"/>
            <a:ext cx="64008" cy="1353312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767328"/>
            <a:ext cx="47823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SEMANA 5</a:t>
            </a:r>
            <a:endParaRPr lang="en-US" sz="75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Elaborar el Ishikawa</a:t>
            </a:r>
            <a:endParaRPr lang="en-US" sz="75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Organización de causas relacionadas con la problemática.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144768" y="3657600"/>
            <a:ext cx="5074920" cy="1353312"/>
          </a:xfrm>
          <a:prstGeom prst="rect">
            <a:avLst/>
          </a:prstGeom>
          <a:solidFill>
            <a:srgbClr val="E5F3EC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4768" y="3657600"/>
            <a:ext cx="64008" cy="1353312"/>
          </a:xfrm>
          <a:prstGeom prst="rect">
            <a:avLst/>
          </a:prstGeom>
          <a:solidFill>
            <a:srgbClr val="1F6F5B"/>
          </a:solidFill>
          <a:ln w="12700">
            <a:solidFill>
              <a:srgbClr val="1F6F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3767328"/>
            <a:ext cx="47823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SEMANAS 6–9</a:t>
            </a:r>
            <a:endParaRPr lang="en-US" sz="75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Diseñar y validar la propuesta</a:t>
            </a:r>
            <a:endParaRPr lang="en-US" sz="75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Flujo, formatos, autorizaciones e indicadores.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127248" y="5376672"/>
            <a:ext cx="5943600" cy="438912"/>
          </a:xfrm>
          <a:prstGeom prst="rect">
            <a:avLst/>
          </a:prstGeom>
          <a:solidFill>
            <a:srgbClr val="EAD0C6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18688" y="544982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SEMANA 10  →  cierre y consolidación del informe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DEFENSA DE PASANTÍAS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58368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627632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III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596896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IV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566160" y="6464808"/>
            <a:ext cx="841248" cy="64008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35424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IV · PROPUESTA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9601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Simplificar sin perder el control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" y="16642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TO-BE organiza el recorrido y deja visibles las verificaciones.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194767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TO-BE PROPUESTO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49808" y="2176272"/>
            <a:ext cx="2788920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1F6F5B"/>
            </a:solidFill>
            <a:prstDash val="solid"/>
          </a:ln>
        </p:spPr>
      </p:sp>
      <p:pic>
        <p:nvPicPr>
          <p:cNvPr id="22" name="Image 0" descr="/home/user/Documentos/tarea_pasantia/keidy/imagenes/03_flujo_to_be_proc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831" y="2304288"/>
            <a:ext cx="1366873" cy="334670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005072" y="2029968"/>
            <a:ext cx="3456432" cy="96012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05072" y="2029968"/>
            <a:ext cx="64008" cy="96012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51376" y="2139696"/>
            <a:ext cx="31638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7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simplificado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754112" y="2029968"/>
            <a:ext cx="3456432" cy="96012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54112" y="2029968"/>
            <a:ext cx="64008" cy="96012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00416" y="2139696"/>
            <a:ext cx="31638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Responsables definidos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4005072" y="3227832"/>
            <a:ext cx="3456432" cy="96012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005072" y="3227832"/>
            <a:ext cx="64008" cy="96012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51376" y="3337560"/>
            <a:ext cx="31638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Formatos estandarizados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7754112" y="3227832"/>
            <a:ext cx="3456432" cy="96012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54112" y="3227832"/>
            <a:ext cx="64008" cy="96012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00416" y="3337560"/>
            <a:ext cx="31638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7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Matriz de autorización por monto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005072" y="4434840"/>
            <a:ext cx="7479792" cy="804672"/>
          </a:xfrm>
          <a:prstGeom prst="rect">
            <a:avLst/>
          </a:prstGeom>
          <a:solidFill>
            <a:srgbClr val="E5F3EC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005072" y="4434840"/>
            <a:ext cx="64008" cy="804672"/>
          </a:xfrm>
          <a:prstGeom prst="rect">
            <a:avLst/>
          </a:prstGeom>
          <a:solidFill>
            <a:srgbClr val="1F6F5B"/>
          </a:solidFill>
          <a:ln w="12700">
            <a:solidFill>
              <a:srgbClr val="1F6F5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151376" y="4544568"/>
            <a:ext cx="7187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7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Indicadores de seguimiento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023360" y="546811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Simplificar ≠ eliminar controles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6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Simplificar = organizar mejor el proceso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DEFENSA DE PASANTÍAS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09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58368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627632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III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596896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IV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566160" y="6464808"/>
            <a:ext cx="841248" cy="32004"/>
          </a:xfrm>
          <a:prstGeom prst="rect">
            <a:avLst/>
          </a:prstGeom>
          <a:solidFill>
            <a:srgbClr val="D9B8AA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629107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35424" y="6464808"/>
            <a:ext cx="841248" cy="64008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V · CONCLUSIONES Y RECOMENDACIONES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9601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principales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58368" y="1755648"/>
            <a:ext cx="3474720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1755648"/>
            <a:ext cx="64008" cy="141732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1865376"/>
            <a:ext cx="318211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 · DIAGNÓSTICO</a:t>
            </a:r>
            <a:endParaRPr lang="en-US" sz="7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recorrido puede simplificarse.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389120" y="1755648"/>
            <a:ext cx="3474720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1755648"/>
            <a:ext cx="64008" cy="141732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5424" y="1865376"/>
            <a:ext cx="318211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· HALLAZGOS</a:t>
            </a:r>
            <a:endParaRPr lang="en-US" sz="7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Formatos, autorizaciones, seguimiento e indicadores requieren mejora.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119872" y="1755648"/>
            <a:ext cx="3474720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9872" y="1755648"/>
            <a:ext cx="64008" cy="141732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1865376"/>
            <a:ext cx="318211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· PROPUESTA</a:t>
            </a:r>
            <a:endParaRPr lang="en-US" sz="7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+ responsables + formatos + autorizaciones + indicadores.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85800" y="3456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RECOMENDACIONES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3794760"/>
            <a:ext cx="3474720" cy="1325880"/>
          </a:xfrm>
          <a:prstGeom prst="rect">
            <a:avLst/>
          </a:prstGeom>
          <a:solidFill>
            <a:srgbClr val="EAD0C6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3794760"/>
            <a:ext cx="64008" cy="132588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3904488"/>
            <a:ext cx="318211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EMPRESA</a:t>
            </a:r>
            <a:endParaRPr lang="en-US" sz="75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Implementación gradual y revisión de indicadores.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389120" y="3794760"/>
            <a:ext cx="3474720" cy="1325880"/>
          </a:xfrm>
          <a:prstGeom prst="rect">
            <a:avLst/>
          </a:prstGeom>
          <a:solidFill>
            <a:srgbClr val="EAD0C6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3794760"/>
            <a:ext cx="64008" cy="132588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35424" y="3904488"/>
            <a:ext cx="318211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IUTECP</a:t>
            </a:r>
            <a:endParaRPr lang="en-US" sz="75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Mantener el acompañamiento académico.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119872" y="3794760"/>
            <a:ext cx="3474720" cy="1325880"/>
          </a:xfrm>
          <a:prstGeom prst="rect">
            <a:avLst/>
          </a:prstGeom>
          <a:solidFill>
            <a:srgbClr val="EAD0C6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19872" y="3794760"/>
            <a:ext cx="64008" cy="132588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66176" y="3904488"/>
            <a:ext cx="318211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FUTUROS PASANTES</a:t>
            </a:r>
            <a:endParaRPr lang="en-US" sz="75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Registrar actividades y evidencias.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965960" y="5440680"/>
            <a:ext cx="8229600" cy="420624"/>
          </a:xfrm>
          <a:prstGeom prst="rect">
            <a:avLst/>
          </a:prstGeom>
          <a:solidFill>
            <a:srgbClr val="FBF6EE"/>
          </a:solidFill>
          <a:ln w="12700">
            <a:solidFill>
              <a:srgbClr val="D9B8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57400" y="5513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Aprendizaje: planificación · organización · control · análisis de procesos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EAD0C6"/>
          </a:solidFill>
          <a:ln w="12700">
            <a:solidFill>
              <a:srgbClr val="EAD0C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1627632"/>
            <a:ext cx="6492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“El proceso no estaba mal; podía estar mejor organizado, ser más fácil de seguir y mantener controles más claros.”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49808" y="47091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 por su atención.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49808" y="51937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Quedo atenta a sus preguntas.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58200" y="1143000"/>
            <a:ext cx="3063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home/user/Documentos/tarea_pasantia/compartido/iute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4393" y="1298448"/>
            <a:ext cx="2101710" cy="676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235440" y="2578608"/>
            <a:ext cx="1508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B8AA"/>
            </a:solidFill>
            <a:prstDash val="solid"/>
          </a:ln>
        </p:spPr>
      </p:sp>
      <p:pic>
        <p:nvPicPr>
          <p:cNvPr id="10" name="Image 1" descr="/home/user/Documentos/tarea_pasantia/keidy/imagenes/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456" y="2706624"/>
            <a:ext cx="1252728" cy="12527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66760" y="4617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KEIDY GUZMÁN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366760" y="5010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Administración · IUTECP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erdan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IUTECP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simplificación administrativa de la procura en Lubricantes y Equipos Varyna, C.A.</dc:title>
  <dc:subject>Defensa de Pasantías Profesionales</dc:subject>
  <dc:creator>Keidy Guzmán</dc:creator>
  <cp:lastModifiedBy>Keidy Guzmán</cp:lastModifiedBy>
  <cp:revision>1</cp:revision>
  <dcterms:created xsi:type="dcterms:W3CDTF">2026-09-06T19:32:37Z</dcterms:created>
  <dcterms:modified xsi:type="dcterms:W3CDTF">2026-09-06T19:32:37Z</dcterms:modified>
</cp:coreProperties>
</file>