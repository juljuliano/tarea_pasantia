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Aptos" charset="1" panose="020B00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Saludar al jurado y presentar a Amaal Alrifaai Alrifaaie, estudiante de Administración del IUTECP. Leer el título oficial e indicar que las pasantías se realizaron en IDETEL. Explicar que la defensa seguirá la secuencia de los cinco capítulos del informe.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brevemente la agenda. La presentación seguirá la misma secuencia de los cinco capítulos: realidad organizacional, diagnóstico situacional, marco teórico, actividades realizadas y conclusiones y recomendaciones.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a IDETEL como una empresa ubicada en El Tigre con más de cuatro décadas de experiencia en telecomunicaciones y automatización. Explicar la rotación: Atención al Cliente durante las semanas 1 a 3 y Administración desde la semana 4 hasta la 10. Mencionar recepción, pagos, facturación, documentos, seguimiento y reportes.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que la empresa atendía las solicitudes, pero no contaba con un procedimiento único y formalizado desde la recepción hasta el cierre. Mencionar las cuatro manifestaciones: formatos no uniformes, estatus distribuido, falta de tiempos de referencia y comunicación fragmentada. Leer la interrogante y presentar los objetivos en orden: diagnosticar, identificar y formular.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que el diagnóstico combinó observación, revisión de registros, entrevistas y el Ishikawa. Señalar las cuatro dimensiones: procedimiento, comunicación, registro y seguimiento. Cerrar con el hallazgo central: el problema no era recibir la solicitud, sino mantener visible su continuidad hasta el cierre.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que el diagnóstico combinó observación, revisión de registros, entrevistas y el Ishikawa. Señalar las cuatro dimensiones: procedimiento, comunicación, registro y seguimiento. Cerrar con el hallazgo central: el problema no era recibir la solicitud, sino mantener visible su continuidad hasta el cierre.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Explicar solamente los cuatro conceptos más relevantes: control administrativo, gestión de solicitudes, trazabilidad administrativa y estandarización de procedimientos. Mencionar brevemente el artículo 112 de la Constitución y el artículo 32 del Código de Comercio como bases legales.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explicar las diez semanas una por una. Resumirlas en cuatro actividades principales: observar el recorrido, revisar registros y entrevistar, elaborar el Ishikawa, y diseñar y validar mejoras. Mencionar también el apoyo en pagos, facturación, documentación, seguimiento y reportes.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los seis componentes de la propuesta y señalar el flujo. Explicar que cada transferencia deja un responsable y un estado visible. Diferenciar resuelta de cerrada: el cierre exige confirmar y registrar el resultado. Primero se organiza y valida el procedimiento; después se evalúa una herramienta digital.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Presentar los seis componentes de la propuesta y señalar el flujo. Explicar que cada transferencia deja un responsable y un estado visible. Diferenciar resuelta de cerrada: el cierre exige confirmar y registrar el resultado. Primero se organiza y valida el procedimiento; después se evalúa una herramienta digital.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Relacionar cada conclusión con los objetivos específicos: diagnóstico del proceso, deficiencias principales y propuesta formulada. Explicar brevemente las recomendaciones dirigidas a IDETEL, IUTECP y futuros pasantes. Mencionar los aprendizajes administrativos obtenidos.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Cerrar con la idea principal: no basta con recibir o resolver técnicamente una solicitud; también debe conocerse quién la atendió, cuál es su estado, cuánto tiempo lleva y cómo fue cerrada. Agradecer al IUTECP, IDETEL, tutoras y personal de la empresa. Mantener esta diapositiva visible durante las preguntas.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8802" y="1028700"/>
            <a:ext cx="9970396" cy="1963694"/>
            <a:chOff x="0" y="0"/>
            <a:chExt cx="13293861" cy="26182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93861" cy="2618258"/>
            </a:xfrm>
            <a:custGeom>
              <a:avLst/>
              <a:gdLst/>
              <a:ahLst/>
              <a:cxnLst/>
              <a:rect r="r" b="b" t="t" l="l"/>
              <a:pathLst>
                <a:path h="2618258" w="13293861">
                  <a:moveTo>
                    <a:pt x="0" y="0"/>
                  </a:moveTo>
                  <a:lnTo>
                    <a:pt x="13293861" y="0"/>
                  </a:lnTo>
                  <a:lnTo>
                    <a:pt x="13293861" y="2618258"/>
                  </a:lnTo>
                  <a:lnTo>
                    <a:pt x="0" y="26182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14" r="20210" b="88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293861" cy="26277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 spc="262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REPÚBLICA BOLIVARIANA DE VENEZUELA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9" spc="262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MINISTERIO DEL PODER POPULAR PARA LA EDUCACIÓN UNIVERSITARIA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9" spc="262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INSTITUTO UNIVERSITARIO DE TECNOLOGÍA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9" spc="262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“ELÍAS CALIXTO POMPA”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9" spc="262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 TIGRE - ESTADO ANZOÁTEGUI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15037" y="3078560"/>
            <a:ext cx="10057925" cy="4320540"/>
            <a:chOff x="0" y="0"/>
            <a:chExt cx="13410567" cy="576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0567" cy="5760720"/>
            </a:xfrm>
            <a:custGeom>
              <a:avLst/>
              <a:gdLst/>
              <a:ahLst/>
              <a:cxnLst/>
              <a:rect r="r" b="b" t="t" l="l"/>
              <a:pathLst>
                <a:path h="5760720" w="13410567">
                  <a:moveTo>
                    <a:pt x="0" y="0"/>
                  </a:moveTo>
                  <a:lnTo>
                    <a:pt x="13410567" y="0"/>
                  </a:lnTo>
                  <a:lnTo>
                    <a:pt x="13410567" y="5760720"/>
                  </a:lnTo>
                  <a:lnTo>
                    <a:pt x="0" y="576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03" t="0" r="-3526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3410567" cy="5760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0"/>
                </a:lnSpc>
              </a:pPr>
              <a:r>
                <a:rPr lang="en-US" sz="370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Evaluación del control administrativo aplicado a la gestión de solicitudes de servicios de telecomunicaciones en la empresa Ingeniería de Telecomunicaciones, C.A.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129198" y="6864928"/>
            <a:ext cx="2643256" cy="1335044"/>
            <a:chOff x="0" y="0"/>
            <a:chExt cx="10239732" cy="5171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39732" cy="5171838"/>
            </a:xfrm>
            <a:custGeom>
              <a:avLst/>
              <a:gdLst/>
              <a:ahLst/>
              <a:cxnLst/>
              <a:rect r="r" b="b" t="t" l="l"/>
              <a:pathLst>
                <a:path h="5171838" w="10239732">
                  <a:moveTo>
                    <a:pt x="0" y="0"/>
                  </a:moveTo>
                  <a:lnTo>
                    <a:pt x="10239732" y="0"/>
                  </a:lnTo>
                  <a:lnTo>
                    <a:pt x="10239732" y="5171838"/>
                  </a:lnTo>
                  <a:lnTo>
                    <a:pt x="0" y="51718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58" r="-3587" b="547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239732" cy="51813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Autor: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Alrifaai Alrifaaie, Amaal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C.I.: 31.985.792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2093273" cy="673336"/>
          </a:xfrm>
          <a:custGeom>
            <a:avLst/>
            <a:gdLst/>
            <a:ahLst/>
            <a:cxnLst/>
            <a:rect r="r" b="b" t="t" l="l"/>
            <a:pathLst>
              <a:path h="673336" w="2093273">
                <a:moveTo>
                  <a:pt x="0" y="0"/>
                </a:moveTo>
                <a:lnTo>
                  <a:pt x="2093273" y="0"/>
                </a:lnTo>
                <a:lnTo>
                  <a:pt x="2093273" y="673336"/>
                </a:lnTo>
                <a:lnTo>
                  <a:pt x="0" y="673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27939" y="6482561"/>
            <a:ext cx="2846881" cy="2278019"/>
            <a:chOff x="0" y="0"/>
            <a:chExt cx="4701051" cy="3761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01051" cy="3761690"/>
            </a:xfrm>
            <a:custGeom>
              <a:avLst/>
              <a:gdLst/>
              <a:ahLst/>
              <a:cxnLst/>
              <a:rect r="r" b="b" t="t" l="l"/>
              <a:pathLst>
                <a:path h="3761690" w="4701051">
                  <a:moveTo>
                    <a:pt x="0" y="0"/>
                  </a:moveTo>
                  <a:lnTo>
                    <a:pt x="4701051" y="0"/>
                  </a:lnTo>
                  <a:lnTo>
                    <a:pt x="4701051" y="3761690"/>
                  </a:lnTo>
                  <a:lnTo>
                    <a:pt x="0" y="37616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650" r="-125631" b="3776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701051" cy="3771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Tutor Industrial: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Lic. Lenny Mata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C.I.: 8969750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Tutor Académico.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Dra. Carmen J. Álvarez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C.I.: 14.452.956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AGENDA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226314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Estructura de la socialización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0129" y="4336542"/>
            <a:ext cx="3256026" cy="3448050"/>
            <a:chOff x="0" y="0"/>
            <a:chExt cx="4341368" cy="4597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41368" cy="4597400"/>
            </a:xfrm>
            <a:custGeom>
              <a:avLst/>
              <a:gdLst/>
              <a:ahLst/>
              <a:cxnLst/>
              <a:rect r="r" b="b" t="t" l="l"/>
              <a:pathLst>
                <a:path h="4597400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4597400"/>
                  </a:lnTo>
                  <a:lnTo>
                    <a:pt x="0" y="45974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D9C7E8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129" y="4336542"/>
            <a:ext cx="3256026" cy="128778"/>
            <a:chOff x="0" y="0"/>
            <a:chExt cx="4341368" cy="1717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41368" cy="171704"/>
            </a:xfrm>
            <a:custGeom>
              <a:avLst/>
              <a:gdLst/>
              <a:ahLst/>
              <a:cxnLst/>
              <a:rect r="r" b="b" t="t" l="l"/>
              <a:pathLst>
                <a:path h="171704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29110" y="4853559"/>
            <a:ext cx="2798064" cy="411480"/>
            <a:chOff x="0" y="0"/>
            <a:chExt cx="3730752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30752" cy="548640"/>
            </a:xfrm>
            <a:custGeom>
              <a:avLst/>
              <a:gdLst/>
              <a:ahLst/>
              <a:cxnLst/>
              <a:rect r="r" b="b" t="t" l="l"/>
              <a:pathLst>
                <a:path h="548640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73075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6542" y="5511927"/>
            <a:ext cx="2743200" cy="1371600"/>
            <a:chOff x="0" y="0"/>
            <a:chExt cx="365760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65760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Realidad Organizacional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42845" y="4336542"/>
            <a:ext cx="3256026" cy="3448050"/>
            <a:chOff x="0" y="0"/>
            <a:chExt cx="4341368" cy="459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41368" cy="4597400"/>
            </a:xfrm>
            <a:custGeom>
              <a:avLst/>
              <a:gdLst/>
              <a:ahLst/>
              <a:cxnLst/>
              <a:rect r="r" b="b" t="t" l="l"/>
              <a:pathLst>
                <a:path h="4597400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4597400"/>
                  </a:lnTo>
                  <a:lnTo>
                    <a:pt x="0" y="45974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D9C7E8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842845" y="4336542"/>
            <a:ext cx="3256026" cy="128778"/>
            <a:chOff x="0" y="0"/>
            <a:chExt cx="4341368" cy="1717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41368" cy="171704"/>
            </a:xfrm>
            <a:custGeom>
              <a:avLst/>
              <a:gdLst/>
              <a:ahLst/>
              <a:cxnLst/>
              <a:rect r="r" b="b" t="t" l="l"/>
              <a:pathLst>
                <a:path h="171704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071826" y="4853559"/>
            <a:ext cx="2798064" cy="411480"/>
            <a:chOff x="0" y="0"/>
            <a:chExt cx="3730752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30752" cy="548640"/>
            </a:xfrm>
            <a:custGeom>
              <a:avLst/>
              <a:gdLst/>
              <a:ahLst/>
              <a:cxnLst/>
              <a:rect r="r" b="b" t="t" l="l"/>
              <a:pathLst>
                <a:path h="548640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73075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099258" y="5511927"/>
            <a:ext cx="2743200" cy="1371600"/>
            <a:chOff x="0" y="0"/>
            <a:chExt cx="365760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365760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Diagnóstico Situacional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85561" y="4336542"/>
            <a:ext cx="3256026" cy="3448050"/>
            <a:chOff x="0" y="0"/>
            <a:chExt cx="4341368" cy="4597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41368" cy="4597400"/>
            </a:xfrm>
            <a:custGeom>
              <a:avLst/>
              <a:gdLst/>
              <a:ahLst/>
              <a:cxnLst/>
              <a:rect r="r" b="b" t="t" l="l"/>
              <a:pathLst>
                <a:path h="4597400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4597400"/>
                  </a:lnTo>
                  <a:lnTo>
                    <a:pt x="0" y="45974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D9C7E8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285561" y="4336542"/>
            <a:ext cx="3256026" cy="128778"/>
            <a:chOff x="0" y="0"/>
            <a:chExt cx="4341368" cy="1717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1368" cy="171704"/>
            </a:xfrm>
            <a:custGeom>
              <a:avLst/>
              <a:gdLst/>
              <a:ahLst/>
              <a:cxnLst/>
              <a:rect r="r" b="b" t="t" l="l"/>
              <a:pathLst>
                <a:path h="171704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514542" y="4853559"/>
            <a:ext cx="2798064" cy="411480"/>
            <a:chOff x="0" y="0"/>
            <a:chExt cx="3730752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30752" cy="548640"/>
            </a:xfrm>
            <a:custGeom>
              <a:avLst/>
              <a:gdLst/>
              <a:ahLst/>
              <a:cxnLst/>
              <a:rect r="r" b="b" t="t" l="l"/>
              <a:pathLst>
                <a:path h="548640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73075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III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41974" y="5511927"/>
            <a:ext cx="2743200" cy="1371600"/>
            <a:chOff x="0" y="0"/>
            <a:chExt cx="365760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65760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Marco Teórico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728277" y="4336542"/>
            <a:ext cx="3256026" cy="3448050"/>
            <a:chOff x="0" y="0"/>
            <a:chExt cx="4341368" cy="4597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41368" cy="4597400"/>
            </a:xfrm>
            <a:custGeom>
              <a:avLst/>
              <a:gdLst/>
              <a:ahLst/>
              <a:cxnLst/>
              <a:rect r="r" b="b" t="t" l="l"/>
              <a:pathLst>
                <a:path h="4597400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4597400"/>
                  </a:lnTo>
                  <a:lnTo>
                    <a:pt x="0" y="45974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D9C7E8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728277" y="4336542"/>
            <a:ext cx="3256026" cy="128778"/>
            <a:chOff x="0" y="0"/>
            <a:chExt cx="4341368" cy="17170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41368" cy="171704"/>
            </a:xfrm>
            <a:custGeom>
              <a:avLst/>
              <a:gdLst/>
              <a:ahLst/>
              <a:cxnLst/>
              <a:rect r="r" b="b" t="t" l="l"/>
              <a:pathLst>
                <a:path h="171704" w="4341368">
                  <a:moveTo>
                    <a:pt x="0" y="0"/>
                  </a:moveTo>
                  <a:lnTo>
                    <a:pt x="4341368" y="0"/>
                  </a:lnTo>
                  <a:lnTo>
                    <a:pt x="4341368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957258" y="4853559"/>
            <a:ext cx="2798064" cy="411480"/>
            <a:chOff x="0" y="0"/>
            <a:chExt cx="3730752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30752" cy="548640"/>
            </a:xfrm>
            <a:custGeom>
              <a:avLst/>
              <a:gdLst/>
              <a:ahLst/>
              <a:cxnLst/>
              <a:rect r="r" b="b" t="t" l="l"/>
              <a:pathLst>
                <a:path h="548640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73075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IV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84690" y="5511927"/>
            <a:ext cx="2743200" cy="1371600"/>
            <a:chOff x="0" y="0"/>
            <a:chExt cx="3657600" cy="1828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3657600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Actividades Realizadas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170993" y="4336542"/>
            <a:ext cx="3678778" cy="3448050"/>
            <a:chOff x="0" y="0"/>
            <a:chExt cx="4905037" cy="4597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05037" cy="4597400"/>
            </a:xfrm>
            <a:custGeom>
              <a:avLst/>
              <a:gdLst/>
              <a:ahLst/>
              <a:cxnLst/>
              <a:rect r="r" b="b" t="t" l="l"/>
              <a:pathLst>
                <a:path h="4597400" w="4905037">
                  <a:moveTo>
                    <a:pt x="0" y="0"/>
                  </a:moveTo>
                  <a:lnTo>
                    <a:pt x="4905037" y="0"/>
                  </a:lnTo>
                  <a:lnTo>
                    <a:pt x="4905037" y="4597400"/>
                  </a:lnTo>
                  <a:lnTo>
                    <a:pt x="0" y="45974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D9C7E8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170993" y="4336542"/>
            <a:ext cx="3678778" cy="128778"/>
            <a:chOff x="0" y="0"/>
            <a:chExt cx="4905037" cy="1717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05037" cy="171704"/>
            </a:xfrm>
            <a:custGeom>
              <a:avLst/>
              <a:gdLst/>
              <a:ahLst/>
              <a:cxnLst/>
              <a:rect r="r" b="b" t="t" l="l"/>
              <a:pathLst>
                <a:path h="171704" w="4905037">
                  <a:moveTo>
                    <a:pt x="0" y="0"/>
                  </a:moveTo>
                  <a:lnTo>
                    <a:pt x="4905037" y="0"/>
                  </a:lnTo>
                  <a:lnTo>
                    <a:pt x="4905037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429704" y="4853559"/>
            <a:ext cx="3161355" cy="411480"/>
            <a:chOff x="0" y="0"/>
            <a:chExt cx="421514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15141" cy="548640"/>
            </a:xfrm>
            <a:custGeom>
              <a:avLst/>
              <a:gdLst/>
              <a:ahLst/>
              <a:cxnLst/>
              <a:rect r="r" b="b" t="t" l="l"/>
              <a:pathLst>
                <a:path h="548640" w="4215141">
                  <a:moveTo>
                    <a:pt x="0" y="0"/>
                  </a:moveTo>
                  <a:lnTo>
                    <a:pt x="4215141" y="0"/>
                  </a:lnTo>
                  <a:lnTo>
                    <a:pt x="421514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11491" b="-8249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2151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b="true" sz="2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V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170993" y="5553171"/>
            <a:ext cx="3678778" cy="1371600"/>
            <a:chOff x="0" y="0"/>
            <a:chExt cx="4905037" cy="182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05037" cy="1828800"/>
            </a:xfrm>
            <a:custGeom>
              <a:avLst/>
              <a:gdLst/>
              <a:ahLst/>
              <a:cxnLst/>
              <a:rect r="r" b="b" t="t" l="l"/>
              <a:pathLst>
                <a:path h="1828800" w="4905037">
                  <a:moveTo>
                    <a:pt x="0" y="0"/>
                  </a:moveTo>
                  <a:lnTo>
                    <a:pt x="4905037" y="0"/>
                  </a:lnTo>
                  <a:lnTo>
                    <a:pt x="4905037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552" t="0" r="14879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4905037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Conclusiones y Recomendaciones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 · REALIDAD ORGANIZACIONAL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96785" y="1532001"/>
            <a:ext cx="6842069" cy="987552"/>
            <a:chOff x="0" y="0"/>
            <a:chExt cx="9122759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22759" cy="1316736"/>
            </a:xfrm>
            <a:custGeom>
              <a:avLst/>
              <a:gdLst/>
              <a:ahLst/>
              <a:cxnLst/>
              <a:rect r="r" b="b" t="t" l="l"/>
              <a:pathLst>
                <a:path h="1316736" w="9122759">
                  <a:moveTo>
                    <a:pt x="0" y="0"/>
                  </a:moveTo>
                  <a:lnTo>
                    <a:pt x="9122759" y="0"/>
                  </a:lnTo>
                  <a:lnTo>
                    <a:pt x="912275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-136549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9122759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Empresa y área de pasantía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70835" y="3025614"/>
            <a:ext cx="5093970" cy="5368290"/>
            <a:chOff x="0" y="0"/>
            <a:chExt cx="6791960" cy="7157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196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791960">
                  <a:moveTo>
                    <a:pt x="0" y="0"/>
                  </a:moveTo>
                  <a:lnTo>
                    <a:pt x="6791960" y="0"/>
                  </a:lnTo>
                  <a:lnTo>
                    <a:pt x="6791960" y="7157720"/>
                  </a:lnTo>
                  <a:lnTo>
                    <a:pt x="0" y="7157720"/>
                  </a:lnTo>
                  <a:close/>
                </a:path>
              </a:pathLst>
            </a:custGeom>
            <a:solidFill>
              <a:srgbClr val="080452"/>
            </a:solidFill>
            <a:ln w="19050" cap="sq">
              <a:solidFill>
                <a:srgbClr val="08045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183380" y="4338159"/>
            <a:ext cx="2468880" cy="2468880"/>
            <a:chOff x="0" y="0"/>
            <a:chExt cx="3291840" cy="3291840"/>
          </a:xfrm>
        </p:grpSpPr>
        <p:sp>
          <p:nvSpPr>
            <p:cNvPr name="Freeform 15" id="15" descr="/home/user/Documentos/tarea_pasantia/amaal/imagenes/logo.jpg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16926" y="2161218"/>
            <a:ext cx="7376614" cy="1224402"/>
            <a:chOff x="0" y="0"/>
            <a:chExt cx="8085923" cy="1342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85923" cy="1342136"/>
            </a:xfrm>
            <a:custGeom>
              <a:avLst/>
              <a:gdLst/>
              <a:ahLst/>
              <a:cxnLst/>
              <a:rect r="r" b="b" t="t" l="l"/>
              <a:pathLst>
                <a:path h="1342136" w="8085923">
                  <a:moveTo>
                    <a:pt x="0" y="0"/>
                  </a:moveTo>
                  <a:lnTo>
                    <a:pt x="8085923" y="0"/>
                  </a:lnTo>
                  <a:lnTo>
                    <a:pt x="8085923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516926" y="2161218"/>
            <a:ext cx="139958" cy="1224402"/>
            <a:chOff x="0" y="0"/>
            <a:chExt cx="153416" cy="1342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341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62187" y="2343829"/>
            <a:ext cx="6299789" cy="867555"/>
            <a:chOff x="0" y="0"/>
            <a:chExt cx="6905554" cy="9509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05554" cy="950976"/>
            </a:xfrm>
            <a:custGeom>
              <a:avLst/>
              <a:gdLst/>
              <a:ahLst/>
              <a:cxnLst/>
              <a:rect r="r" b="b" t="t" l="l"/>
              <a:pathLst>
                <a:path h="950976" w="6905554">
                  <a:moveTo>
                    <a:pt x="0" y="0"/>
                  </a:moveTo>
                  <a:lnTo>
                    <a:pt x="6905554" y="0"/>
                  </a:lnTo>
                  <a:lnTo>
                    <a:pt x="6905554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89353" b="-21791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905554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EMPRESA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Ingeniería de Telecomunicaciones, C.A.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16926" y="3629388"/>
            <a:ext cx="7376614" cy="1224402"/>
            <a:chOff x="0" y="0"/>
            <a:chExt cx="8085923" cy="13421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85923" cy="1342136"/>
            </a:xfrm>
            <a:custGeom>
              <a:avLst/>
              <a:gdLst/>
              <a:ahLst/>
              <a:cxnLst/>
              <a:rect r="r" b="b" t="t" l="l"/>
              <a:pathLst>
                <a:path h="1342136" w="8085923">
                  <a:moveTo>
                    <a:pt x="0" y="0"/>
                  </a:moveTo>
                  <a:lnTo>
                    <a:pt x="8085923" y="0"/>
                  </a:lnTo>
                  <a:lnTo>
                    <a:pt x="8085923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16926" y="3629388"/>
            <a:ext cx="139958" cy="1224402"/>
            <a:chOff x="0" y="0"/>
            <a:chExt cx="153416" cy="1342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341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62187" y="3807812"/>
            <a:ext cx="5964440" cy="867555"/>
            <a:chOff x="0" y="0"/>
            <a:chExt cx="6537960" cy="950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37960" cy="950976"/>
            </a:xfrm>
            <a:custGeom>
              <a:avLst/>
              <a:gdLst/>
              <a:ahLst/>
              <a:cxnLst/>
              <a:rect r="r" b="b" t="t" l="l"/>
              <a:pathLst>
                <a:path h="950976" w="6537960">
                  <a:moveTo>
                    <a:pt x="0" y="0"/>
                  </a:moveTo>
                  <a:lnTo>
                    <a:pt x="6537960" y="0"/>
                  </a:lnTo>
                  <a:lnTo>
                    <a:pt x="6537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100000" b="-2179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5379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SECTOR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Telecomunicaciones y automatización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16926" y="5097558"/>
            <a:ext cx="7376614" cy="1224402"/>
            <a:chOff x="0" y="0"/>
            <a:chExt cx="8085923" cy="13421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085923" cy="1342136"/>
            </a:xfrm>
            <a:custGeom>
              <a:avLst/>
              <a:gdLst/>
              <a:ahLst/>
              <a:cxnLst/>
              <a:rect r="r" b="b" t="t" l="l"/>
              <a:pathLst>
                <a:path h="1342136" w="8085923">
                  <a:moveTo>
                    <a:pt x="0" y="0"/>
                  </a:moveTo>
                  <a:lnTo>
                    <a:pt x="8085923" y="0"/>
                  </a:lnTo>
                  <a:lnTo>
                    <a:pt x="8085923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16926" y="5097558"/>
            <a:ext cx="139958" cy="1224402"/>
            <a:chOff x="0" y="0"/>
            <a:chExt cx="153416" cy="13421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341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62187" y="5275982"/>
            <a:ext cx="7031353" cy="867555"/>
            <a:chOff x="0" y="0"/>
            <a:chExt cx="7707463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07463" cy="950976"/>
            </a:xfrm>
            <a:custGeom>
              <a:avLst/>
              <a:gdLst/>
              <a:ahLst/>
              <a:cxnLst/>
              <a:rect r="r" b="b" t="t" l="l"/>
              <a:pathLst>
                <a:path h="950976" w="7707463">
                  <a:moveTo>
                    <a:pt x="0" y="0"/>
                  </a:moveTo>
                  <a:lnTo>
                    <a:pt x="7707463" y="0"/>
                  </a:lnTo>
                  <a:lnTo>
                    <a:pt x="7707463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69652" b="-21791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707463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SEDE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El Tigre, estado Anzoátegui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16926" y="6565728"/>
            <a:ext cx="7376614" cy="1224402"/>
            <a:chOff x="0" y="0"/>
            <a:chExt cx="8085923" cy="1342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85923" cy="1342136"/>
            </a:xfrm>
            <a:custGeom>
              <a:avLst/>
              <a:gdLst/>
              <a:ahLst/>
              <a:cxnLst/>
              <a:rect r="r" b="b" t="t" l="l"/>
              <a:pathLst>
                <a:path h="1342136" w="8085923">
                  <a:moveTo>
                    <a:pt x="0" y="0"/>
                  </a:moveTo>
                  <a:lnTo>
                    <a:pt x="8085923" y="0"/>
                  </a:lnTo>
                  <a:lnTo>
                    <a:pt x="8085923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516926" y="6565728"/>
            <a:ext cx="139958" cy="1224402"/>
            <a:chOff x="0" y="0"/>
            <a:chExt cx="153416" cy="13421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341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862187" y="6744152"/>
            <a:ext cx="5381108" cy="867555"/>
            <a:chOff x="0" y="0"/>
            <a:chExt cx="5898537" cy="9509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98537" cy="950976"/>
            </a:xfrm>
            <a:custGeom>
              <a:avLst/>
              <a:gdLst/>
              <a:ahLst/>
              <a:cxnLst/>
              <a:rect r="r" b="b" t="t" l="l"/>
              <a:pathLst>
                <a:path h="950976" w="5898537">
                  <a:moveTo>
                    <a:pt x="0" y="0"/>
                  </a:moveTo>
                  <a:lnTo>
                    <a:pt x="5898537" y="0"/>
                  </a:lnTo>
                  <a:lnTo>
                    <a:pt x="589853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121680" b="-2179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5898537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ÁREA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Atención al Cliente · Semanas 1–3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16926" y="8033898"/>
            <a:ext cx="7376614" cy="1224402"/>
            <a:chOff x="0" y="0"/>
            <a:chExt cx="8085923" cy="13421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85923" cy="1342136"/>
            </a:xfrm>
            <a:custGeom>
              <a:avLst/>
              <a:gdLst/>
              <a:ahLst/>
              <a:cxnLst/>
              <a:rect r="r" b="b" t="t" l="l"/>
              <a:pathLst>
                <a:path h="1342136" w="8085923">
                  <a:moveTo>
                    <a:pt x="0" y="0"/>
                  </a:moveTo>
                  <a:lnTo>
                    <a:pt x="8085923" y="0"/>
                  </a:lnTo>
                  <a:lnTo>
                    <a:pt x="8085923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516926" y="8033898"/>
            <a:ext cx="139958" cy="1224402"/>
            <a:chOff x="0" y="0"/>
            <a:chExt cx="153416" cy="13421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416" cy="1342136"/>
            </a:xfrm>
            <a:custGeom>
              <a:avLst/>
              <a:gdLst/>
              <a:ahLst/>
              <a:cxnLst/>
              <a:rect r="r" b="b" t="t" l="l"/>
              <a:pathLst>
                <a:path h="1342136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342136"/>
                  </a:lnTo>
                  <a:lnTo>
                    <a:pt x="0" y="1342136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862187" y="8212322"/>
            <a:ext cx="5055434" cy="867555"/>
            <a:chOff x="0" y="0"/>
            <a:chExt cx="5541547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41547" cy="950976"/>
            </a:xfrm>
            <a:custGeom>
              <a:avLst/>
              <a:gdLst/>
              <a:ahLst/>
              <a:cxnLst/>
              <a:rect r="r" b="b" t="t" l="l"/>
              <a:pathLst>
                <a:path h="950976" w="5541547">
                  <a:moveTo>
                    <a:pt x="0" y="0"/>
                  </a:moveTo>
                  <a:lnTo>
                    <a:pt x="5541547" y="0"/>
                  </a:lnTo>
                  <a:lnTo>
                    <a:pt x="5541547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-135961" b="-21791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541547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ÁREA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Administración · Semanas 4–10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II · DIAGNÓSTICO SITUACIONAL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1652587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Situación problemática y objetivos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175" y="3206115"/>
            <a:ext cx="16272510" cy="1184910"/>
            <a:chOff x="0" y="0"/>
            <a:chExt cx="21696680" cy="1579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96680" cy="1579880"/>
            </a:xfrm>
            <a:custGeom>
              <a:avLst/>
              <a:gdLst/>
              <a:ahLst/>
              <a:cxnLst/>
              <a:rect r="r" b="b" t="t" l="l"/>
              <a:pathLst>
                <a:path h="1579880" w="21696680">
                  <a:moveTo>
                    <a:pt x="0" y="0"/>
                  </a:moveTo>
                  <a:lnTo>
                    <a:pt x="21696680" y="0"/>
                  </a:lnTo>
                  <a:lnTo>
                    <a:pt x="21696680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30452" y="3237547"/>
            <a:ext cx="15499080" cy="1122045"/>
            <a:chOff x="0" y="0"/>
            <a:chExt cx="20665440" cy="14960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65439" cy="1496060"/>
            </a:xfrm>
            <a:custGeom>
              <a:avLst/>
              <a:gdLst/>
              <a:ahLst/>
              <a:cxnLst/>
              <a:rect r="r" b="b" t="t" l="l"/>
              <a:pathLst>
                <a:path h="14960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496060"/>
                  </a:lnTo>
                  <a:lnTo>
                    <a:pt x="0" y="1496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480" r="0" b="-1948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665440" cy="1496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existía un procedimiento único y formalizado para seguir las solicitudes desde su recepción hasta el cierre.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9175" y="5238750"/>
            <a:ext cx="3790950" cy="1047750"/>
            <a:chOff x="0" y="0"/>
            <a:chExt cx="50546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54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93292" y="5333498"/>
            <a:ext cx="3442716" cy="877304"/>
            <a:chOff x="0" y="0"/>
            <a:chExt cx="4590288" cy="11697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90288" cy="1169739"/>
            </a:xfrm>
            <a:custGeom>
              <a:avLst/>
              <a:gdLst/>
              <a:ahLst/>
              <a:cxnLst/>
              <a:rect r="r" b="b" t="t" l="l"/>
              <a:pathLst>
                <a:path h="1169739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1169739"/>
                  </a:lnTo>
                  <a:lnTo>
                    <a:pt x="0" y="11697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95" r="0" b="-163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590288" cy="1169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Formatos no uniformes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133975" y="5238750"/>
            <a:ext cx="3790950" cy="1047750"/>
            <a:chOff x="0" y="0"/>
            <a:chExt cx="50546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54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308092" y="5412867"/>
            <a:ext cx="3442716" cy="699516"/>
            <a:chOff x="0" y="0"/>
            <a:chExt cx="4590288" cy="9326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90288" cy="932688"/>
            </a:xfrm>
            <a:custGeom>
              <a:avLst/>
              <a:gdLst/>
              <a:ahLst/>
              <a:cxnLst/>
              <a:rect r="r" b="b" t="t" l="l"/>
              <a:pathLst>
                <a:path h="932688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96" r="0" b="-458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90288" cy="932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Estatus distribuido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48775" y="5238750"/>
            <a:ext cx="3790950" cy="1047750"/>
            <a:chOff x="0" y="0"/>
            <a:chExt cx="50546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54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22892" y="5333498"/>
            <a:ext cx="3442716" cy="877304"/>
            <a:chOff x="0" y="0"/>
            <a:chExt cx="4590288" cy="11697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90288" cy="1169739"/>
            </a:xfrm>
            <a:custGeom>
              <a:avLst/>
              <a:gdLst/>
              <a:ahLst/>
              <a:cxnLst/>
              <a:rect r="r" b="b" t="t" l="l"/>
              <a:pathLst>
                <a:path h="1169739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1169739"/>
                  </a:lnTo>
                  <a:lnTo>
                    <a:pt x="0" y="11697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95" r="0" b="-163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590288" cy="1169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 tiempos de referencia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63575" y="5238750"/>
            <a:ext cx="3790950" cy="1047750"/>
            <a:chOff x="0" y="0"/>
            <a:chExt cx="50546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546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054600">
                  <a:moveTo>
                    <a:pt x="0" y="0"/>
                  </a:moveTo>
                  <a:lnTo>
                    <a:pt x="5054600" y="0"/>
                  </a:lnTo>
                  <a:lnTo>
                    <a:pt x="50546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537692" y="5333498"/>
            <a:ext cx="3442716" cy="877304"/>
            <a:chOff x="0" y="0"/>
            <a:chExt cx="4590288" cy="11697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90288" cy="1169739"/>
            </a:xfrm>
            <a:custGeom>
              <a:avLst/>
              <a:gdLst/>
              <a:ahLst/>
              <a:cxnLst/>
              <a:rect r="r" b="b" t="t" l="l"/>
              <a:pathLst>
                <a:path h="1169739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1169739"/>
                  </a:lnTo>
                  <a:lnTo>
                    <a:pt x="0" y="11697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595" r="0" b="-163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590288" cy="1169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b="true" sz="25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Comunicación fragmentada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30655" y="7191375"/>
            <a:ext cx="5025390" cy="1733550"/>
            <a:chOff x="0" y="0"/>
            <a:chExt cx="6700520" cy="2311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30655" y="7191375"/>
            <a:ext cx="115062" cy="1733550"/>
            <a:chOff x="0" y="0"/>
            <a:chExt cx="153416" cy="2311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3416" cy="2311400"/>
            </a:xfrm>
            <a:custGeom>
              <a:avLst/>
              <a:gdLst/>
              <a:ahLst/>
              <a:cxnLst/>
              <a:rect r="r" b="b" t="t" l="l"/>
              <a:pathLst>
                <a:path h="231140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714500" y="7338060"/>
            <a:ext cx="4526280" cy="1440180"/>
            <a:chOff x="0" y="0"/>
            <a:chExt cx="6035040" cy="1920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35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03504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39"/>
                </a:lnSpc>
              </a:pPr>
              <a:r>
                <a:rPr lang="en-US" b="true" sz="34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 · Diagnosticar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recorrido actual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85635" y="7191375"/>
            <a:ext cx="5025390" cy="1733550"/>
            <a:chOff x="0" y="0"/>
            <a:chExt cx="6700520" cy="2311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985635" y="7191375"/>
            <a:ext cx="115062" cy="1733550"/>
            <a:chOff x="0" y="0"/>
            <a:chExt cx="153416" cy="2311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416" cy="2311400"/>
            </a:xfrm>
            <a:custGeom>
              <a:avLst/>
              <a:gdLst/>
              <a:ahLst/>
              <a:cxnLst/>
              <a:rect r="r" b="b" t="t" l="l"/>
              <a:pathLst>
                <a:path h="231140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269480" y="7338060"/>
            <a:ext cx="4526280" cy="1440180"/>
            <a:chOff x="0" y="0"/>
            <a:chExt cx="6035040" cy="1920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35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03504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39"/>
                </a:lnSpc>
              </a:pPr>
              <a:r>
                <a:rPr lang="en-US" b="true" sz="34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· Identificar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deficiencias y causas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540615" y="7191375"/>
            <a:ext cx="5025390" cy="1733550"/>
            <a:chOff x="0" y="0"/>
            <a:chExt cx="6700520" cy="2311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00520" cy="2311400"/>
            </a:xfrm>
            <a:custGeom>
              <a:avLst/>
              <a:gdLst/>
              <a:ahLst/>
              <a:cxnLst/>
              <a:rect r="r" b="b" t="t" l="l"/>
              <a:pathLst>
                <a:path h="2311400" w="6700520">
                  <a:moveTo>
                    <a:pt x="0" y="0"/>
                  </a:moveTo>
                  <a:lnTo>
                    <a:pt x="6700520" y="0"/>
                  </a:lnTo>
                  <a:lnTo>
                    <a:pt x="6700520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540615" y="7191375"/>
            <a:ext cx="115062" cy="1733550"/>
            <a:chOff x="0" y="0"/>
            <a:chExt cx="153416" cy="2311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3416" cy="2311400"/>
            </a:xfrm>
            <a:custGeom>
              <a:avLst/>
              <a:gdLst/>
              <a:ahLst/>
              <a:cxnLst/>
              <a:rect r="r" b="b" t="t" l="l"/>
              <a:pathLst>
                <a:path h="231140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311400"/>
                  </a:lnTo>
                  <a:lnTo>
                    <a:pt x="0" y="231140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824460" y="7338060"/>
            <a:ext cx="4526280" cy="1440180"/>
            <a:chOff x="0" y="0"/>
            <a:chExt cx="6035040" cy="192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350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6035040" cy="192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19"/>
                </a:lnSpc>
              </a:pPr>
              <a:r>
                <a:rPr lang="en-US" b="true" sz="33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· Formular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mejoras procedimentales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II · TÉCNICA DE DIAGNÓSTICO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20518" y="130302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Diagrama de Ishikawa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44318" y="2471547"/>
            <a:ext cx="5353906" cy="1039797"/>
            <a:chOff x="0" y="0"/>
            <a:chExt cx="5969000" cy="1159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EDE3F7">
                <a:alpha val="48627"/>
              </a:srgbClr>
            </a:solidFill>
            <a:ln w="19050" cap="sq">
              <a:solidFill>
                <a:srgbClr val="EDE3F7">
                  <a:alpha val="48627"/>
                </a:srgbClr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752551" y="2679780"/>
            <a:ext cx="4937440" cy="623331"/>
            <a:chOff x="0" y="0"/>
            <a:chExt cx="5504688" cy="6949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04688" cy="694944"/>
            </a:xfrm>
            <a:custGeom>
              <a:avLst/>
              <a:gdLst/>
              <a:ahLst/>
              <a:cxnLst/>
              <a:rect r="r" b="b" t="t" l="l"/>
              <a:pathLst>
                <a:path h="694944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42" r="0" b="-1043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504688" cy="6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Observación directa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44318" y="3816630"/>
            <a:ext cx="5353906" cy="1039797"/>
            <a:chOff x="0" y="0"/>
            <a:chExt cx="5969000" cy="11592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EDE3F7">
                <a:alpha val="48627"/>
              </a:srgbClr>
            </a:solidFill>
            <a:ln w="19050" cap="sq">
              <a:solidFill>
                <a:srgbClr val="EDE3F7">
                  <a:alpha val="48627"/>
                </a:srgbClr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752551" y="4024863"/>
            <a:ext cx="4937440" cy="623331"/>
            <a:chOff x="0" y="0"/>
            <a:chExt cx="5504688" cy="6949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04688" cy="694944"/>
            </a:xfrm>
            <a:custGeom>
              <a:avLst/>
              <a:gdLst/>
              <a:ahLst/>
              <a:cxnLst/>
              <a:rect r="r" b="b" t="t" l="l"/>
              <a:pathLst>
                <a:path h="694944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42" r="0" b="-1043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5504688" cy="6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Revisión de registros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44318" y="5161714"/>
            <a:ext cx="5353906" cy="1039797"/>
            <a:chOff x="0" y="0"/>
            <a:chExt cx="5969000" cy="11592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EDE3F7">
                <a:alpha val="48627"/>
              </a:srgbClr>
            </a:solidFill>
            <a:ln w="19050" cap="sq">
              <a:solidFill>
                <a:srgbClr val="EDE3F7">
                  <a:alpha val="48627"/>
                </a:srgbClr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752551" y="5369947"/>
            <a:ext cx="4937440" cy="623331"/>
            <a:chOff x="0" y="0"/>
            <a:chExt cx="5504688" cy="6949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04688" cy="694944"/>
            </a:xfrm>
            <a:custGeom>
              <a:avLst/>
              <a:gdLst/>
              <a:ahLst/>
              <a:cxnLst/>
              <a:rect r="r" b="b" t="t" l="l"/>
              <a:pathLst>
                <a:path h="694944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42" r="0" b="-10434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504688" cy="6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Entrevistas al personal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44318" y="6506797"/>
            <a:ext cx="5353906" cy="1039797"/>
            <a:chOff x="0" y="0"/>
            <a:chExt cx="5969000" cy="11592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6900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159256"/>
                  </a:lnTo>
                  <a:lnTo>
                    <a:pt x="0" y="1159256"/>
                  </a:lnTo>
                  <a:close/>
                </a:path>
              </a:pathLst>
            </a:custGeom>
            <a:solidFill>
              <a:srgbClr val="EDE3F7">
                <a:alpha val="48627"/>
              </a:srgbClr>
            </a:solidFill>
            <a:ln w="19050" cap="sq">
              <a:solidFill>
                <a:srgbClr val="EDE3F7">
                  <a:alpha val="48627"/>
                </a:srgbClr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752551" y="6715030"/>
            <a:ext cx="4937440" cy="623331"/>
            <a:chOff x="0" y="0"/>
            <a:chExt cx="5504688" cy="6949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04688" cy="694944"/>
            </a:xfrm>
            <a:custGeom>
              <a:avLst/>
              <a:gdLst/>
              <a:ahLst/>
              <a:cxnLst/>
              <a:rect r="r" b="b" t="t" l="l"/>
              <a:pathLst>
                <a:path h="694944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42" r="0" b="-1043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5504688" cy="6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Diagrama de Ishikawa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00464" y="1532001"/>
            <a:ext cx="6647103" cy="6056943"/>
            <a:chOff x="0" y="0"/>
            <a:chExt cx="7325512" cy="6675120"/>
          </a:xfrm>
        </p:grpSpPr>
        <p:sp>
          <p:nvSpPr>
            <p:cNvPr name="Freeform 33" id="33" descr="/home/user/Documentos/tarea_pasantia/amaal/imagenes/ishikawa_amaal_solicitudes.png"/>
            <p:cNvSpPr/>
            <p:nvPr/>
          </p:nvSpPr>
          <p:spPr>
            <a:xfrm flipH="false" flipV="false" rot="0">
              <a:off x="0" y="0"/>
              <a:ext cx="7325487" cy="6675120"/>
            </a:xfrm>
            <a:custGeom>
              <a:avLst/>
              <a:gdLst/>
              <a:ahLst/>
              <a:cxnLst/>
              <a:rect r="r" b="b" t="t" l="l"/>
              <a:pathLst>
                <a:path h="6675120" w="7325487">
                  <a:moveTo>
                    <a:pt x="0" y="0"/>
                  </a:moveTo>
                  <a:lnTo>
                    <a:pt x="7325487" y="0"/>
                  </a:lnTo>
                  <a:lnTo>
                    <a:pt x="7325487" y="6675120"/>
                  </a:lnTo>
                  <a:lnTo>
                    <a:pt x="0" y="667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7755" y="8082915"/>
            <a:ext cx="15998190" cy="1416013"/>
            <a:chOff x="0" y="0"/>
            <a:chExt cx="21330920" cy="18880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330920" cy="1888018"/>
            </a:xfrm>
            <a:custGeom>
              <a:avLst/>
              <a:gdLst/>
              <a:ahLst/>
              <a:cxnLst/>
              <a:rect r="r" b="b" t="t" l="l"/>
              <a:pathLst>
                <a:path h="1888018" w="21330920">
                  <a:moveTo>
                    <a:pt x="0" y="0"/>
                  </a:moveTo>
                  <a:lnTo>
                    <a:pt x="21330920" y="0"/>
                  </a:lnTo>
                  <a:lnTo>
                    <a:pt x="21330920" y="1888018"/>
                  </a:lnTo>
                  <a:lnTo>
                    <a:pt x="0" y="1888018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8288641"/>
            <a:ext cx="15430500" cy="1004561"/>
            <a:chOff x="0" y="0"/>
            <a:chExt cx="20574000" cy="13394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574000" cy="1339415"/>
            </a:xfrm>
            <a:custGeom>
              <a:avLst/>
              <a:gdLst/>
              <a:ahLst/>
              <a:cxnLst/>
              <a:rect r="r" b="b" t="t" l="l"/>
              <a:pathLst>
                <a:path h="1339415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339415"/>
                  </a:lnTo>
                  <a:lnTo>
                    <a:pt x="0" y="1339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087" r="0" b="-22251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0574000" cy="1339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39"/>
                </a:lnSpc>
              </a:pPr>
              <a:r>
                <a:rPr lang="en-US" sz="294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Hallazgo central: el problema no era recibir la solicitud, sino mantener visible su continuidad hasta el cierre.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9341" y="0"/>
            <a:ext cx="11289317" cy="10287000"/>
            <a:chOff x="0" y="0"/>
            <a:chExt cx="7325512" cy="6675120"/>
          </a:xfrm>
        </p:grpSpPr>
        <p:sp>
          <p:nvSpPr>
            <p:cNvPr name="Freeform 3" id="3" descr="/home/user/Documentos/tarea_pasantia/amaal/imagenes/ishikawa_amaal_solicitudes.png"/>
            <p:cNvSpPr/>
            <p:nvPr/>
          </p:nvSpPr>
          <p:spPr>
            <a:xfrm flipH="false" flipV="false" rot="0">
              <a:off x="0" y="0"/>
              <a:ext cx="7325487" cy="6675120"/>
            </a:xfrm>
            <a:custGeom>
              <a:avLst/>
              <a:gdLst/>
              <a:ahLst/>
              <a:cxnLst/>
              <a:rect r="r" b="b" t="t" l="l"/>
              <a:pathLst>
                <a:path h="6675120" w="7325487">
                  <a:moveTo>
                    <a:pt x="0" y="0"/>
                  </a:moveTo>
                  <a:lnTo>
                    <a:pt x="7325487" y="0"/>
                  </a:lnTo>
                  <a:lnTo>
                    <a:pt x="7325487" y="6675120"/>
                  </a:lnTo>
                  <a:lnTo>
                    <a:pt x="0" y="6675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III · MARCO TEÓRICO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130302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Conceptos disciplinares y bases legales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7755" y="2802255"/>
            <a:ext cx="7768590" cy="1637538"/>
            <a:chOff x="0" y="0"/>
            <a:chExt cx="10358120" cy="21833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58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87755" y="2802255"/>
            <a:ext cx="115062" cy="1637538"/>
            <a:chOff x="0" y="0"/>
            <a:chExt cx="153416" cy="21833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416" cy="2183384"/>
            </a:xfrm>
            <a:custGeom>
              <a:avLst/>
              <a:gdLst/>
              <a:ahLst/>
              <a:cxnLst/>
              <a:rect r="r" b="b" t="t" l="l"/>
              <a:pathLst>
                <a:path h="218338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2948940"/>
            <a:ext cx="7269480" cy="1344168"/>
            <a:chOff x="0" y="0"/>
            <a:chExt cx="9692640" cy="17922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78" r="0" b="-553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692640" cy="1792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b="true" sz="3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Control administrativo</a:t>
              </a:r>
            </a:p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Verificar el proceso y corregir desviaciones.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80195" y="2802255"/>
            <a:ext cx="7768590" cy="1637538"/>
            <a:chOff x="0" y="0"/>
            <a:chExt cx="10358120" cy="21833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58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80195" y="2802255"/>
            <a:ext cx="115062" cy="1637538"/>
            <a:chOff x="0" y="0"/>
            <a:chExt cx="153416" cy="2183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416" cy="2183384"/>
            </a:xfrm>
            <a:custGeom>
              <a:avLst/>
              <a:gdLst/>
              <a:ahLst/>
              <a:cxnLst/>
              <a:rect r="r" b="b" t="t" l="l"/>
              <a:pathLst>
                <a:path h="218338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64040" y="2948940"/>
            <a:ext cx="7269480" cy="1344168"/>
            <a:chOff x="0" y="0"/>
            <a:chExt cx="9692640" cy="17922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926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78" r="0" b="-553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692640" cy="1792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b="true" sz="3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Gestión de solicitudes</a:t>
              </a:r>
            </a:p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Recibir, registrar, procesar, seguir y cerrar.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7755" y="4859655"/>
            <a:ext cx="7768590" cy="1637538"/>
            <a:chOff x="0" y="0"/>
            <a:chExt cx="10358120" cy="21833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58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87755" y="4859655"/>
            <a:ext cx="115062" cy="1637538"/>
            <a:chOff x="0" y="0"/>
            <a:chExt cx="153416" cy="21833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416" cy="2183384"/>
            </a:xfrm>
            <a:custGeom>
              <a:avLst/>
              <a:gdLst/>
              <a:ahLst/>
              <a:cxnLst/>
              <a:rect r="r" b="b" t="t" l="l"/>
              <a:pathLst>
                <a:path h="218338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5006340"/>
            <a:ext cx="7269480" cy="1344168"/>
            <a:chOff x="0" y="0"/>
            <a:chExt cx="9692640" cy="17922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926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78" r="0" b="-553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692640" cy="1792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b="true" sz="3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Trazabilidad administrativa</a:t>
              </a:r>
            </a:p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Reconstruir el recorrido completo de un caso.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80195" y="4859655"/>
            <a:ext cx="7768590" cy="1637538"/>
            <a:chOff x="0" y="0"/>
            <a:chExt cx="10358120" cy="21833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58120" cy="2183384"/>
            </a:xfrm>
            <a:custGeom>
              <a:avLst/>
              <a:gdLst/>
              <a:ahLst/>
              <a:cxnLst/>
              <a:rect r="r" b="b" t="t" l="l"/>
              <a:pathLst>
                <a:path h="2183384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180195" y="4859655"/>
            <a:ext cx="115062" cy="1637538"/>
            <a:chOff x="0" y="0"/>
            <a:chExt cx="153416" cy="21833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416" cy="2183384"/>
            </a:xfrm>
            <a:custGeom>
              <a:avLst/>
              <a:gdLst/>
              <a:ahLst/>
              <a:cxnLst/>
              <a:rect r="r" b="b" t="t" l="l"/>
              <a:pathLst>
                <a:path h="2183384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183384"/>
                  </a:lnTo>
                  <a:lnTo>
                    <a:pt x="0" y="2183384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464040" y="5006340"/>
            <a:ext cx="7269480" cy="1344168"/>
            <a:chOff x="0" y="0"/>
            <a:chExt cx="9692640" cy="17922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92640" cy="1792224"/>
            </a:xfrm>
            <a:custGeom>
              <a:avLst/>
              <a:gdLst/>
              <a:ahLst/>
              <a:cxnLst/>
              <a:rect r="r" b="b" t="t" l="l"/>
              <a:pathLst>
                <a:path h="1792224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78" r="0" b="-5537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692640" cy="1792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b="true" sz="30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Estandarización</a:t>
              </a:r>
            </a:p>
            <a:p>
              <a:pPr algn="l">
                <a:lnSpc>
                  <a:spcPts val="2939"/>
                </a:lnSpc>
              </a:pPr>
              <a:r>
                <a:rPr lang="en-US" sz="24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Aplicar criterios, estados y formatos comunes.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7755" y="7328535"/>
            <a:ext cx="7768590" cy="1390650"/>
            <a:chOff x="0" y="0"/>
            <a:chExt cx="10358120" cy="1854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581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EDE3F7">
                <a:alpha val="29804"/>
              </a:srgbClr>
            </a:solidFill>
            <a:ln w="19050" cap="sq">
              <a:solidFill>
                <a:srgbClr val="D9C7E8">
                  <a:alpha val="29804"/>
                </a:srgbClr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87755" y="7328535"/>
            <a:ext cx="115062" cy="1390650"/>
            <a:chOff x="0" y="0"/>
            <a:chExt cx="153416" cy="1854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3416" cy="1854200"/>
            </a:xfrm>
            <a:custGeom>
              <a:avLst/>
              <a:gdLst/>
              <a:ahLst/>
              <a:cxnLst/>
              <a:rect r="r" b="b" t="t" l="l"/>
              <a:pathLst>
                <a:path h="185420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71600" y="7475220"/>
            <a:ext cx="7269480" cy="1097280"/>
            <a:chOff x="0" y="0"/>
            <a:chExt cx="96926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92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6926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b="true" sz="27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Constitución · Artículo 112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Marco general de la actividad económica.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80195" y="7328535"/>
            <a:ext cx="7768590" cy="1390650"/>
            <a:chOff x="0" y="0"/>
            <a:chExt cx="10358120" cy="1854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35812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0358120">
                  <a:moveTo>
                    <a:pt x="0" y="0"/>
                  </a:moveTo>
                  <a:lnTo>
                    <a:pt x="10358120" y="0"/>
                  </a:lnTo>
                  <a:lnTo>
                    <a:pt x="1035812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EDE3F7">
                <a:alpha val="29804"/>
              </a:srgbClr>
            </a:solidFill>
            <a:ln w="19050" cap="sq">
              <a:solidFill>
                <a:srgbClr val="D9C7E8">
                  <a:alpha val="29804"/>
                </a:srgbClr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180195" y="7328535"/>
            <a:ext cx="115062" cy="1390650"/>
            <a:chOff x="0" y="0"/>
            <a:chExt cx="153416" cy="1854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3416" cy="1854200"/>
            </a:xfrm>
            <a:custGeom>
              <a:avLst/>
              <a:gdLst/>
              <a:ahLst/>
              <a:cxnLst/>
              <a:rect r="r" b="b" t="t" l="l"/>
              <a:pathLst>
                <a:path h="185420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464040" y="7475220"/>
            <a:ext cx="7269480" cy="1097280"/>
            <a:chOff x="0" y="0"/>
            <a:chExt cx="9692640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926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6926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b="true" sz="27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Código de Comercio · Artículo 32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Orden y claridad de los registros.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IV · ACTIVIDADES REALIZADAS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130302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Cuatro actividades principales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6335" y="3350895"/>
            <a:ext cx="7631430" cy="2145030"/>
            <a:chOff x="0" y="0"/>
            <a:chExt cx="10175240" cy="2860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752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175240">
                  <a:moveTo>
                    <a:pt x="0" y="0"/>
                  </a:moveTo>
                  <a:lnTo>
                    <a:pt x="10175240" y="0"/>
                  </a:lnTo>
                  <a:lnTo>
                    <a:pt x="1017524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56335" y="3350895"/>
            <a:ext cx="115062" cy="2145030"/>
            <a:chOff x="0" y="0"/>
            <a:chExt cx="153416" cy="2860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40180" y="3497580"/>
            <a:ext cx="7132320" cy="1851660"/>
            <a:chOff x="0" y="0"/>
            <a:chExt cx="9509760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3" r="0" b="-2505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9509760" cy="2459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SEM. 1–3 · Observar el recorrido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Atención al Cliente y Administración.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48775" y="3350895"/>
            <a:ext cx="7631430" cy="2145030"/>
            <a:chOff x="0" y="0"/>
            <a:chExt cx="10175240" cy="286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752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175240">
                  <a:moveTo>
                    <a:pt x="0" y="0"/>
                  </a:moveTo>
                  <a:lnTo>
                    <a:pt x="10175240" y="0"/>
                  </a:lnTo>
                  <a:lnTo>
                    <a:pt x="1017524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248775" y="3350895"/>
            <a:ext cx="115062" cy="2145030"/>
            <a:chOff x="0" y="0"/>
            <a:chExt cx="153416" cy="286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532620" y="3497580"/>
            <a:ext cx="7132320" cy="1851660"/>
            <a:chOff x="0" y="0"/>
            <a:chExt cx="9509760" cy="2468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09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3" r="0" b="-250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9509760" cy="2459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SEM. 4 · Revisar y entrevistar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Registros, personal e identificación de fallas.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6335" y="6162675"/>
            <a:ext cx="7631430" cy="2145030"/>
            <a:chOff x="0" y="0"/>
            <a:chExt cx="10175240" cy="2860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752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175240">
                  <a:moveTo>
                    <a:pt x="0" y="0"/>
                  </a:moveTo>
                  <a:lnTo>
                    <a:pt x="10175240" y="0"/>
                  </a:lnTo>
                  <a:lnTo>
                    <a:pt x="1017524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56335" y="6162675"/>
            <a:ext cx="115062" cy="2145030"/>
            <a:chOff x="0" y="0"/>
            <a:chExt cx="153416" cy="2860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40180" y="6309360"/>
            <a:ext cx="7132320" cy="1851660"/>
            <a:chOff x="0" y="0"/>
            <a:chExt cx="9509760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3" r="0" b="-250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9509760" cy="2459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SEM. 5 · Elaborar el Ishikawa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Organización de causas relacionadas.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48775" y="6162675"/>
            <a:ext cx="7631430" cy="2145030"/>
            <a:chOff x="0" y="0"/>
            <a:chExt cx="10175240" cy="2860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752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10175240">
                  <a:moveTo>
                    <a:pt x="0" y="0"/>
                  </a:moveTo>
                  <a:lnTo>
                    <a:pt x="10175240" y="0"/>
                  </a:lnTo>
                  <a:lnTo>
                    <a:pt x="1017524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248775" y="6162675"/>
            <a:ext cx="115062" cy="2145030"/>
            <a:chOff x="0" y="0"/>
            <a:chExt cx="153416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32620" y="6309360"/>
            <a:ext cx="7132320" cy="1851660"/>
            <a:chOff x="0" y="0"/>
            <a:chExt cx="9509760" cy="2468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097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3" r="0" b="-250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9509760" cy="24593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SEM. 7–9 · Diseñar y validar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Flujo, formatos, responsables e indicadores.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IV · PROPUESTA DE MEJORA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130302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 procedimiento visible de principio a fin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175" y="2486787"/>
            <a:ext cx="5431383" cy="958901"/>
            <a:chOff x="0" y="0"/>
            <a:chExt cx="6151880" cy="10861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24141" y="2691753"/>
            <a:ext cx="5021450" cy="558737"/>
            <a:chOff x="0" y="0"/>
            <a:chExt cx="5687568" cy="632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Flujo estandarizado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9175" y="3649309"/>
            <a:ext cx="5431383" cy="958901"/>
            <a:chOff x="0" y="0"/>
            <a:chExt cx="6151880" cy="1086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24141" y="3854276"/>
            <a:ext cx="5021450" cy="558737"/>
            <a:chOff x="0" y="0"/>
            <a:chExt cx="5687568" cy="632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Responsables por etapa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9175" y="4811832"/>
            <a:ext cx="5431383" cy="958901"/>
            <a:chOff x="0" y="0"/>
            <a:chExt cx="6151880" cy="10861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24141" y="5016798"/>
            <a:ext cx="5021450" cy="558737"/>
            <a:chOff x="0" y="0"/>
            <a:chExt cx="5687568" cy="632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Formatos uniformes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9175" y="5974354"/>
            <a:ext cx="5431383" cy="958901"/>
            <a:chOff x="0" y="0"/>
            <a:chExt cx="6151880" cy="10861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24141" y="6179320"/>
            <a:ext cx="5021450" cy="558737"/>
            <a:chOff x="0" y="0"/>
            <a:chExt cx="5687568" cy="632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Estados definidos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9175" y="7136876"/>
            <a:ext cx="5431383" cy="958901"/>
            <a:chOff x="0" y="0"/>
            <a:chExt cx="6151880" cy="10861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24141" y="7341843"/>
            <a:ext cx="5021450" cy="558737"/>
            <a:chOff x="0" y="0"/>
            <a:chExt cx="5687568" cy="6328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Tiempos de referencia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9175" y="8299399"/>
            <a:ext cx="5431383" cy="958901"/>
            <a:chOff x="0" y="0"/>
            <a:chExt cx="6151880" cy="10861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51880" cy="1086104"/>
            </a:xfrm>
            <a:custGeom>
              <a:avLst/>
              <a:gdLst/>
              <a:ahLst/>
              <a:cxnLst/>
              <a:rect r="r" b="b" t="t" l="l"/>
              <a:pathLst>
                <a:path h="1086104" w="6151880">
                  <a:moveTo>
                    <a:pt x="0" y="0"/>
                  </a:moveTo>
                  <a:lnTo>
                    <a:pt x="6151880" y="0"/>
                  </a:lnTo>
                  <a:lnTo>
                    <a:pt x="6151880" y="1086104"/>
                  </a:lnTo>
                  <a:lnTo>
                    <a:pt x="0" y="1086104"/>
                  </a:lnTo>
                  <a:close/>
                </a:path>
              </a:pathLst>
            </a:custGeom>
            <a:solidFill>
              <a:srgbClr val="EDE3F7">
                <a:alpha val="49804"/>
              </a:srgbClr>
            </a:solidFill>
            <a:ln w="19050" cap="sq">
              <a:solidFill>
                <a:srgbClr val="EDE3F7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24141" y="8504365"/>
            <a:ext cx="5021450" cy="558737"/>
            <a:chOff x="0" y="0"/>
            <a:chExt cx="5687568" cy="632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87568" cy="632856"/>
            </a:xfrm>
            <a:custGeom>
              <a:avLst/>
              <a:gdLst/>
              <a:ahLst/>
              <a:cxnLst/>
              <a:rect r="r" b="b" t="t" l="l"/>
              <a:pathLst>
                <a:path h="63285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2856"/>
                  </a:lnTo>
                  <a:lnTo>
                    <a:pt x="0" y="632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988" r="0" b="-12424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5687568" cy="623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b="true" sz="29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Indicadores básicos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189718" y="2445212"/>
            <a:ext cx="9749542" cy="5692140"/>
            <a:chOff x="0" y="0"/>
            <a:chExt cx="12999390" cy="7589520"/>
          </a:xfrm>
        </p:grpSpPr>
        <p:sp>
          <p:nvSpPr>
            <p:cNvPr name="Freeform 43" id="43" descr="/home/user/Documentos/tarea_pasantia/amaal/imagenes/04_swimlane_gestion_solicitudes.png"/>
            <p:cNvSpPr/>
            <p:nvPr/>
          </p:nvSpPr>
          <p:spPr>
            <a:xfrm flipH="false" flipV="false" rot="0">
              <a:off x="0" y="0"/>
              <a:ext cx="12999339" cy="7589520"/>
            </a:xfrm>
            <a:custGeom>
              <a:avLst/>
              <a:gdLst/>
              <a:ahLst/>
              <a:cxnLst/>
              <a:rect r="r" b="b" t="t" l="l"/>
              <a:pathLst>
                <a:path h="7589520" w="12999339">
                  <a:moveTo>
                    <a:pt x="0" y="0"/>
                  </a:moveTo>
                  <a:lnTo>
                    <a:pt x="12999339" y="0"/>
                  </a:lnTo>
                  <a:lnTo>
                    <a:pt x="12999339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78089" y="8588502"/>
            <a:ext cx="11709911" cy="522758"/>
            <a:chOff x="0" y="0"/>
            <a:chExt cx="15613215" cy="6970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613214" cy="697010"/>
            </a:xfrm>
            <a:custGeom>
              <a:avLst/>
              <a:gdLst/>
              <a:ahLst/>
              <a:cxnLst/>
              <a:rect r="r" b="b" t="t" l="l"/>
              <a:pathLst>
                <a:path h="697010" w="15613214">
                  <a:moveTo>
                    <a:pt x="0" y="0"/>
                  </a:moveTo>
                  <a:lnTo>
                    <a:pt x="15613214" y="0"/>
                  </a:lnTo>
                  <a:lnTo>
                    <a:pt x="15613214" y="697010"/>
                  </a:lnTo>
                  <a:lnTo>
                    <a:pt x="0" y="697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638" r="6294" b="-3483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5613215" cy="697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Recibida → Registrada → Asignada → En atención → Resuelta → Cerrada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44688" y="9134012"/>
            <a:ext cx="4976712" cy="687575"/>
            <a:chOff x="0" y="0"/>
            <a:chExt cx="6635616" cy="9167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35617" cy="916767"/>
            </a:xfrm>
            <a:custGeom>
              <a:avLst/>
              <a:gdLst/>
              <a:ahLst/>
              <a:cxnLst/>
              <a:rect r="r" b="b" t="t" l="l"/>
              <a:pathLst>
                <a:path h="916767" w="6635617">
                  <a:moveTo>
                    <a:pt x="0" y="0"/>
                  </a:moveTo>
                  <a:lnTo>
                    <a:pt x="6635617" y="0"/>
                  </a:lnTo>
                  <a:lnTo>
                    <a:pt x="6635617" y="916767"/>
                  </a:lnTo>
                  <a:lnTo>
                    <a:pt x="0" y="9167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38" r="6294" b="-6407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6635616" cy="907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9"/>
                </a:lnSpc>
              </a:pPr>
              <a:r>
                <a:rPr lang="en-US" b="true" sz="36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Resuelta ≠ Cerrada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173" y="0"/>
            <a:ext cx="17619655" cy="10287000"/>
            <a:chOff x="0" y="0"/>
            <a:chExt cx="12999390" cy="7589520"/>
          </a:xfrm>
        </p:grpSpPr>
        <p:sp>
          <p:nvSpPr>
            <p:cNvPr name="Freeform 3" id="3" descr="/home/user/Documentos/tarea_pasantia/amaal/imagenes/04_swimlane_gestion_solicitudes.png"/>
            <p:cNvSpPr/>
            <p:nvPr/>
          </p:nvSpPr>
          <p:spPr>
            <a:xfrm flipH="false" flipV="false" rot="0">
              <a:off x="0" y="0"/>
              <a:ext cx="12999339" cy="7589520"/>
            </a:xfrm>
            <a:custGeom>
              <a:avLst/>
              <a:gdLst/>
              <a:ahLst/>
              <a:cxnLst/>
              <a:rect r="r" b="b" t="t" l="l"/>
              <a:pathLst>
                <a:path h="7589520" w="12999339">
                  <a:moveTo>
                    <a:pt x="0" y="0"/>
                  </a:moveTo>
                  <a:lnTo>
                    <a:pt x="12999339" y="0"/>
                  </a:lnTo>
                  <a:lnTo>
                    <a:pt x="12999339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1880">
            <a:off x="862917" y="561784"/>
            <a:ext cx="16516445" cy="0"/>
          </a:xfrm>
          <a:prstGeom prst="line">
            <a:avLst/>
          </a:prstGeom>
          <a:ln cap="rnd" w="28575">
            <a:solidFill>
              <a:srgbClr val="5B2A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60120" y="164592"/>
            <a:ext cx="8915400" cy="274320"/>
            <a:chOff x="0" y="0"/>
            <a:chExt cx="11887200" cy="3657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87200" cy="365760"/>
            </a:xfrm>
            <a:custGeom>
              <a:avLst/>
              <a:gdLst/>
              <a:ahLst/>
              <a:cxnLst/>
              <a:rect r="r" b="b" t="t" l="l"/>
              <a:pathLst>
                <a:path h="36576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18872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150">
                  <a:solidFill>
                    <a:srgbClr val="6D63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DEFENSA DE PASANTÍAS · AMAAL ALRIFAAI ALRIFAAIE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7552" y="795528"/>
            <a:ext cx="9875520" cy="384048"/>
            <a:chOff x="0" y="0"/>
            <a:chExt cx="1316736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73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1673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95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CAPÍTULO V · CONCLUSIONES Y RECOMENDACIONES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552" y="1303020"/>
            <a:ext cx="16184880" cy="987552"/>
            <a:chOff x="0" y="0"/>
            <a:chExt cx="21579840" cy="1316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798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338" r="0" b="-26933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157984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Resultados principales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9109" y="2976372"/>
            <a:ext cx="5620677" cy="2316914"/>
            <a:chOff x="0" y="0"/>
            <a:chExt cx="6938264" cy="2860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382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38264">
                  <a:moveTo>
                    <a:pt x="0" y="0"/>
                  </a:moveTo>
                  <a:lnTo>
                    <a:pt x="6938264" y="0"/>
                  </a:lnTo>
                  <a:lnTo>
                    <a:pt x="69382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89109" y="2976372"/>
            <a:ext cx="124282" cy="2316914"/>
            <a:chOff x="0" y="0"/>
            <a:chExt cx="153416" cy="2860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95699" y="3134811"/>
            <a:ext cx="5081572" cy="2000036"/>
            <a:chOff x="0" y="0"/>
            <a:chExt cx="6272784" cy="2468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2784" cy="2468880"/>
            </a:xfrm>
            <a:custGeom>
              <a:avLst/>
              <a:gdLst/>
              <a:ahLst/>
              <a:cxnLst/>
              <a:rect r="r" b="b" t="t" l="l"/>
              <a:pathLst>
                <a:path h="2468880" w="6272784">
                  <a:moveTo>
                    <a:pt x="0" y="0"/>
                  </a:moveTo>
                  <a:lnTo>
                    <a:pt x="6272784" y="0"/>
                  </a:lnTo>
                  <a:lnTo>
                    <a:pt x="627278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" t="0" r="-49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272784" cy="2468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· DIAGNÓSTICO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El recorrido existía, pero no estaba formalizado como un solo proceso.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33662" y="2976372"/>
            <a:ext cx="5620677" cy="2316914"/>
            <a:chOff x="0" y="0"/>
            <a:chExt cx="6938264" cy="286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382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38264">
                  <a:moveTo>
                    <a:pt x="0" y="0"/>
                  </a:moveTo>
                  <a:lnTo>
                    <a:pt x="6938264" y="0"/>
                  </a:lnTo>
                  <a:lnTo>
                    <a:pt x="69382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33662" y="2976372"/>
            <a:ext cx="124282" cy="2316914"/>
            <a:chOff x="0" y="0"/>
            <a:chExt cx="153416" cy="2860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640252" y="3134811"/>
            <a:ext cx="5081572" cy="2000036"/>
            <a:chOff x="0" y="0"/>
            <a:chExt cx="6272784" cy="2468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72784" cy="2468880"/>
            </a:xfrm>
            <a:custGeom>
              <a:avLst/>
              <a:gdLst/>
              <a:ahLst/>
              <a:cxnLst/>
              <a:rect r="r" b="b" t="t" l="l"/>
              <a:pathLst>
                <a:path h="2468880" w="6272784">
                  <a:moveTo>
                    <a:pt x="0" y="0"/>
                  </a:moveTo>
                  <a:lnTo>
                    <a:pt x="6272784" y="0"/>
                  </a:lnTo>
                  <a:lnTo>
                    <a:pt x="627278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" t="0" r="-49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272784" cy="2468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· DEFICIENCIAS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Formatos, estatus, tiempos y comunicación afectaban la trazabilidad.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78214" y="2976372"/>
            <a:ext cx="5620677" cy="2316914"/>
            <a:chOff x="0" y="0"/>
            <a:chExt cx="6938264" cy="2860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38264" cy="2860040"/>
            </a:xfrm>
            <a:custGeom>
              <a:avLst/>
              <a:gdLst/>
              <a:ahLst/>
              <a:cxnLst/>
              <a:rect r="r" b="b" t="t" l="l"/>
              <a:pathLst>
                <a:path h="2860040" w="6938264">
                  <a:moveTo>
                    <a:pt x="0" y="0"/>
                  </a:moveTo>
                  <a:lnTo>
                    <a:pt x="6938264" y="0"/>
                  </a:lnTo>
                  <a:lnTo>
                    <a:pt x="6938264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C7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78214" y="2976372"/>
            <a:ext cx="124282" cy="2316914"/>
            <a:chOff x="0" y="0"/>
            <a:chExt cx="153416" cy="2860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3416" cy="2860040"/>
            </a:xfrm>
            <a:custGeom>
              <a:avLst/>
              <a:gdLst/>
              <a:ahLst/>
              <a:cxnLst/>
              <a:rect r="r" b="b" t="t" l="l"/>
              <a:pathLst>
                <a:path h="286004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684804" y="3134811"/>
            <a:ext cx="5081572" cy="2000036"/>
            <a:chOff x="0" y="0"/>
            <a:chExt cx="6272784" cy="2468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72784" cy="2468880"/>
            </a:xfrm>
            <a:custGeom>
              <a:avLst/>
              <a:gdLst/>
              <a:ahLst/>
              <a:cxnLst/>
              <a:rect r="r" b="b" t="t" l="l"/>
              <a:pathLst>
                <a:path h="2468880" w="6272784">
                  <a:moveTo>
                    <a:pt x="0" y="0"/>
                  </a:moveTo>
                  <a:lnTo>
                    <a:pt x="6272784" y="0"/>
                  </a:lnTo>
                  <a:lnTo>
                    <a:pt x="6272784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" t="0" r="-49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272784" cy="2468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· APORTE</a:t>
              </a:r>
            </a:p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Flujo, responsables, formatos e indicadores permiten fortalecer el control.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89109" y="5939388"/>
            <a:ext cx="8613323" cy="2539140"/>
            <a:chOff x="0" y="0"/>
            <a:chExt cx="10632440" cy="3134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32440" cy="3134360"/>
            </a:xfrm>
            <a:custGeom>
              <a:avLst/>
              <a:gdLst/>
              <a:ahLst/>
              <a:cxnLst/>
              <a:rect r="r" b="b" t="t" l="l"/>
              <a:pathLst>
                <a:path h="3134360" w="10632440">
                  <a:moveTo>
                    <a:pt x="0" y="0"/>
                  </a:moveTo>
                  <a:lnTo>
                    <a:pt x="10632440" y="0"/>
                  </a:lnTo>
                  <a:lnTo>
                    <a:pt x="10632440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EDE3F7">
                <a:alpha val="29804"/>
              </a:srgbClr>
            </a:solidFill>
            <a:ln w="19050" cap="sq">
              <a:solidFill>
                <a:srgbClr val="D9C7E8">
                  <a:alpha val="29804"/>
                </a:srgbClr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89109" y="5939388"/>
            <a:ext cx="124282" cy="2539140"/>
            <a:chOff x="0" y="0"/>
            <a:chExt cx="153416" cy="3134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416" cy="3134360"/>
            </a:xfrm>
            <a:custGeom>
              <a:avLst/>
              <a:gdLst/>
              <a:ahLst/>
              <a:cxnLst/>
              <a:rect r="r" b="b" t="t" l="l"/>
              <a:pathLst>
                <a:path h="313436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95699" y="6097827"/>
            <a:ext cx="8074218" cy="2222262"/>
            <a:chOff x="0" y="0"/>
            <a:chExt cx="9966960" cy="274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669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95" r="0" b="-207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966960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IDETEL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Probar flujo → uniformar formatos → medir resultados → evaluar digitalización.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252232" y="5939388"/>
            <a:ext cx="4020648" cy="2539140"/>
            <a:chOff x="0" y="0"/>
            <a:chExt cx="4963160" cy="3134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631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4963160">
                  <a:moveTo>
                    <a:pt x="0" y="0"/>
                  </a:moveTo>
                  <a:lnTo>
                    <a:pt x="4963160" y="0"/>
                  </a:lnTo>
                  <a:lnTo>
                    <a:pt x="4963160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EDE3F7">
                <a:alpha val="29804"/>
              </a:srgbClr>
            </a:solidFill>
            <a:ln w="19050" cap="sq">
              <a:solidFill>
                <a:srgbClr val="D9C7E8">
                  <a:alpha val="29804"/>
                </a:srgbClr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252232" y="5939388"/>
            <a:ext cx="124282" cy="2539140"/>
            <a:chOff x="0" y="0"/>
            <a:chExt cx="153416" cy="3134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3416" cy="3134360"/>
            </a:xfrm>
            <a:custGeom>
              <a:avLst/>
              <a:gdLst/>
              <a:ahLst/>
              <a:cxnLst/>
              <a:rect r="r" b="b" t="t" l="l"/>
              <a:pathLst>
                <a:path h="313436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558822" y="6097827"/>
            <a:ext cx="3481544" cy="2222262"/>
            <a:chOff x="0" y="0"/>
            <a:chExt cx="4297680" cy="2743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97680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b="true" sz="309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 IUTECP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Fortalecer el acompañamiento académico.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22681" y="5939388"/>
            <a:ext cx="4020648" cy="2539140"/>
            <a:chOff x="0" y="0"/>
            <a:chExt cx="4963160" cy="3134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631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4963160">
                  <a:moveTo>
                    <a:pt x="0" y="0"/>
                  </a:moveTo>
                  <a:lnTo>
                    <a:pt x="4963160" y="0"/>
                  </a:lnTo>
                  <a:lnTo>
                    <a:pt x="4963160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EDE3F7">
                <a:alpha val="29804"/>
              </a:srgbClr>
            </a:solidFill>
            <a:ln w="19050" cap="sq">
              <a:solidFill>
                <a:srgbClr val="D9C7E8">
                  <a:alpha val="29804"/>
                </a:srgbClr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622681" y="5939388"/>
            <a:ext cx="124282" cy="2539140"/>
            <a:chOff x="0" y="0"/>
            <a:chExt cx="153416" cy="3134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3416" cy="3134360"/>
            </a:xfrm>
            <a:custGeom>
              <a:avLst/>
              <a:gdLst/>
              <a:ahLst/>
              <a:cxnLst/>
              <a:rect r="r" b="b" t="t" l="l"/>
              <a:pathLst>
                <a:path h="3134360" w="153416">
                  <a:moveTo>
                    <a:pt x="0" y="0"/>
                  </a:moveTo>
                  <a:lnTo>
                    <a:pt x="153416" y="0"/>
                  </a:lnTo>
                  <a:lnTo>
                    <a:pt x="153416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5B2A86"/>
            </a:solidFill>
            <a:ln w="19050" cap="sq">
              <a:solidFill>
                <a:srgbClr val="5B2A8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929271" y="6097827"/>
            <a:ext cx="3481544" cy="2222262"/>
            <a:chOff x="0" y="0"/>
            <a:chExt cx="4297680" cy="2743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297680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9"/>
                </a:lnSpc>
              </a:pPr>
              <a:r>
                <a:rPr lang="en-US" b="true" sz="2949">
                  <a:solidFill>
                    <a:srgbClr val="2418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futuros pasantes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4182D"/>
                  </a:solidFill>
                  <a:latin typeface="Aptos"/>
                  <a:ea typeface="Aptos"/>
                  <a:cs typeface="Aptos"/>
                  <a:sym typeface="Aptos"/>
                </a:rPr>
                <a:t>Registrar actividades y conservar evidencias.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893540" y="9715500"/>
            <a:ext cx="29718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5B2A86"/>
                </a:solidFill>
                <a:latin typeface="Aptos"/>
                <a:ea typeface="Aptos"/>
                <a:cs typeface="Aptos"/>
                <a:sym typeface="Aptos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4815" y="-9525"/>
            <a:ext cx="6438138" cy="10306050"/>
            <a:chOff x="0" y="0"/>
            <a:chExt cx="8584184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8418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584184">
                  <a:moveTo>
                    <a:pt x="0" y="0"/>
                  </a:moveTo>
                  <a:lnTo>
                    <a:pt x="8584184" y="0"/>
                  </a:lnTo>
                  <a:lnTo>
                    <a:pt x="858418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EDE3F7"/>
            </a:solidFill>
            <a:ln w="19050" cap="sq">
              <a:solidFill>
                <a:srgbClr val="EDE3F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2209" y="2136326"/>
            <a:ext cx="10493664" cy="6014349"/>
            <a:chOff x="0" y="0"/>
            <a:chExt cx="13991552" cy="80191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91552" cy="8019132"/>
            </a:xfrm>
            <a:custGeom>
              <a:avLst/>
              <a:gdLst/>
              <a:ahLst/>
              <a:cxnLst/>
              <a:rect r="r" b="b" t="t" l="l"/>
              <a:pathLst>
                <a:path h="8019132" w="13991552">
                  <a:moveTo>
                    <a:pt x="0" y="0"/>
                  </a:moveTo>
                  <a:lnTo>
                    <a:pt x="13991552" y="0"/>
                  </a:lnTo>
                  <a:lnTo>
                    <a:pt x="13991552" y="8019132"/>
                  </a:lnTo>
                  <a:lnTo>
                    <a:pt x="0" y="80191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7" r="34646" b="726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991552" cy="8019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sz="7199" b="true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Gracias por su atención.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5966460"/>
            <a:ext cx="6858000" cy="746306"/>
            <a:chOff x="0" y="0"/>
            <a:chExt cx="9144000" cy="9950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0" cy="995075"/>
            </a:xfrm>
            <a:custGeom>
              <a:avLst/>
              <a:gdLst/>
              <a:ahLst/>
              <a:cxnLst/>
              <a:rect r="r" b="b" t="t" l="l"/>
              <a:pathLst>
                <a:path h="995075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95075"/>
                  </a:lnTo>
                  <a:lnTo>
                    <a:pt x="0" y="9950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295" r="0" b="-1158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9144000" cy="98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39"/>
                </a:lnSpc>
              </a:pPr>
              <a:r>
                <a:rPr lang="en-US" sz="3949">
                  <a:solidFill>
                    <a:srgbClr val="6D6373"/>
                  </a:solidFill>
                  <a:latin typeface="Aptos"/>
                  <a:ea typeface="Aptos"/>
                  <a:cs typeface="Aptos"/>
                  <a:sym typeface="Aptos"/>
                </a:rPr>
                <a:t>Quedo atenta a sus preguntas.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53160" y="3497580"/>
            <a:ext cx="2468880" cy="2468880"/>
            <a:chOff x="0" y="0"/>
            <a:chExt cx="3291840" cy="3291840"/>
          </a:xfrm>
        </p:grpSpPr>
        <p:sp>
          <p:nvSpPr>
            <p:cNvPr name="Freeform 11" id="11" descr="/home/user/Documentos/tarea_pasantia/amaal/imagenes/logo.jpg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0"/>
                  </a:lnTo>
                  <a:lnTo>
                    <a:pt x="0" y="329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87300" y="6583680"/>
            <a:ext cx="4732020" cy="548640"/>
            <a:chOff x="0" y="0"/>
            <a:chExt cx="630936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09360" cy="731520"/>
            </a:xfrm>
            <a:custGeom>
              <a:avLst/>
              <a:gdLst/>
              <a:ahLst/>
              <a:cxnLst/>
              <a:rect r="r" b="b" t="t" l="l"/>
              <a:pathLst>
                <a:path h="73152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058" r="0" b="-1180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3093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5B2A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AMAAL ALRIFAAI ALRIFAAIE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87300" y="7269480"/>
            <a:ext cx="4732020" cy="628844"/>
            <a:chOff x="0" y="0"/>
            <a:chExt cx="6309360" cy="838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09360" cy="838458"/>
            </a:xfrm>
            <a:custGeom>
              <a:avLst/>
              <a:gdLst/>
              <a:ahLst/>
              <a:cxnLst/>
              <a:rect r="r" b="b" t="t" l="l"/>
              <a:pathLst>
                <a:path h="838458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38458"/>
                  </a:lnTo>
                  <a:lnTo>
                    <a:pt x="0" y="838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906" r="0" b="-793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309360" cy="83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9"/>
                </a:lnSpc>
              </a:pPr>
              <a:r>
                <a:rPr lang="en-US" sz="3349">
                  <a:solidFill>
                    <a:srgbClr val="6D6373"/>
                  </a:solidFill>
                  <a:latin typeface="Aptos"/>
                  <a:ea typeface="Aptos"/>
                  <a:cs typeface="Aptos"/>
                  <a:sym typeface="Aptos"/>
                </a:rPr>
                <a:t>Administración · IUTECP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DAHUhCxiSMY</dc:identifier>
  <dcterms:modified xsi:type="dcterms:W3CDTF">2011-08-01T06:04:30Z</dcterms:modified>
  <cp:revision>1</cp:revision>
  <dc:title>Defensa_Amaal_10_laminas.pptx</dc:title>
</cp:coreProperties>
</file>